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7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500" r:id="rId18"/>
    <p:sldId id="375" r:id="rId19"/>
    <p:sldId id="376" r:id="rId20"/>
    <p:sldId id="377" r:id="rId21"/>
    <p:sldId id="378" r:id="rId22"/>
    <p:sldId id="379" r:id="rId23"/>
    <p:sldId id="381" r:id="rId24"/>
    <p:sldId id="385" r:id="rId25"/>
    <p:sldId id="388" r:id="rId26"/>
    <p:sldId id="382" r:id="rId27"/>
    <p:sldId id="384" r:id="rId28"/>
    <p:sldId id="386" r:id="rId29"/>
    <p:sldId id="387" r:id="rId30"/>
    <p:sldId id="389" r:id="rId31"/>
    <p:sldId id="390" r:id="rId32"/>
    <p:sldId id="391" r:id="rId33"/>
    <p:sldId id="393" r:id="rId34"/>
    <p:sldId id="266" r:id="rId35"/>
    <p:sldId id="394" r:id="rId36"/>
    <p:sldId id="395" r:id="rId37"/>
    <p:sldId id="396" r:id="rId38"/>
    <p:sldId id="268" r:id="rId39"/>
    <p:sldId id="397" r:id="rId40"/>
    <p:sldId id="398" r:id="rId41"/>
    <p:sldId id="269" r:id="rId42"/>
    <p:sldId id="399" r:id="rId43"/>
    <p:sldId id="275" r:id="rId44"/>
    <p:sldId id="504" r:id="rId45"/>
    <p:sldId id="400" r:id="rId46"/>
    <p:sldId id="402" r:id="rId47"/>
    <p:sldId id="403" r:id="rId48"/>
    <p:sldId id="273" r:id="rId49"/>
    <p:sldId id="274" r:id="rId50"/>
    <p:sldId id="276" r:id="rId51"/>
    <p:sldId id="277" r:id="rId52"/>
    <p:sldId id="488" r:id="rId53"/>
    <p:sldId id="278" r:id="rId54"/>
    <p:sldId id="404" r:id="rId55"/>
    <p:sldId id="279" r:id="rId56"/>
    <p:sldId id="405" r:id="rId57"/>
    <p:sldId id="356" r:id="rId58"/>
    <p:sldId id="406" r:id="rId59"/>
    <p:sldId id="280" r:id="rId60"/>
    <p:sldId id="358" r:id="rId61"/>
    <p:sldId id="407" r:id="rId62"/>
    <p:sldId id="355" r:id="rId63"/>
    <p:sldId id="496" r:id="rId64"/>
    <p:sldId id="497" r:id="rId65"/>
    <p:sldId id="408" r:id="rId66"/>
    <p:sldId id="360" r:id="rId67"/>
    <p:sldId id="285" r:id="rId68"/>
    <p:sldId id="410" r:id="rId69"/>
    <p:sldId id="411" r:id="rId70"/>
    <p:sldId id="361" r:id="rId71"/>
    <p:sldId id="412" r:id="rId72"/>
    <p:sldId id="362" r:id="rId73"/>
    <p:sldId id="290" r:id="rId74"/>
    <p:sldId id="291" r:id="rId75"/>
    <p:sldId id="413" r:id="rId76"/>
    <p:sldId id="414" r:id="rId77"/>
    <p:sldId id="292" r:id="rId78"/>
    <p:sldId id="415" r:id="rId79"/>
    <p:sldId id="416" r:id="rId80"/>
    <p:sldId id="417" r:id="rId81"/>
    <p:sldId id="418" r:id="rId82"/>
    <p:sldId id="419" r:id="rId83"/>
    <p:sldId id="420" r:id="rId84"/>
    <p:sldId id="421" r:id="rId85"/>
    <p:sldId id="422" r:id="rId86"/>
    <p:sldId id="423" r:id="rId87"/>
    <p:sldId id="499" r:id="rId88"/>
    <p:sldId id="498" r:id="rId89"/>
    <p:sldId id="503" r:id="rId90"/>
    <p:sldId id="427" r:id="rId91"/>
    <p:sldId id="501" r:id="rId92"/>
    <p:sldId id="429" r:id="rId93"/>
    <p:sldId id="430" r:id="rId94"/>
    <p:sldId id="502" r:id="rId95"/>
    <p:sldId id="431" r:id="rId96"/>
    <p:sldId id="432" r:id="rId97"/>
    <p:sldId id="300" r:id="rId98"/>
    <p:sldId id="302" r:id="rId99"/>
    <p:sldId id="433" r:id="rId100"/>
    <p:sldId id="434" r:id="rId101"/>
    <p:sldId id="435" r:id="rId102"/>
    <p:sldId id="441" r:id="rId103"/>
    <p:sldId id="436" r:id="rId104"/>
    <p:sldId id="440" r:id="rId105"/>
    <p:sldId id="437" r:id="rId106"/>
    <p:sldId id="428" r:id="rId107"/>
    <p:sldId id="438" r:id="rId108"/>
    <p:sldId id="439" r:id="rId109"/>
    <p:sldId id="424" r:id="rId110"/>
    <p:sldId id="442" r:id="rId111"/>
    <p:sldId id="443" r:id="rId112"/>
    <p:sldId id="444" r:id="rId113"/>
    <p:sldId id="445" r:id="rId114"/>
    <p:sldId id="447" r:id="rId115"/>
    <p:sldId id="448" r:id="rId116"/>
    <p:sldId id="450" r:id="rId117"/>
    <p:sldId id="449" r:id="rId118"/>
    <p:sldId id="451" r:id="rId119"/>
    <p:sldId id="452" r:id="rId120"/>
    <p:sldId id="453" r:id="rId121"/>
    <p:sldId id="454" r:id="rId122"/>
    <p:sldId id="425" r:id="rId123"/>
    <p:sldId id="455" r:id="rId124"/>
    <p:sldId id="485" r:id="rId125"/>
    <p:sldId id="492" r:id="rId1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67901" autoAdjust="0"/>
  </p:normalViewPr>
  <p:slideViewPr>
    <p:cSldViewPr snapToGrid="0">
      <p:cViewPr varScale="1">
        <p:scale>
          <a:sx n="110" d="100"/>
          <a:sy n="110" d="100"/>
        </p:scale>
        <p:origin x="448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22.06.2024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Меня зовут Роман и уже на протяжении</a:t>
            </a:r>
            <a:r>
              <a:rPr lang="ru-RU" baseline="0" dirty="0">
                <a:cs typeface="Calibri"/>
              </a:rPr>
              <a:t> чуть более 7 лет я работаю в </a:t>
            </a:r>
            <a:r>
              <a:rPr lang="ru-RU" baseline="0" dirty="0" err="1">
                <a:cs typeface="Calibri"/>
              </a:rPr>
              <a:t>Рексофт</a:t>
            </a:r>
            <a:r>
              <a:rPr lang="ru-RU" baseline="0" dirty="0">
                <a:cs typeface="Calibri"/>
              </a:rPr>
              <a:t>. Основное направление моей деятельности заключается в оптимизации процесса производства.</a:t>
            </a:r>
          </a:p>
          <a:p>
            <a:endParaRPr lang="ru-RU" baseline="0" dirty="0">
              <a:cs typeface="Calibri"/>
            </a:endParaRPr>
          </a:p>
          <a:p>
            <a:r>
              <a:rPr lang="ru-RU" baseline="0" dirty="0">
                <a:cs typeface="Calibri"/>
              </a:rPr>
              <a:t>И принцип единственной ответственности занимает здесь далеко не последнюю роль. Точнее не сам принцип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а та корневая проблема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которую он призван решить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но обо всём по порядку.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 мы программисты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начинали свой 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добавляя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новые поведения, мы замечали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исходного кода начинает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становится 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неумолимо заставляют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программу расти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мы с неприятным для себя удивлением обнаруживаем,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Знакомая каждому ситуация, когда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начале проекта задачи реализуются относительно легко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потом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определенной точки система становится запутанной и непредсказуемой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Казалось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-бы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 ничего проще чем разбить один большой файл на несколько маленьких. Но тут возникают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какое количество компонентов нужно разбить одно целое? Их должно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быть 2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или 6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 Какая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у них должна быть дислокация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самое важные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к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акие между ними должны быть зависимости?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Какая у них должна быть сила и направленность?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программу,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ответственности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спрашивая у других разработчиков а как они понимают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принцип 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SRP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услышать такое определение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 должен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иметь одну ответственность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 делать что-то одно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Соответственно если компонент делает слишком много-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-то его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нужно просто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Вроде 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небольшой пример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34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 вами простая функция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неё специально опущено название. Все что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она делает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складывает два числа вместе.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считает что данная функция имеет одну ответственность? Кто считает что больше?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добавим простое умножение на некоторый коэффициент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операций стало больше.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 считает что теперь и ответственностей также стало больше?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добавим немного имён. Функция теперь называется </a:t>
            </a:r>
            <a:r>
              <a:rPr lang="en-US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computeTaxedPrice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всё что она делает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считает сумму стоимости продуктов с учётом налога. Обратите внимание на 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операции те же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 считает что ответственностей по прежнему несколько? Вот запутал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Ну</a:t>
            </a:r>
            <a:r>
              <a:rPr lang="ru-RU" baseline="0" dirty="0"/>
              <a:t> допустим что ответственностей всё же несколько</a:t>
            </a:r>
            <a:r>
              <a:rPr lang="en-US" baseline="0" dirty="0"/>
              <a:t>, </a:t>
            </a:r>
            <a:r>
              <a:rPr lang="ru-RU" baseline="0" dirty="0"/>
              <a:t>что мы должны сделать? Естественно разделить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неопределенностей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практичнее определять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принцип единственной ответственности следующим образом: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качестве примера возьмем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рограмму которая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принимает в себя файл со списком продуктов и выводит их общую стоимость в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консоль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Сам файл содержит в себе обычный текст где в каждой строчке перечислен продукт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параметры которого разделены запятой. В данном случае это имя и стоимость товара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Вначале она считывает переданный файл с локального диска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строки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заполняет список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products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просто считает общую сумму и выводит её в консоль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я перечислил поведение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уже как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намекает на определенные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ответственности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если мы руководствуемся первым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самым удобным определением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SRP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х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очу чтобы вы обратили особое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внимание на то что мы сейчас сделаем.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разделять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код раньше времени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уберем руки от клавиатуры 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подождем новых требований к системе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хочу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программа могла доставать продукты не только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 локального диска-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и считывать их из удаленного источника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 от сервера по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образом программа среагирует на такое изменение?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Данная секция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завязана на конкретный способ получения продуктов из локального файла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поэтому мы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добавить новый способ прибегаем к самому простому варианту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именно – к использованию условий. Функция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в себя принимает более широкий тип который сужается через использование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statement.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Старый способ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получения продуктов располагается 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 остался без изменений.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теперь удовлетворяет новым требованиям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нам здесь интересно другое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отредактирована. Можно с уверенностью сказать, что она приобрела свою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первую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Индикатор в углу означает наличие определенной ответственности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должны будем изменить исходный код функции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напрямую. В процессе чего столкнемся с теми же проблемами и последствиями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 сопровождают нас сейчас.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рассмотреть их подробнее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Прежде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всего обратим внимание на 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ри добавлении нового источника продуктов нам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наврятли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полезно видеть реализацию остальных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существующих. Избавиться от этого шума легко, просто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отделив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в разные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Слева функция получения продуктов из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Справа процедура получения из локального файла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Вследствие такого отделения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ожидаемо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стала гораздо меньше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 хорошо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уменьшили размер основной функции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на 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далеко не весь код оказался полезным в рамках добавления нового источника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товаров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 данная секция осталась в своём первозданном виде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ответственностей несколько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попробуем разделить их на отдельные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функции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добавлении нового источника товаров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будет изменена исключительно функция </a:t>
            </a:r>
            <a:r>
              <a:rPr lang="en-US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-которая имеет меньший объем чем был у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Получение продуктов и логика дальнейшей их обработки оказались раздельными не из-за того что я их перечислил через запятую. Сам заказчик продемонстрировал нам это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через свои требования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19299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Оглянемся назад и попробуем обобщить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то что сейчас произошло.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новой задачи.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её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иммунитет. Для того чтобы в будущем она отняла у нас меньше времени и ресурсов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 зачастую попадаются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Они изменились одновременно и поведение валидации в них идентичное. Если в будущем альтернативных источников товаров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ответственности?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Самое очевидное что можно сделать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параметризировать данный элемент. 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вот что интересно,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Эту проблему можно решить путем использования опциональных аргументов. 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его внести по образу и подобию с предыдущим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используется опциональный аргумент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не было жесткости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 и условие так как поведения у нас разные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ответственности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Просто так получилось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какой-то момент векторы изменений обеих функций пересеклись в некоторой точке, что и привело к идентичному коду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так как основные драйверы изменений в источниках данных были разными, наш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поведение обеих функций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 код может быть совершенно разным внешне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количество модулей на одну ответственность увеличилось. То есть увеличилось то количество работы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которой разработчику придётся выполнить для того чтобы реализовать задачу. Это конечно при условии идентичности наблюдаемого поведения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выиграли,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 рассматриваемая ситуация не является чем то специфичным исключительно для маленьких функций.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5966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Проблема является гораздо более распространенной и актуальная в том числе и для много модульных приложений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вот в них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жесткость и хрупкость возникающие вследствие ошибочного определения ответственностей будут иметь гораздо более весомые последствия в виду большей отдаленности модулей друг от друга. Их просто сложнее изменять одновременно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3880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сформулировать следующее правило - чем больше общих ответственностей между модулями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меньше между ними должно быть расстояние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Они часто изменяются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имеет смысл расположить их как можно ближе друг к другу.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Верно и обратное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меньше причин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которым разные сущности могут изменяться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дальше друг от друга они должны быть расположены.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Нарушением данного баланса и объясняются такие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антипаттерны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shotgun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surgary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где для реализации задачи приходится вносить много точечные изменения в куче разных модулей вместо того чтобы изменить один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такой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рассматривается сейчас. Где очень часто изменяется один модуль и притягивает изменения как магнит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причем с каждой такой модификацией он становится только больше и сложнее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7096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учетом описанных проблем возникает закономерный вопрос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ли как то определить ответственности в проекте точнее?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Разумным вариантом решения проблемы будет придерживаться тактики выжидания.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0074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Обратите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27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определения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наблюдательности.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 Но есть кое-что еще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 Отсюда и такая популярность итеративных методологий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8AF99-DAFA-4FC8-9568-7D664E24F84B}" type="datetime1">
              <a:rPr lang="ru-RU" smtClean="0"/>
              <a:t>22.06.2024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D8F94-3817-47A4-A3BB-120385D98D28}" type="datetime1">
              <a:rPr lang="ru-RU" smtClean="0"/>
              <a:t>22.06.2024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FCDEB-FC84-4639-AE65-6586B9AAEC1E}" type="datetime1">
              <a:rPr lang="ru-RU" smtClean="0"/>
              <a:t>22.06.2024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C6FF6-60F3-4412-8629-667F4255D749}" type="datetime1">
              <a:rPr lang="ru-RU" smtClean="0"/>
              <a:t>22.06.2024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66877-C715-492E-9CF4-930774FF79B0}" type="datetime1">
              <a:rPr lang="ru-RU" smtClean="0"/>
              <a:t>22.06.2024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128E-8050-4D05-B757-0380D9EE8119}" type="datetime1">
              <a:rPr lang="ru-RU" smtClean="0"/>
              <a:t>22.06.2024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BAEF-96C8-45A0-9342-0B94ECE2E2E2}" type="datetime1">
              <a:rPr lang="ru-RU" smtClean="0"/>
              <a:t>22.06.2024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E1AD2-08EA-4D66-A7B2-8A98D5976F81}" type="datetime1">
              <a:rPr lang="ru-RU" smtClean="0"/>
              <a:t>22.06.2024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13F85-3B81-4645-873F-612A21D708C1}" type="datetime1">
              <a:rPr lang="ru-RU" smtClean="0"/>
              <a:t>22.06.2024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6D3D0-8684-4FFC-A659-E60425A7C87C}" type="datetime1">
              <a:rPr lang="ru-RU" smtClean="0"/>
              <a:t>22.06.2024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08888-EEDC-46A7-B7B5-54BB284B412A}" type="datetime1">
              <a:rPr lang="ru-RU" smtClean="0"/>
              <a:t>22.06.2024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BA101-B661-4E79-9F01-799439C984FE}" type="datetime1">
              <a:rPr lang="ru-RU" smtClean="0"/>
              <a:t>22.06.2024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9.png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9.png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3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5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66.png"/><Relationship Id="rId4" Type="http://schemas.openxmlformats.org/officeDocument/2006/relationships/image" Target="../media/image36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BBA9C03-398D-4534-B445-64AA3A6FF67B}"/>
              </a:ext>
            </a:extLst>
          </p:cNvPr>
          <p:cNvGrpSpPr/>
          <p:nvPr/>
        </p:nvGrpSpPr>
        <p:grpSpPr>
          <a:xfrm>
            <a:off x="5196000" y="2869313"/>
            <a:ext cx="1800000" cy="1855477"/>
            <a:chOff x="5659557" y="2462913"/>
            <a:chExt cx="1800000" cy="1855477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659557" y="246291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59557" y="2490651"/>
              <a:ext cx="1800000" cy="18000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809D99-76B6-4ECD-9677-F5A3BF5F4326}"/>
              </a:ext>
            </a:extLst>
          </p:cNvPr>
          <p:cNvGrpSpPr/>
          <p:nvPr/>
        </p:nvGrpSpPr>
        <p:grpSpPr>
          <a:xfrm>
            <a:off x="2062507" y="1979923"/>
            <a:ext cx="1802950" cy="1855477"/>
            <a:chOff x="2062507" y="1573523"/>
            <a:chExt cx="1802950" cy="1855477"/>
          </a:xfrm>
        </p:grpSpPr>
        <p:sp>
          <p:nvSpPr>
            <p:cNvPr id="6" name="Прямоугольник 2">
              <a:extLst>
                <a:ext uri="{FF2B5EF4-FFF2-40B4-BE49-F238E27FC236}">
                  <a16:creationId xmlns:a16="http://schemas.microsoft.com/office/drawing/2014/main" id="{F9CA7772-852A-49D6-B3CB-9BA8CA712BFA}"/>
                </a:ext>
              </a:extLst>
            </p:cNvPr>
            <p:cNvSpPr/>
            <p:nvPr/>
          </p:nvSpPr>
          <p:spPr>
            <a:xfrm>
              <a:off x="20654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2507" y="1629000"/>
              <a:ext cx="1800000" cy="180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44A04A-4553-431A-B364-8AD0C6192EC2}"/>
              </a:ext>
            </a:extLst>
          </p:cNvPr>
          <p:cNvGrpSpPr/>
          <p:nvPr/>
        </p:nvGrpSpPr>
        <p:grpSpPr>
          <a:xfrm>
            <a:off x="8326543" y="1941574"/>
            <a:ext cx="1800000" cy="1855477"/>
            <a:chOff x="8910757" y="1573523"/>
            <a:chExt cx="1800000" cy="1855477"/>
          </a:xfrm>
        </p:grpSpPr>
        <p:sp>
          <p:nvSpPr>
            <p:cNvPr id="9" name="Прямоугольник 2">
              <a:extLst>
                <a:ext uri="{FF2B5EF4-FFF2-40B4-BE49-F238E27FC236}">
                  <a16:creationId xmlns:a16="http://schemas.microsoft.com/office/drawing/2014/main" id="{4F6EACD5-BBA8-45D3-98BC-E4FAF7F52777}"/>
                </a:ext>
              </a:extLst>
            </p:cNvPr>
            <p:cNvSpPr/>
            <p:nvPr/>
          </p:nvSpPr>
          <p:spPr>
            <a:xfrm>
              <a:off x="89107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0757" y="1573523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4746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1811"/>
          <a:stretch/>
        </p:blipFill>
        <p:spPr>
          <a:xfrm>
            <a:off x="376472" y="2594605"/>
            <a:ext cx="11439057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684" y="1285686"/>
            <a:ext cx="2476500" cy="40005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8377881" y="2870437"/>
            <a:ext cx="184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215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644892" y="2610295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89" b="10278"/>
          <a:stretch/>
        </p:blipFill>
        <p:spPr>
          <a:xfrm>
            <a:off x="3427456" y="418027"/>
            <a:ext cx="5337089" cy="6021947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15B5ABB7-C502-4766-B386-E674096292DE}"/>
              </a:ext>
            </a:extLst>
          </p:cNvPr>
          <p:cNvSpPr/>
          <p:nvPr/>
        </p:nvSpPr>
        <p:spPr>
          <a:xfrm>
            <a:off x="4610100" y="487680"/>
            <a:ext cx="2971800" cy="275082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AD1B155-A125-46CD-B1A2-D3F51CF1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922" y="607247"/>
            <a:ext cx="3487130" cy="51389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3F5C1CF8-521F-4D91-8853-4BC66280157E}"/>
              </a:ext>
            </a:extLst>
          </p:cNvPr>
          <p:cNvSpPr/>
          <p:nvPr/>
        </p:nvSpPr>
        <p:spPr>
          <a:xfrm>
            <a:off x="1990451" y="607247"/>
            <a:ext cx="3729627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79E5864A-24C6-4392-99BE-CB9829B3343D}"/>
              </a:ext>
            </a:extLst>
          </p:cNvPr>
          <p:cNvSpPr/>
          <p:nvPr/>
        </p:nvSpPr>
        <p:spPr>
          <a:xfrm>
            <a:off x="6471922" y="607247"/>
            <a:ext cx="3487130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32373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F1CC73F5-5576-4103-9212-AC177A57FC83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F93E5436-14CC-45BA-BFFD-235C13AC56D8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94754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553975" cy="338554"/>
            <a:chOff x="8052781" y="706009"/>
            <a:chExt cx="553975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31290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Roboto" panose="02000000000000000000" pitchFamily="2" charset="0"/>
                </a:rPr>
                <a:t>B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A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B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SHARED MODULE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309316" y="450792"/>
            <a:ext cx="31931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Roboto" panose="02000000000000000000" pitchFamily="2" charset="0"/>
              </a:rPr>
              <a:t>A</a:t>
            </a: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EDAE81EE-2BA3-4C0A-AF87-F5A4AA7EC49C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E1E49913-3D9A-4790-A4FD-299FA021F6C6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672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CB6F7B9-EB6C-455C-9337-4FBD59670DE1}"/>
              </a:ext>
            </a:extLst>
          </p:cNvPr>
          <p:cNvGrpSpPr/>
          <p:nvPr/>
        </p:nvGrpSpPr>
        <p:grpSpPr>
          <a:xfrm>
            <a:off x="944610" y="2440654"/>
            <a:ext cx="10302780" cy="1976693"/>
            <a:chOff x="712835" y="2435652"/>
            <a:chExt cx="10302780" cy="1976693"/>
          </a:xfrm>
        </p:grpSpPr>
        <p:sp>
          <p:nvSpPr>
            <p:cNvPr id="5" name="TextBox 4"/>
            <p:cNvSpPr txBox="1"/>
            <p:nvPr/>
          </p:nvSpPr>
          <p:spPr>
            <a:xfrm>
              <a:off x="712835" y="3013500"/>
              <a:ext cx="45386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РАССТОЯНИЕ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9E220E-F80A-4E86-B88A-DD7032DF7B95}"/>
                </a:ext>
              </a:extLst>
            </p:cNvPr>
            <p:cNvSpPr txBox="1"/>
            <p:nvPr/>
          </p:nvSpPr>
          <p:spPr>
            <a:xfrm>
              <a:off x="5238221" y="3013499"/>
              <a:ext cx="8302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=</a:t>
              </a:r>
              <a:endParaRPr lang="en-US" sz="480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1ADAB7-CEB6-4CBB-93B1-3EF3ADE154EB}"/>
                </a:ext>
              </a:extLst>
            </p:cNvPr>
            <p:cNvSpPr txBox="1"/>
            <p:nvPr/>
          </p:nvSpPr>
          <p:spPr>
            <a:xfrm>
              <a:off x="7971692" y="2435652"/>
              <a:ext cx="117800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1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56D4450-EA03-4BE6-B0B5-48DAF7882BCA}"/>
                </a:ext>
              </a:extLst>
            </p:cNvPr>
            <p:cNvSpPr/>
            <p:nvPr/>
          </p:nvSpPr>
          <p:spPr>
            <a:xfrm>
              <a:off x="7013449" y="3355499"/>
              <a:ext cx="3084639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A0FBE56-607B-412F-93AC-62363C7202BB}"/>
                </a:ext>
              </a:extLst>
            </p:cNvPr>
            <p:cNvSpPr txBox="1"/>
            <p:nvPr/>
          </p:nvSpPr>
          <p:spPr>
            <a:xfrm>
              <a:off x="6096000" y="3581348"/>
              <a:ext cx="491961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КОЛ-ВО ОТВЕТ.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23035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ТАКТИКА ВЫЖИДАНИЯ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621354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16">
            <a:extLst>
              <a:ext uri="{FF2B5EF4-FFF2-40B4-BE49-F238E27FC236}">
                <a16:creationId xmlns:a16="http://schemas.microsoft.com/office/drawing/2014/main" id="{34059D6F-0ABC-4967-8D4E-B115D655058F}"/>
              </a:ext>
            </a:extLst>
          </p:cNvPr>
          <p:cNvSpPr/>
          <p:nvPr/>
        </p:nvSpPr>
        <p:spPr>
          <a:xfrm>
            <a:off x="223565" y="2212964"/>
            <a:ext cx="5758982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17">
            <a:extLst>
              <a:ext uri="{FF2B5EF4-FFF2-40B4-BE49-F238E27FC236}">
                <a16:creationId xmlns:a16="http://schemas.microsoft.com/office/drawing/2014/main" id="{D122CF41-3556-407F-B3C3-329A4FFFE5CB}"/>
              </a:ext>
            </a:extLst>
          </p:cNvPr>
          <p:cNvSpPr/>
          <p:nvPr/>
        </p:nvSpPr>
        <p:spPr>
          <a:xfrm>
            <a:off x="6272575" y="2212965"/>
            <a:ext cx="5502162" cy="254953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 ИСПЫТАНИЕ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96643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>
                <a:solidFill>
                  <a:schemeClr val="bg1"/>
                </a:solidFill>
              </a:rPr>
              <a:t>Хабр</a:t>
            </a:r>
            <a:r>
              <a:rPr lang="ru-RU" sz="2400" kern="0" dirty="0">
                <a:solidFill>
                  <a:schemeClr val="bg1"/>
                </a:solidFill>
              </a:rPr>
              <a:t> - </a:t>
            </a:r>
            <a:r>
              <a:rPr lang="en-US" sz="2400" kern="0" dirty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42881-5E0D-42ED-B599-E8485F7F1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088" y="4126921"/>
            <a:ext cx="1844172" cy="1844172"/>
          </a:xfrm>
          <a:prstGeom prst="rect">
            <a:avLst/>
          </a:prstGeom>
        </p:spPr>
      </p:pic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C51D5197-BA46-4FE2-9B7D-79E850DCA7D1}"/>
              </a:ext>
            </a:extLst>
          </p:cNvPr>
          <p:cNvSpPr txBox="1">
            <a:spLocks/>
          </p:cNvSpPr>
          <p:nvPr/>
        </p:nvSpPr>
        <p:spPr>
          <a:xfrm>
            <a:off x="-263289" y="3530455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</a:rPr>
              <a:t>Роль архитектуры в ПО</a:t>
            </a: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Bold" panose="02000803040000020004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2182A4-2232-4257-A0D9-BC22E0AF5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5612" y="4126921"/>
            <a:ext cx="1847088" cy="1847088"/>
          </a:xfrm>
          <a:prstGeom prst="rect">
            <a:avLst/>
          </a:prstGeom>
        </p:spPr>
      </p:pic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A8D8AC59-22AD-43E6-BBE3-2C97889D0E02}"/>
              </a:ext>
            </a:extLst>
          </p:cNvPr>
          <p:cNvSpPr txBox="1">
            <a:spLocks/>
          </p:cNvSpPr>
          <p:nvPr/>
        </p:nvSpPr>
        <p:spPr>
          <a:xfrm>
            <a:off x="3067178" y="3530455"/>
            <a:ext cx="4743955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  <a:ea typeface="Roboto" panose="02000000000000000000" pitchFamily="2" charset="0"/>
              </a:rPr>
              <a:t>Тестируемая архитектура</a:t>
            </a:r>
            <a:endParaRPr lang="ru-RU" sz="1800" kern="0" dirty="0">
              <a:latin typeface="TTTravels-Bold" panose="02000803040000020004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18366</TotalTime>
  <Words>4924</Words>
  <Application>Microsoft Office PowerPoint</Application>
  <PresentationFormat>Widescreen</PresentationFormat>
  <Paragraphs>496</Paragraphs>
  <Slides>125</Slides>
  <Notes>125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125</vt:i4>
      </vt:variant>
    </vt:vector>
  </HeadingPairs>
  <TitlesOfParts>
    <vt:vector size="133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Роман Хаимов</cp:lastModifiedBy>
  <cp:revision>511</cp:revision>
  <dcterms:created xsi:type="dcterms:W3CDTF">2024-05-14T14:02:45Z</dcterms:created>
  <dcterms:modified xsi:type="dcterms:W3CDTF">2024-06-22T09:51:36Z</dcterms:modified>
</cp:coreProperties>
</file>