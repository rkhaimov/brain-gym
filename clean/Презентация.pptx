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8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500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266" r:id="rId35"/>
    <p:sldId id="394" r:id="rId36"/>
    <p:sldId id="395" r:id="rId37"/>
    <p:sldId id="396" r:id="rId38"/>
    <p:sldId id="268" r:id="rId39"/>
    <p:sldId id="397" r:id="rId40"/>
    <p:sldId id="398" r:id="rId41"/>
    <p:sldId id="269" r:id="rId42"/>
    <p:sldId id="399" r:id="rId43"/>
    <p:sldId id="275" r:id="rId44"/>
    <p:sldId id="400" r:id="rId45"/>
    <p:sldId id="402" r:id="rId46"/>
    <p:sldId id="403" r:id="rId47"/>
    <p:sldId id="273" r:id="rId48"/>
    <p:sldId id="274" r:id="rId49"/>
    <p:sldId id="276" r:id="rId50"/>
    <p:sldId id="277" r:id="rId51"/>
    <p:sldId id="488" r:id="rId52"/>
    <p:sldId id="278" r:id="rId53"/>
    <p:sldId id="404" r:id="rId54"/>
    <p:sldId id="279" r:id="rId55"/>
    <p:sldId id="405" r:id="rId56"/>
    <p:sldId id="356" r:id="rId57"/>
    <p:sldId id="406" r:id="rId58"/>
    <p:sldId id="280" r:id="rId59"/>
    <p:sldId id="357" r:id="rId60"/>
    <p:sldId id="358" r:id="rId61"/>
    <p:sldId id="407" r:id="rId62"/>
    <p:sldId id="355" r:id="rId63"/>
    <p:sldId id="496" r:id="rId64"/>
    <p:sldId id="497" r:id="rId65"/>
    <p:sldId id="408" r:id="rId66"/>
    <p:sldId id="409" r:id="rId67"/>
    <p:sldId id="360" r:id="rId68"/>
    <p:sldId id="285" r:id="rId69"/>
    <p:sldId id="410" r:id="rId70"/>
    <p:sldId id="411" r:id="rId71"/>
    <p:sldId id="361" r:id="rId72"/>
    <p:sldId id="412" r:id="rId73"/>
    <p:sldId id="362" r:id="rId74"/>
    <p:sldId id="289" r:id="rId75"/>
    <p:sldId id="290" r:id="rId76"/>
    <p:sldId id="291" r:id="rId77"/>
    <p:sldId id="413" r:id="rId78"/>
    <p:sldId id="414" r:id="rId79"/>
    <p:sldId id="292" r:id="rId80"/>
    <p:sldId id="415" r:id="rId81"/>
    <p:sldId id="416" r:id="rId82"/>
    <p:sldId id="417" r:id="rId83"/>
    <p:sldId id="418" r:id="rId84"/>
    <p:sldId id="419" r:id="rId85"/>
    <p:sldId id="420" r:id="rId86"/>
    <p:sldId id="421" r:id="rId87"/>
    <p:sldId id="422" r:id="rId88"/>
    <p:sldId id="423" r:id="rId89"/>
    <p:sldId id="499" r:id="rId90"/>
    <p:sldId id="498" r:id="rId91"/>
    <p:sldId id="427" r:id="rId92"/>
    <p:sldId id="501" r:id="rId93"/>
    <p:sldId id="429" r:id="rId94"/>
    <p:sldId id="430" r:id="rId95"/>
    <p:sldId id="502" r:id="rId96"/>
    <p:sldId id="431" r:id="rId97"/>
    <p:sldId id="432" r:id="rId98"/>
    <p:sldId id="300" r:id="rId99"/>
    <p:sldId id="302" r:id="rId100"/>
    <p:sldId id="433" r:id="rId101"/>
    <p:sldId id="434" r:id="rId102"/>
    <p:sldId id="435" r:id="rId103"/>
    <p:sldId id="441" r:id="rId104"/>
    <p:sldId id="436" r:id="rId105"/>
    <p:sldId id="440" r:id="rId106"/>
    <p:sldId id="437" r:id="rId107"/>
    <p:sldId id="428" r:id="rId108"/>
    <p:sldId id="438" r:id="rId109"/>
    <p:sldId id="439" r:id="rId110"/>
    <p:sldId id="424" r:id="rId111"/>
    <p:sldId id="442" r:id="rId112"/>
    <p:sldId id="443" r:id="rId113"/>
    <p:sldId id="444" r:id="rId114"/>
    <p:sldId id="445" r:id="rId115"/>
    <p:sldId id="447" r:id="rId116"/>
    <p:sldId id="448" r:id="rId117"/>
    <p:sldId id="450" r:id="rId118"/>
    <p:sldId id="449" r:id="rId119"/>
    <p:sldId id="451" r:id="rId120"/>
    <p:sldId id="452" r:id="rId121"/>
    <p:sldId id="453" r:id="rId122"/>
    <p:sldId id="454" r:id="rId123"/>
    <p:sldId id="486" r:id="rId124"/>
    <p:sldId id="487" r:id="rId125"/>
    <p:sldId id="485" r:id="rId126"/>
    <p:sldId id="492" r:id="rId1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8395" autoAdjust="0"/>
  </p:normalViewPr>
  <p:slideViewPr>
    <p:cSldViewPr snapToGrid="0">
      <p:cViewPr>
        <p:scale>
          <a:sx n="150" d="100"/>
          <a:sy n="150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13.06.2024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Мы увидим дальше причем здесь производительность труда когда речь идет об </a:t>
            </a:r>
            <a:r>
              <a:rPr lang="en-US" dirty="0" err="1">
                <a:cs typeface="Calibri"/>
              </a:rPr>
              <a:t>srp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342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Индикатор в углу означает наличие ответственности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добавлении нового источника данных нам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наврятли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полезно видеть реализацию всех существующих. Избавиться от этого шума легко,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проблема здесь заключается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говоря уже о том что в общей функции по прежнему остается поведение интересное конкретному клиенту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 рассматриваемая ситуация не является чем то специфичным исключительно для маленьких функций.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55966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Проблема является гораздо более распространенной и актуальная в том числе и для много модульных приложений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вот в них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жесткость и хрупкость возникающие вследствие ошибочного определения ответственностей будут иметь гораздо более весомые последствия в виду большей отдаленности модулей друг от друга. Их просто сложнее изменять вместе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Отсюда и такие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антипаттерны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shotgun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surgary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где для реализации приходится вносить точечные изменения в куче разных модулей вместо того чтобы изменить один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такой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антипаттерн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рассматривается сейчас. Где очень часто изменяется один модуль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причем с каждой такой модификацией он становится только больше и сложнее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73880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учетом описанных проблем возникает закономерный вопрос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можно ли как то определить ответственности в проекте точнее?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Разумным вариантом решения проблемы будет придерживаться тактики выжидания.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0074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27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протяжении всей статьи с разных сторон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демонстировался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столько сам принцип SRP, сколько то ключевое свойство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которое он направлен, а именно - адаптивность программы к изменениям. ПО которое плохо поддается модификациям называют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исскуственно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сложным*. Для особо запущенных проектов существует даже отдельное понятие - устаревший (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legacy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проект.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Устаревший он не потому, что ему много лет, а из-за того насколько сильно он сопротивляется входящим модификациям.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Устаревшим проект может стать и через неделю.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1818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– мы его сейчас не касаемся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227229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29FA5-2783-4E86-8813-38C38EF932DD}" type="datetime1">
              <a:rPr lang="ru-RU" smtClean="0"/>
              <a:t>13.06.2024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4C060-8516-40FA-A8A8-66387D137ABD}" type="datetime1">
              <a:rPr lang="ru-RU" smtClean="0"/>
              <a:t>13.06.2024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AC569-EB6A-452A-BB6B-12A64101F477}" type="datetime1">
              <a:rPr lang="ru-RU" smtClean="0"/>
              <a:t>13.06.2024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4A850-E4C0-49A0-B0EF-96466CF150AF}" type="datetime1">
              <a:rPr lang="ru-RU" smtClean="0"/>
              <a:t>13.06.2024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C2969-2864-4F10-A837-1C845AC8F1B4}" type="datetime1">
              <a:rPr lang="ru-RU" smtClean="0"/>
              <a:t>13.06.2024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AA1234-8762-46E9-A76B-EC5B6A19443E}" type="datetime1">
              <a:rPr lang="ru-RU" smtClean="0"/>
              <a:t>13.06.2024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CF2E8-3EF9-443C-92E6-F749D69A7AB0}" type="datetime1">
              <a:rPr lang="ru-RU" smtClean="0"/>
              <a:t>13.06.2024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32129-F056-46E8-96F6-0069B89889D0}" type="datetime1">
              <a:rPr lang="ru-RU" smtClean="0"/>
              <a:t>13.06.2024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0F73B-26B3-45C4-9BE9-EA0CE8D9AC8B}" type="datetime1">
              <a:rPr lang="ru-RU" smtClean="0"/>
              <a:t>13.06.2024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62729-3250-4A25-83BF-95DC571DDDBC}" type="datetime1">
              <a:rPr lang="ru-RU" smtClean="0"/>
              <a:t>13.06.2024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A9462-4FF6-40EE-B4E4-40BA81E6934B}" type="datetime1">
              <a:rPr lang="ru-RU" smtClean="0"/>
              <a:t>13.06.2024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8F767-1343-4ED7-9C0F-BE4D95F04EC9}" type="datetime1">
              <a:rPr lang="ru-RU" smtClean="0"/>
              <a:t>13.06.2024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3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5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BBA9C03-398D-4534-B445-64AA3A6FF67B}"/>
              </a:ext>
            </a:extLst>
          </p:cNvPr>
          <p:cNvGrpSpPr/>
          <p:nvPr/>
        </p:nvGrpSpPr>
        <p:grpSpPr>
          <a:xfrm>
            <a:off x="5196000" y="2869313"/>
            <a:ext cx="1800000" cy="1855477"/>
            <a:chOff x="5659557" y="2462913"/>
            <a:chExt cx="1800000" cy="1855477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5659557" y="246291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59557" y="2490651"/>
              <a:ext cx="1800000" cy="18000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809D99-76B6-4ECD-9677-F5A3BF5F4326}"/>
              </a:ext>
            </a:extLst>
          </p:cNvPr>
          <p:cNvGrpSpPr/>
          <p:nvPr/>
        </p:nvGrpSpPr>
        <p:grpSpPr>
          <a:xfrm>
            <a:off x="2062507" y="1979923"/>
            <a:ext cx="1802950" cy="1855477"/>
            <a:chOff x="2062507" y="1573523"/>
            <a:chExt cx="1802950" cy="1855477"/>
          </a:xfrm>
        </p:grpSpPr>
        <p:sp>
          <p:nvSpPr>
            <p:cNvPr id="6" name="Прямоугольник 2">
              <a:extLst>
                <a:ext uri="{FF2B5EF4-FFF2-40B4-BE49-F238E27FC236}">
                  <a16:creationId xmlns:a16="http://schemas.microsoft.com/office/drawing/2014/main" id="{F9CA7772-852A-49D6-B3CB-9BA8CA712BFA}"/>
                </a:ext>
              </a:extLst>
            </p:cNvPr>
            <p:cNvSpPr/>
            <p:nvPr/>
          </p:nvSpPr>
          <p:spPr>
            <a:xfrm>
              <a:off x="20654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2507" y="1629000"/>
              <a:ext cx="1800000" cy="1800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44A04A-4553-431A-B364-8AD0C6192EC2}"/>
              </a:ext>
            </a:extLst>
          </p:cNvPr>
          <p:cNvGrpSpPr/>
          <p:nvPr/>
        </p:nvGrpSpPr>
        <p:grpSpPr>
          <a:xfrm>
            <a:off x="8326543" y="1941574"/>
            <a:ext cx="1800000" cy="1855477"/>
            <a:chOff x="8910757" y="1573523"/>
            <a:chExt cx="1800000" cy="1855477"/>
          </a:xfrm>
        </p:grpSpPr>
        <p:sp>
          <p:nvSpPr>
            <p:cNvPr id="9" name="Прямоугольник 2">
              <a:extLst>
                <a:ext uri="{FF2B5EF4-FFF2-40B4-BE49-F238E27FC236}">
                  <a16:creationId xmlns:a16="http://schemas.microsoft.com/office/drawing/2014/main" id="{4F6EACD5-BBA8-45D3-98BC-E4FAF7F52777}"/>
                </a:ext>
              </a:extLst>
            </p:cNvPr>
            <p:cNvSpPr/>
            <p:nvPr/>
          </p:nvSpPr>
          <p:spPr>
            <a:xfrm>
              <a:off x="8910757" y="1573523"/>
              <a:ext cx="1800000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0757" y="1573523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47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030" y="259460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8BE2CDB-1658-41DF-89C9-F3AE500FB644}"/>
              </a:ext>
            </a:extLst>
          </p:cNvPr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2">
            <a:extLst>
              <a:ext uri="{FF2B5EF4-FFF2-40B4-BE49-F238E27FC236}">
                <a16:creationId xmlns:a16="http://schemas.microsoft.com/office/drawing/2014/main" id="{15B5ABB7-C502-4766-B386-E674096292DE}"/>
              </a:ext>
            </a:extLst>
          </p:cNvPr>
          <p:cNvSpPr/>
          <p:nvPr/>
        </p:nvSpPr>
        <p:spPr>
          <a:xfrm>
            <a:off x="4610100" y="487680"/>
            <a:ext cx="2971800" cy="275082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1B155-A125-46CD-B1A2-D3F51CF12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1922" y="607247"/>
            <a:ext cx="3487130" cy="51389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2">
            <a:extLst>
              <a:ext uri="{FF2B5EF4-FFF2-40B4-BE49-F238E27FC236}">
                <a16:creationId xmlns:a16="http://schemas.microsoft.com/office/drawing/2014/main" id="{3F5C1CF8-521F-4D91-8853-4BC66280157E}"/>
              </a:ext>
            </a:extLst>
          </p:cNvPr>
          <p:cNvSpPr/>
          <p:nvPr/>
        </p:nvSpPr>
        <p:spPr>
          <a:xfrm>
            <a:off x="1990451" y="607247"/>
            <a:ext cx="3729627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2">
            <a:extLst>
              <a:ext uri="{FF2B5EF4-FFF2-40B4-BE49-F238E27FC236}">
                <a16:creationId xmlns:a16="http://schemas.microsoft.com/office/drawing/2014/main" id="{79E5864A-24C6-4392-99BE-CB9829B3343D}"/>
              </a:ext>
            </a:extLst>
          </p:cNvPr>
          <p:cNvSpPr/>
          <p:nvPr/>
        </p:nvSpPr>
        <p:spPr>
          <a:xfrm>
            <a:off x="6471922" y="607247"/>
            <a:ext cx="3487130" cy="21190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F1CC73F5-5576-4103-9212-AC177A57FC83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F93E5436-14CC-45BA-BFFD-235C13AC56D8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94754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553975" cy="338554"/>
            <a:chOff x="8052781" y="706009"/>
            <a:chExt cx="553975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312906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latin typeface="Roboto" panose="02000000000000000000" pitchFamily="2" charset="0"/>
                </a:rPr>
                <a:t>B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A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MODULE B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SHARED MODULE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309316" y="450792"/>
            <a:ext cx="31931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latin typeface="Roboto" panose="02000000000000000000" pitchFamily="2" charset="0"/>
              </a:rPr>
              <a:t>A</a:t>
            </a:r>
          </a:p>
        </p:txBody>
      </p:sp>
      <p:sp>
        <p:nvSpPr>
          <p:cNvPr id="17" name="Овал 15">
            <a:extLst>
              <a:ext uri="{FF2B5EF4-FFF2-40B4-BE49-F238E27FC236}">
                <a16:creationId xmlns:a16="http://schemas.microsoft.com/office/drawing/2014/main" id="{EDAE81EE-2BA3-4C0A-AF87-F5A4AA7EC49C}"/>
              </a:ext>
            </a:extLst>
          </p:cNvPr>
          <p:cNvSpPr/>
          <p:nvPr/>
        </p:nvSpPr>
        <p:spPr>
          <a:xfrm>
            <a:off x="5633020" y="4379737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0">
            <a:extLst>
              <a:ext uri="{FF2B5EF4-FFF2-40B4-BE49-F238E27FC236}">
                <a16:creationId xmlns:a16="http://schemas.microsoft.com/office/drawing/2014/main" id="{E1E49913-3D9A-4790-A4FD-299FA021F6C6}"/>
              </a:ext>
            </a:extLst>
          </p:cNvPr>
          <p:cNvSpPr/>
          <p:nvPr/>
        </p:nvSpPr>
        <p:spPr>
          <a:xfrm>
            <a:off x="8807791" y="43764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672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ТАКТИКА ВЫЖИДАНИЯ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21354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16">
            <a:extLst>
              <a:ext uri="{FF2B5EF4-FFF2-40B4-BE49-F238E27FC236}">
                <a16:creationId xmlns:a16="http://schemas.microsoft.com/office/drawing/2014/main" id="{34059D6F-0ABC-4967-8D4E-B115D655058F}"/>
              </a:ext>
            </a:extLst>
          </p:cNvPr>
          <p:cNvSpPr/>
          <p:nvPr/>
        </p:nvSpPr>
        <p:spPr>
          <a:xfrm>
            <a:off x="223565" y="2212964"/>
            <a:ext cx="5758982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17">
            <a:extLst>
              <a:ext uri="{FF2B5EF4-FFF2-40B4-BE49-F238E27FC236}">
                <a16:creationId xmlns:a16="http://schemas.microsoft.com/office/drawing/2014/main" id="{D122CF41-3556-407F-B3C3-329A4FFFE5CB}"/>
              </a:ext>
            </a:extLst>
          </p:cNvPr>
          <p:cNvSpPr/>
          <p:nvPr/>
        </p:nvSpPr>
        <p:spPr>
          <a:xfrm>
            <a:off x="6272575" y="2212965"/>
            <a:ext cx="5502162" cy="254953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 ИСПЫТАНИЕ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966432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87330416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274838"/>
            <a:ext cx="64043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УДАЛЕНИЕ</a:t>
            </a:r>
          </a:p>
          <a:p>
            <a:pPr algn="ctr"/>
            <a:endParaRPr lang="ru-RU" sz="48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126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42881-5E0D-42ED-B599-E8485F7F1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088" y="4126921"/>
            <a:ext cx="1844172" cy="1844172"/>
          </a:xfrm>
          <a:prstGeom prst="rect">
            <a:avLst/>
          </a:prstGeom>
        </p:spPr>
      </p:pic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C51D5197-BA46-4FE2-9B7D-79E850DCA7D1}"/>
              </a:ext>
            </a:extLst>
          </p:cNvPr>
          <p:cNvSpPr txBox="1">
            <a:spLocks/>
          </p:cNvSpPr>
          <p:nvPr/>
        </p:nvSpPr>
        <p:spPr>
          <a:xfrm>
            <a:off x="-263289" y="3530455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</a:rPr>
              <a:t>Роль архитектуры в ПО</a:t>
            </a: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Bold" panose="02000803040000020004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2182A4-2232-4257-A0D9-BC22E0AF5B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5612" y="4126921"/>
            <a:ext cx="1847088" cy="1847088"/>
          </a:xfrm>
          <a:prstGeom prst="rect">
            <a:avLst/>
          </a:prstGeom>
        </p:spPr>
      </p:pic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A8D8AC59-22AD-43E6-BBE3-2C97889D0E02}"/>
              </a:ext>
            </a:extLst>
          </p:cNvPr>
          <p:cNvSpPr txBox="1">
            <a:spLocks/>
          </p:cNvSpPr>
          <p:nvPr/>
        </p:nvSpPr>
        <p:spPr>
          <a:xfrm>
            <a:off x="3067178" y="3530455"/>
            <a:ext cx="4743955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lvl="0" algn="ctr">
              <a:lnSpc>
                <a:spcPct val="160000"/>
              </a:lnSpc>
              <a:defRPr/>
            </a:pPr>
            <a:r>
              <a:rPr lang="ru-RU" sz="1800" kern="0" dirty="0">
                <a:solidFill>
                  <a:schemeClr val="bg1"/>
                </a:solidFill>
                <a:latin typeface="TTTravels-Bold" panose="02000803040000020004" pitchFamily="2" charset="0"/>
                <a:ea typeface="Roboto" panose="02000000000000000000" pitchFamily="2" charset="0"/>
              </a:rPr>
              <a:t>Тестируемая архитектура</a:t>
            </a:r>
            <a:endParaRPr lang="ru-RU" sz="1800" kern="0" dirty="0">
              <a:latin typeface="TTTravels-Bold" panose="02000803040000020004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17872</TotalTime>
  <Words>5001</Words>
  <Application>Microsoft Office PowerPoint</Application>
  <PresentationFormat>Widescreen</PresentationFormat>
  <Paragraphs>484</Paragraphs>
  <Slides>126</Slides>
  <Notes>126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126</vt:i4>
      </vt:variant>
    </vt:vector>
  </HeadingPairs>
  <TitlesOfParts>
    <vt:vector size="134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287</cp:revision>
  <dcterms:created xsi:type="dcterms:W3CDTF">2024-05-14T14:02:45Z</dcterms:created>
  <dcterms:modified xsi:type="dcterms:W3CDTF">2024-06-13T07:05:34Z</dcterms:modified>
</cp:coreProperties>
</file>