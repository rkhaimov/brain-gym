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8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500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266" r:id="rId35"/>
    <p:sldId id="394" r:id="rId36"/>
    <p:sldId id="395" r:id="rId37"/>
    <p:sldId id="396" r:id="rId38"/>
    <p:sldId id="268" r:id="rId39"/>
    <p:sldId id="397" r:id="rId40"/>
    <p:sldId id="398" r:id="rId41"/>
    <p:sldId id="269" r:id="rId42"/>
    <p:sldId id="399" r:id="rId43"/>
    <p:sldId id="275" r:id="rId44"/>
    <p:sldId id="400" r:id="rId45"/>
    <p:sldId id="402" r:id="rId46"/>
    <p:sldId id="403" r:id="rId47"/>
    <p:sldId id="273" r:id="rId48"/>
    <p:sldId id="274" r:id="rId49"/>
    <p:sldId id="276" r:id="rId50"/>
    <p:sldId id="277" r:id="rId51"/>
    <p:sldId id="488" r:id="rId52"/>
    <p:sldId id="278" r:id="rId53"/>
    <p:sldId id="404" r:id="rId54"/>
    <p:sldId id="279" r:id="rId55"/>
    <p:sldId id="405" r:id="rId56"/>
    <p:sldId id="356" r:id="rId57"/>
    <p:sldId id="406" r:id="rId58"/>
    <p:sldId id="280" r:id="rId59"/>
    <p:sldId id="357" r:id="rId60"/>
    <p:sldId id="358" r:id="rId61"/>
    <p:sldId id="407" r:id="rId62"/>
    <p:sldId id="355" r:id="rId63"/>
    <p:sldId id="496" r:id="rId64"/>
    <p:sldId id="497" r:id="rId65"/>
    <p:sldId id="408" r:id="rId66"/>
    <p:sldId id="409" r:id="rId67"/>
    <p:sldId id="360" r:id="rId68"/>
    <p:sldId id="285" r:id="rId69"/>
    <p:sldId id="410" r:id="rId70"/>
    <p:sldId id="411" r:id="rId71"/>
    <p:sldId id="361" r:id="rId72"/>
    <p:sldId id="412" r:id="rId73"/>
    <p:sldId id="362" r:id="rId74"/>
    <p:sldId id="289" r:id="rId75"/>
    <p:sldId id="290" r:id="rId76"/>
    <p:sldId id="291" r:id="rId77"/>
    <p:sldId id="413" r:id="rId78"/>
    <p:sldId id="414" r:id="rId79"/>
    <p:sldId id="292" r:id="rId80"/>
    <p:sldId id="415" r:id="rId81"/>
    <p:sldId id="416" r:id="rId82"/>
    <p:sldId id="417" r:id="rId83"/>
    <p:sldId id="418" r:id="rId84"/>
    <p:sldId id="419" r:id="rId85"/>
    <p:sldId id="420" r:id="rId86"/>
    <p:sldId id="421" r:id="rId87"/>
    <p:sldId id="422" r:id="rId88"/>
    <p:sldId id="423" r:id="rId89"/>
    <p:sldId id="499" r:id="rId90"/>
    <p:sldId id="498" r:id="rId91"/>
    <p:sldId id="427" r:id="rId92"/>
    <p:sldId id="501" r:id="rId93"/>
    <p:sldId id="429" r:id="rId94"/>
    <p:sldId id="430" r:id="rId95"/>
    <p:sldId id="502" r:id="rId96"/>
    <p:sldId id="431" r:id="rId97"/>
    <p:sldId id="432" r:id="rId98"/>
    <p:sldId id="300" r:id="rId99"/>
    <p:sldId id="302" r:id="rId100"/>
    <p:sldId id="433" r:id="rId101"/>
    <p:sldId id="434" r:id="rId102"/>
    <p:sldId id="435" r:id="rId103"/>
    <p:sldId id="441" r:id="rId104"/>
    <p:sldId id="436" r:id="rId105"/>
    <p:sldId id="440" r:id="rId106"/>
    <p:sldId id="437" r:id="rId107"/>
    <p:sldId id="428" r:id="rId108"/>
    <p:sldId id="438" r:id="rId109"/>
    <p:sldId id="439" r:id="rId110"/>
    <p:sldId id="424" r:id="rId111"/>
    <p:sldId id="442" r:id="rId112"/>
    <p:sldId id="443" r:id="rId113"/>
    <p:sldId id="444" r:id="rId114"/>
    <p:sldId id="445" r:id="rId115"/>
    <p:sldId id="447" r:id="rId116"/>
    <p:sldId id="448" r:id="rId117"/>
    <p:sldId id="450" r:id="rId118"/>
    <p:sldId id="449" r:id="rId119"/>
    <p:sldId id="451" r:id="rId120"/>
    <p:sldId id="452" r:id="rId121"/>
    <p:sldId id="453" r:id="rId122"/>
    <p:sldId id="454" r:id="rId123"/>
    <p:sldId id="425" r:id="rId124"/>
    <p:sldId id="455" r:id="rId125"/>
    <p:sldId id="485" r:id="rId126"/>
    <p:sldId id="492" r:id="rId1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74856" autoAdjust="0"/>
  </p:normalViewPr>
  <p:slideViewPr>
    <p:cSldViewPr snapToGrid="0">
      <p:cViewPr varScale="1">
        <p:scale>
          <a:sx n="86" d="100"/>
          <a:sy n="86" d="100"/>
        </p:scale>
        <p:origin x="30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16.06.2024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Мы увидим дальше причем здесь производительность труда когда речь идет об </a:t>
            </a:r>
            <a:r>
              <a:rPr lang="en-US" dirty="0" err="1" smtClean="0">
                <a:cs typeface="Calibri"/>
              </a:rPr>
              <a:t>srp</a:t>
            </a:r>
            <a:r>
              <a:rPr lang="ru-RU" dirty="0" smtClean="0">
                <a:cs typeface="Calibri"/>
              </a:rPr>
              <a:t>.</a:t>
            </a:r>
            <a:r>
              <a:rPr lang="ru-RU" baseline="0" dirty="0" smtClean="0">
                <a:cs typeface="Calibri"/>
              </a:rPr>
              <a:t> Не стоит думать что речь пойдет исключительно о сухом определении</a:t>
            </a:r>
            <a:r>
              <a:rPr lang="en-US" baseline="0" dirty="0" smtClean="0">
                <a:cs typeface="Calibri"/>
              </a:rPr>
              <a:t>, </a:t>
            </a:r>
            <a:r>
              <a:rPr lang="ru-RU" baseline="0" dirty="0" smtClean="0">
                <a:cs typeface="Calibri"/>
              </a:rPr>
              <a:t>мы пойдем немного дальше и попробуем понять </a:t>
            </a:r>
            <a:r>
              <a:rPr lang="ru-RU" baseline="0" dirty="0" err="1" smtClean="0">
                <a:cs typeface="Calibri"/>
              </a:rPr>
              <a:t>коренвую</a:t>
            </a:r>
            <a:r>
              <a:rPr lang="ru-RU" baseline="0" dirty="0" smtClean="0">
                <a:cs typeface="Calibri"/>
              </a:rPr>
              <a:t> проблему</a:t>
            </a:r>
            <a:r>
              <a:rPr lang="en-US" baseline="0" dirty="0" smtClean="0">
                <a:cs typeface="Calibri"/>
              </a:rPr>
              <a:t>, </a:t>
            </a:r>
            <a:r>
              <a:rPr lang="ru-RU" baseline="0" dirty="0" smtClean="0">
                <a:cs typeface="Calibri"/>
              </a:rPr>
              <a:t>на которую данный принцип и направлен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34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Повествование уже намекает на наличие нескольких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Хочу чтобы отложили в голове что мы сейчас сделаем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подождем новых требований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ответственности или причины для изменения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добавлении нового источника данных нам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полезно видеть реализацию всех существующих. Избавиться от этого шума легко, вынесем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 Ведь опыт показал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при добавлении нового источника данных нам совершенно не важно что там дальше происходит с этими продуктами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проблема здесь заключается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говоря уже о том что в общей функции по прежнему остается поведение интересное конкретному клиенту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может быть совершенно разным внешне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вместе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Отсюда и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приходится вносить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Разумным вариантом решения проблемы будет придерживаться тактики выжидания.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0074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27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определения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наблюдательности.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 Но есть кое-что еще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 Отсюда и такая популярность итеративных методологий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8AF99-DAFA-4FC8-9568-7D664E24F84B}" type="datetime1">
              <a:rPr lang="ru-RU" smtClean="0"/>
              <a:t>16.06.2024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D8F94-3817-47A4-A3BB-120385D98D28}" type="datetime1">
              <a:rPr lang="ru-RU" smtClean="0"/>
              <a:t>16.06.2024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FCDEB-FC84-4639-AE65-6586B9AAEC1E}" type="datetime1">
              <a:rPr lang="ru-RU" smtClean="0"/>
              <a:t>16.06.2024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C6FF6-60F3-4412-8629-667F4255D749}" type="datetime1">
              <a:rPr lang="ru-RU" smtClean="0"/>
              <a:t>16.06.2024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66877-C715-492E-9CF4-930774FF79B0}" type="datetime1">
              <a:rPr lang="ru-RU" smtClean="0"/>
              <a:t>16.06.2024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8128E-8050-4D05-B757-0380D9EE8119}" type="datetime1">
              <a:rPr lang="ru-RU" smtClean="0"/>
              <a:t>16.06.2024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3BAEF-96C8-45A0-9342-0B94ECE2E2E2}" type="datetime1">
              <a:rPr lang="ru-RU" smtClean="0"/>
              <a:t>16.06.2024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E1AD2-08EA-4D66-A7B2-8A98D5976F81}" type="datetime1">
              <a:rPr lang="ru-RU" smtClean="0"/>
              <a:t>16.06.2024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13F85-3B81-4645-873F-612A21D708C1}" type="datetime1">
              <a:rPr lang="ru-RU" smtClean="0"/>
              <a:t>16.06.2024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6D3D0-8684-4FFC-A659-E60425A7C87C}" type="datetime1">
              <a:rPr lang="ru-RU" smtClean="0"/>
              <a:t>16.06.2024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08888-EEDC-46A7-B7B5-54BB284B412A}" type="datetime1">
              <a:rPr lang="ru-RU" smtClean="0"/>
              <a:t>16.06.2024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BA101-B661-4E79-9F01-799439C984FE}" type="datetime1">
              <a:rPr lang="ru-RU" smtClean="0"/>
              <a:t>16.06.2024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8.png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8.png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3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5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66.png"/><Relationship Id="rId4" Type="http://schemas.openxmlformats.org/officeDocument/2006/relationships/image" Target="../media/image36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BBA9C03-398D-4534-B445-64AA3A6FF67B}"/>
              </a:ext>
            </a:extLst>
          </p:cNvPr>
          <p:cNvGrpSpPr/>
          <p:nvPr/>
        </p:nvGrpSpPr>
        <p:grpSpPr>
          <a:xfrm>
            <a:off x="5196000" y="2869313"/>
            <a:ext cx="1800000" cy="1855477"/>
            <a:chOff x="5659557" y="2462913"/>
            <a:chExt cx="1800000" cy="1855477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59557" y="246291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9557" y="2490651"/>
              <a:ext cx="1800000" cy="1800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09D99-76B6-4ECD-9677-F5A3BF5F4326}"/>
              </a:ext>
            </a:extLst>
          </p:cNvPr>
          <p:cNvGrpSpPr/>
          <p:nvPr/>
        </p:nvGrpSpPr>
        <p:grpSpPr>
          <a:xfrm>
            <a:off x="2062507" y="1979923"/>
            <a:ext cx="1802950" cy="1855477"/>
            <a:chOff x="2062507" y="1573523"/>
            <a:chExt cx="1802950" cy="1855477"/>
          </a:xfrm>
        </p:grpSpPr>
        <p:sp>
          <p:nvSpPr>
            <p:cNvPr id="6" name="Прямоугольник 2">
              <a:extLst>
                <a:ext uri="{FF2B5EF4-FFF2-40B4-BE49-F238E27FC236}">
                  <a16:creationId xmlns:a16="http://schemas.microsoft.com/office/drawing/2014/main" id="{F9CA7772-852A-49D6-B3CB-9BA8CA712BFA}"/>
                </a:ext>
              </a:extLst>
            </p:cNvPr>
            <p:cNvSpPr/>
            <p:nvPr/>
          </p:nvSpPr>
          <p:spPr>
            <a:xfrm>
              <a:off x="20654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2507" y="1629000"/>
              <a:ext cx="1800000" cy="180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44A04A-4553-431A-B364-8AD0C6192EC2}"/>
              </a:ext>
            </a:extLst>
          </p:cNvPr>
          <p:cNvGrpSpPr/>
          <p:nvPr/>
        </p:nvGrpSpPr>
        <p:grpSpPr>
          <a:xfrm>
            <a:off x="8326543" y="1941574"/>
            <a:ext cx="1800000" cy="1855477"/>
            <a:chOff x="8910757" y="1573523"/>
            <a:chExt cx="1800000" cy="1855477"/>
          </a:xfrm>
        </p:grpSpPr>
        <p:sp>
          <p:nvSpPr>
            <p:cNvPr id="9" name="Прямоугольник 2">
              <a:extLst>
                <a:ext uri="{FF2B5EF4-FFF2-40B4-BE49-F238E27FC236}">
                  <a16:creationId xmlns:a16="http://schemas.microsoft.com/office/drawing/2014/main" id="{4F6EACD5-BBA8-45D3-98BC-E4FAF7F52777}"/>
                </a:ext>
              </a:extLst>
            </p:cNvPr>
            <p:cNvSpPr/>
            <p:nvPr/>
          </p:nvSpPr>
          <p:spPr>
            <a:xfrm>
              <a:off x="89107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0757" y="1573523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4746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030" y="259460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89E3A-C8F6-4C82-9F64-12C51FF1B533}"/>
              </a:ext>
            </a:extLst>
          </p:cNvPr>
          <p:cNvSpPr/>
          <p:nvPr/>
        </p:nvSpPr>
        <p:spPr>
          <a:xfrm>
            <a:off x="3670351" y="650240"/>
            <a:ext cx="4851299" cy="797560"/>
          </a:xfrm>
          <a:prstGeom prst="rect">
            <a:avLst/>
          </a:prstGeom>
          <a:solidFill>
            <a:schemeClr val="bg2">
              <a:lumMod val="9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8BE2CDB-1658-41DF-89C9-F3AE500FB644}"/>
              </a:ext>
            </a:extLst>
          </p:cNvPr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1B155-A125-46CD-B1A2-D3F51CF1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922" y="607247"/>
            <a:ext cx="3487130" cy="51389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3F5C1CF8-521F-4D91-8853-4BC66280157E}"/>
              </a:ext>
            </a:extLst>
          </p:cNvPr>
          <p:cNvSpPr/>
          <p:nvPr/>
        </p:nvSpPr>
        <p:spPr>
          <a:xfrm>
            <a:off x="1990451" y="607247"/>
            <a:ext cx="3729627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79E5864A-24C6-4392-99BE-CB9829B3343D}"/>
              </a:ext>
            </a:extLst>
          </p:cNvPr>
          <p:cNvSpPr/>
          <p:nvPr/>
        </p:nvSpPr>
        <p:spPr>
          <a:xfrm>
            <a:off x="6471922" y="607247"/>
            <a:ext cx="3487130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4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5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ТАКТИКА ВЫЖИДАНИЯ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21354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16">
            <a:extLst>
              <a:ext uri="{FF2B5EF4-FFF2-40B4-BE49-F238E27FC236}">
                <a16:creationId xmlns:a16="http://schemas.microsoft.com/office/drawing/2014/main" id="{34059D6F-0ABC-4967-8D4E-B115D655058F}"/>
              </a:ext>
            </a:extLst>
          </p:cNvPr>
          <p:cNvSpPr/>
          <p:nvPr/>
        </p:nvSpPr>
        <p:spPr>
          <a:xfrm>
            <a:off x="223565" y="2212964"/>
            <a:ext cx="5758982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17">
            <a:extLst>
              <a:ext uri="{FF2B5EF4-FFF2-40B4-BE49-F238E27FC236}">
                <a16:creationId xmlns:a16="http://schemas.microsoft.com/office/drawing/2014/main" id="{D122CF41-3556-407F-B3C3-329A4FFFE5CB}"/>
              </a:ext>
            </a:extLst>
          </p:cNvPr>
          <p:cNvSpPr/>
          <p:nvPr/>
        </p:nvSpPr>
        <p:spPr>
          <a:xfrm>
            <a:off x="6272575" y="2212965"/>
            <a:ext cx="5502162" cy="254953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 ИСПЫТАНИЕ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966432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17894</TotalTime>
  <Words>2523</Words>
  <Application>Microsoft Office PowerPoint</Application>
  <PresentationFormat>Широкоэкранный</PresentationFormat>
  <Paragraphs>482</Paragraphs>
  <Slides>126</Slides>
  <Notes>126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126</vt:i4>
      </vt:variant>
    </vt:vector>
  </HeadingPairs>
  <TitlesOfParts>
    <vt:vector size="134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294</cp:revision>
  <dcterms:created xsi:type="dcterms:W3CDTF">2024-05-14T14:02:45Z</dcterms:created>
  <dcterms:modified xsi:type="dcterms:W3CDTF">2024-06-16T15:37:57Z</dcterms:modified>
</cp:coreProperties>
</file>