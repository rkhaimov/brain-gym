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8"/>
  </p:notesMasterIdLst>
  <p:sldIdLst>
    <p:sldId id="257" r:id="rId2"/>
    <p:sldId id="493" r:id="rId3"/>
    <p:sldId id="491" r:id="rId4"/>
    <p:sldId id="366" r:id="rId5"/>
    <p:sldId id="367" r:id="rId6"/>
    <p:sldId id="368" r:id="rId7"/>
    <p:sldId id="369" r:id="rId8"/>
    <p:sldId id="370" r:id="rId9"/>
    <p:sldId id="261" r:id="rId10"/>
    <p:sldId id="262" r:id="rId11"/>
    <p:sldId id="260" r:id="rId12"/>
    <p:sldId id="263" r:id="rId13"/>
    <p:sldId id="371" r:id="rId14"/>
    <p:sldId id="372" r:id="rId15"/>
    <p:sldId id="373" r:id="rId16"/>
    <p:sldId id="374" r:id="rId17"/>
    <p:sldId id="500" r:id="rId18"/>
    <p:sldId id="375" r:id="rId19"/>
    <p:sldId id="376" r:id="rId20"/>
    <p:sldId id="377" r:id="rId21"/>
    <p:sldId id="378" r:id="rId22"/>
    <p:sldId id="379" r:id="rId23"/>
    <p:sldId id="381" r:id="rId24"/>
    <p:sldId id="385" r:id="rId25"/>
    <p:sldId id="388" r:id="rId26"/>
    <p:sldId id="382" r:id="rId27"/>
    <p:sldId id="384" r:id="rId28"/>
    <p:sldId id="386" r:id="rId29"/>
    <p:sldId id="387" r:id="rId30"/>
    <p:sldId id="389" r:id="rId31"/>
    <p:sldId id="390" r:id="rId32"/>
    <p:sldId id="391" r:id="rId33"/>
    <p:sldId id="393" r:id="rId34"/>
    <p:sldId id="266" r:id="rId35"/>
    <p:sldId id="394" r:id="rId36"/>
    <p:sldId id="395" r:id="rId37"/>
    <p:sldId id="396" r:id="rId38"/>
    <p:sldId id="268" r:id="rId39"/>
    <p:sldId id="397" r:id="rId40"/>
    <p:sldId id="398" r:id="rId41"/>
    <p:sldId id="269" r:id="rId42"/>
    <p:sldId id="399" r:id="rId43"/>
    <p:sldId id="275" r:id="rId44"/>
    <p:sldId id="400" r:id="rId45"/>
    <p:sldId id="402" r:id="rId46"/>
    <p:sldId id="403" r:id="rId47"/>
    <p:sldId id="273" r:id="rId48"/>
    <p:sldId id="274" r:id="rId49"/>
    <p:sldId id="276" r:id="rId50"/>
    <p:sldId id="277" r:id="rId51"/>
    <p:sldId id="488" r:id="rId52"/>
    <p:sldId id="278" r:id="rId53"/>
    <p:sldId id="404" r:id="rId54"/>
    <p:sldId id="279" r:id="rId55"/>
    <p:sldId id="405" r:id="rId56"/>
    <p:sldId id="356" r:id="rId57"/>
    <p:sldId id="406" r:id="rId58"/>
    <p:sldId id="280" r:id="rId59"/>
    <p:sldId id="357" r:id="rId60"/>
    <p:sldId id="358" r:id="rId61"/>
    <p:sldId id="407" r:id="rId62"/>
    <p:sldId id="355" r:id="rId63"/>
    <p:sldId id="496" r:id="rId64"/>
    <p:sldId id="497" r:id="rId65"/>
    <p:sldId id="408" r:id="rId66"/>
    <p:sldId id="409" r:id="rId67"/>
    <p:sldId id="360" r:id="rId68"/>
    <p:sldId id="285" r:id="rId69"/>
    <p:sldId id="410" r:id="rId70"/>
    <p:sldId id="411" r:id="rId71"/>
    <p:sldId id="361" r:id="rId72"/>
    <p:sldId id="412" r:id="rId73"/>
    <p:sldId id="362" r:id="rId74"/>
    <p:sldId id="289" r:id="rId75"/>
    <p:sldId id="290" r:id="rId76"/>
    <p:sldId id="291" r:id="rId77"/>
    <p:sldId id="413" r:id="rId78"/>
    <p:sldId id="414" r:id="rId79"/>
    <p:sldId id="292" r:id="rId80"/>
    <p:sldId id="415" r:id="rId81"/>
    <p:sldId id="416" r:id="rId82"/>
    <p:sldId id="417" r:id="rId83"/>
    <p:sldId id="418" r:id="rId84"/>
    <p:sldId id="419" r:id="rId85"/>
    <p:sldId id="420" r:id="rId86"/>
    <p:sldId id="421" r:id="rId87"/>
    <p:sldId id="422" r:id="rId88"/>
    <p:sldId id="423" r:id="rId89"/>
    <p:sldId id="499" r:id="rId90"/>
    <p:sldId id="498" r:id="rId91"/>
    <p:sldId id="427" r:id="rId92"/>
    <p:sldId id="501" r:id="rId93"/>
    <p:sldId id="429" r:id="rId94"/>
    <p:sldId id="430" r:id="rId95"/>
    <p:sldId id="502" r:id="rId96"/>
    <p:sldId id="431" r:id="rId97"/>
    <p:sldId id="432" r:id="rId98"/>
    <p:sldId id="300" r:id="rId99"/>
    <p:sldId id="302" r:id="rId100"/>
    <p:sldId id="433" r:id="rId101"/>
    <p:sldId id="434" r:id="rId102"/>
    <p:sldId id="435" r:id="rId103"/>
    <p:sldId id="441" r:id="rId104"/>
    <p:sldId id="436" r:id="rId105"/>
    <p:sldId id="440" r:id="rId106"/>
    <p:sldId id="437" r:id="rId107"/>
    <p:sldId id="428" r:id="rId108"/>
    <p:sldId id="438" r:id="rId109"/>
    <p:sldId id="439" r:id="rId110"/>
    <p:sldId id="424" r:id="rId111"/>
    <p:sldId id="442" r:id="rId112"/>
    <p:sldId id="443" r:id="rId113"/>
    <p:sldId id="444" r:id="rId114"/>
    <p:sldId id="445" r:id="rId115"/>
    <p:sldId id="447" r:id="rId116"/>
    <p:sldId id="448" r:id="rId117"/>
    <p:sldId id="450" r:id="rId118"/>
    <p:sldId id="449" r:id="rId119"/>
    <p:sldId id="451" r:id="rId120"/>
    <p:sldId id="452" r:id="rId121"/>
    <p:sldId id="453" r:id="rId122"/>
    <p:sldId id="454" r:id="rId123"/>
    <p:sldId id="425" r:id="rId124"/>
    <p:sldId id="455" r:id="rId125"/>
    <p:sldId id="485" r:id="rId126"/>
    <p:sldId id="492" r:id="rId1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FFFF"/>
    <a:srgbClr val="000000"/>
    <a:srgbClr val="F2F2F2"/>
    <a:srgbClr val="FF99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4856" autoAdjust="0"/>
  </p:normalViewPr>
  <p:slideViewPr>
    <p:cSldViewPr snapToGrid="0">
      <p:cViewPr varScale="1">
        <p:scale>
          <a:sx n="110" d="100"/>
          <a:sy n="110" d="100"/>
        </p:scale>
        <p:origin x="108" y="360"/>
      </p:cViewPr>
      <p:guideLst/>
    </p:cSldViewPr>
  </p:slideViewPr>
  <p:notesTextViewPr>
    <p:cViewPr>
      <p:scale>
        <a:sx n="1" d="1"/>
        <a:sy n="1" d="1"/>
      </p:scale>
      <p:origin x="0" y="-30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40A11-CADC-4377-A284-89921BCCB4A6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274D7-9FE7-446D-AC26-A85343DC77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003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06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cs typeface="Calibri"/>
              </a:rPr>
              <a:t>Мы увидим дальше причем здесь производительность труда когда речь идет об </a:t>
            </a:r>
            <a:r>
              <a:rPr lang="en-US" dirty="0" err="1">
                <a:cs typeface="Calibri"/>
              </a:rPr>
              <a:t>srp</a:t>
            </a:r>
            <a:endParaRPr lang="en-US" dirty="0"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157BE-13C9-4B69-8B03-B7B56862D10D}" type="slidenum"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564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Любой инженер начинает свой путь с написания простой программы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8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добавлять новые поведений, от чего исходного кода, очевидно, становится больше.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02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Требования, атакуя одно за другим, естественным образом увеличивают количество кода в файле.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31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кода становилось много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Спустя некоторое время инженер с неприятным для себя удивлением обнаруживает, что контролировать систему стало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сложнее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Кажется, что с ростом кодовой базы, программа становится все упрямее, оказывая все больше сопротивления постоянно надвигающимся изменениям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боли знакомая каждому инженеру ситуация, новый проект на котором вначале сложность растет незаметно, но в какой-то момент вспыхивает и начинает бесконтрольно улетать вверх, обуславливается естественными свойствами любой развивающейся системы.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70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Разделение – это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один из способов борьбы с данной негативной тенденцией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69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Начнем с простого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задачи упрощения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через разделение большого файла. Нет ничего проще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да? Но тут выходят ряд вопросов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15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какие компоненты нужно разбить одно целое?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11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части бывшего монолита должны принадлежать одним компонентам, а какие другим?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75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компоненты должны зависеть от других, а какие нет?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42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Ответы на эти вопросы во многом определяют итоговый дизайн системы. Если они окажутся правильными, тогда разработчики получат поддерживаемую систему, которая легко адаптируется к входящим изменениям. Если же где-то в наших рассуждениях закралась ошибка, результатом будет запутанный код, который только сильнее ускорит и без того быстрое устаревание проекта.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80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Известный принцип единственной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 раз ставит своей целью указать разработчику, каким образом необходимо разделить код так, чтобы добиться желаемого результата.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28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Модуль** должен быть ответственен за что-то одно, отвечать только за одну функциональность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31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таких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функциональностей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несколько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их нужно разделить.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правда?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202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таких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функциональностей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несколько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их нужно разделить.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правда?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34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Сколько ответственностей имеет данная функция?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93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Сколько ответственностей имеет данная функция?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87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было сказано ранее, все решения, касающиеся вопросов разделения кода, прямо или косвенно скажутся на итоговой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поддерживаемости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системы, то, что из популярного определения SRP исходит такая неоднозначность является достаточно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негативным признаком.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Допустим, что посовещавшись с коллегами, мы решили что данная процедура все же нарушает SRP, тогда необходимо сделать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следующее: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218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Теперь, каждая из процедур действительно делает что-то одно. Но действительно ли стало лучше? Действительно ли стало проще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работать с программой? Так какую из версий программ стоит выбрать?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Причиной появления таких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сомнений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было использование такого понятия как "функция модуля". То, за что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модуль - это нечто чрезвычайно растяжимое и относительное. Инженеры не должны опираться на что-то настолько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ненадежное когда речь идет о принятии архитектурных решений, будь то разделение маленькой функции на процедуры или целой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программы на отдельные модули.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00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самом деле, принцип единственной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гласит следующее: "Модуль должен иметь одну и только одну причину для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изменения".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3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Программа принимает в качестве аргумента название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файла со списком продуктов, обрабатывает его и выводит их итоговую сумму в консоль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984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Вся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логика реализована в одной функции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её сверху вниз по секциям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709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Считывает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валидирует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881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 общую сумму и выводит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консоль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984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Повествование уже намекает на наличие нескольких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ответсвенностей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Хочу чтобы отложили в голове что мы сейчас сделаем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того чтобы заниматься преждевременными оптимизациями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подождем новых требований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494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Проходит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некоторое время.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Приходит заказчик и говорит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05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"Сотрудники, что поставляют нам файлы со списком продуктов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решили что в качестве альтернативного источника предоставят API метод, который вернет текущий список по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переданной дате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78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"Сотрудники, что поставляют нам файлы со списком продуктов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решили что в качестве альтернативного источника предоставят API метод, который вернет текущий список по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переданной дате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533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Каким образом программа среагирует на данное изменение? Сначала обозначим текущую секцию функции, в которой происходит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обработка файла.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155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Начнем с самого простого решения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того что делают чаще всего – добавим условие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009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ветке находится обработка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продуктов из файлов.</a:t>
            </a:r>
          </a:p>
          <a:p>
            <a:endParaRPr lang="ru-RU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Поведение программы удовлетворяет новым требованиям.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743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получила свою первую модификацию. Можно с уверенностью сказать, что она приобрела свою первую причину для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изменения, то есть ответственность другими словами: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Индикатор в углу означает наличие ответственности или причины для изменения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перевести на русский это значит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в следующий раз когда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заказчик опять потребует добавить новый источник данных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мы столкнемся с теми же проблемами. Функция станет больше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появится больше повторяющихся изменений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 и в целом размер самой 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будет сильно мешать работе</a:t>
            </a:r>
          </a:p>
          <a:p>
            <a:endParaRPr lang="ru-RU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как инженеры должны принять определенные меры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614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добавлении нового источника данных нам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наврятли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будет полезно видеть реализацию всех существующих. Избавиться от этого шума легко, вынесем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из методов получения данных в отдельные функции: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75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Отдельные функции чтения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598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стала гораздо меньше. Рассмотрим актуальную диаграмму компонентов и их ответственностей.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502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 из ответственностей, при добавлении нового источника данных изменится только содержимое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действительно, всё что потребуется сделать, так это добавить новую ветку в условие и реализовать новую функцию.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Существующие реализации остальных источников данных не будут затронуты, более того, разработчику не придется даже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утруждать себя и заглядывать внутрь реализации этих функций, так как для добавления нового способа получения продуктов в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этом скорее всего не будет никакой нужды.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Постойте, но где же то самое разделение ответственностей?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091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весь код оказался полезным в рамках добавления нового источника данных, некоторая его часть оказалась шумом: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итогам реализации задачи, только верхняя секция функции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изменилась, в то время как все что идет ниже, осталось в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своём первозданном виде: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557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весь код оказался полезным в рамках добавления нового источника данных, некоторая его часть оказалась шумом: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итогам реализации задачи, только верхняя секция функции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изменилась, в то время как все что идет ниже, осталось в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своём первозданном виде: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147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означает, что 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содержит в себе поведения, которые изменяются в *разное время* в рамках разных, не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связанных между собой задач. То есть эти две секции имеют *разные* причины для изменения, просто пока неизвестно какие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831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означает, что 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содержит в себе поведения, которые изменяются в *разное время* в рамках разных, не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связанных между собой задач. То есть эти две секции имеют *разные* причины для изменения, просто пока неизвестно какие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814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срабатывании определенных на диаграмме ответственностей, будут задействованы элементы программы с меньшим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объемом, что были до этого. Ведь опыт показал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при добавлении нового источника данных нам совершенно не важно что там дальше происходит с этими продуктами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961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получила стресс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виде нового изменения. 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821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того чтобы его просто реализовать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как бы адаптировались к нему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выработали иммунитет к конкретно данному виду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того чтобы в будущем быть уже на </a:t>
            </a:r>
            <a:r>
              <a:rPr lang="ru-RU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972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Спустя некоторое время, пользователи системы обнаруживают, что зачастую файлы и API возвращают продукты с негативной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ценой: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Обсудив проблему с заказчиком, было решено доработать функцию валидации данных, чтобы она не пропускала такие продукты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16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Внимательно изучив код, разработчик обнаруживает достаточно интересный факт - обе функции получения продуктов содержат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идентичный код валидации.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544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внесения изменений, файл выглядит следующим образом: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304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что стоит обратить своё внимание - обе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getProductsFromAPI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getProductsFromFile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изменились в результате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 и той же задачи. Это означает, что между ними есть общая ответственность или общая причина для изменений: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Основная проблема здесь заключается в том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их пришлось в точности повторить для каждого из источников данных. Если в будущем альтернативных источников данных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станет больше и правила валидации будут меняться часто, это может негативно повлиять на производительность труда на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проекте.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631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Вынесем общую, по ответственностям, между методами получения данных часть в отдельную функцию: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550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Вынесем общую, по ответственностям, между методами получения данных часть в отдельную функцию: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продукт валидный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мы получаем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соответсвующий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экземпляр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противном случае – возвращается ничто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293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действительно, теперь, при возникновении новых требований для валидации, все изменения будут сконцентрированы в одном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месте и автоматически выполняться для всех источников данных.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738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теперь про слона в комнате. Очевидно, что предыдущая ситуация была связана с явным повторением кода валидации. Он был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полностью идентичным между двумя функциями получения продуктов, так почему же не называть вещи своими именами? Зачем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пытаться объяснить проблему косноязычно,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163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попробуем поступить проще и выносить все что дублируется визуально в отдельные сущности, в частности,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 внимание на то, что данные секции полностью повторяются между двумя источниками данных: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8938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Вынесем его в отдельную функцию: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969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она используется в одном из источников данных: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Кода действительно стало меньше, для кого-то, он даже стал более читаемым*. Так зачем же утруждать себя рассуждениями 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причинах изменения, ответственностях, если можно просто визуально определить идентичный код и вынести его в отдельный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метод?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9773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Спустя некоторое время, разработчики предоставляющие списки продуктов через API заявили: "Теперь, в качестве разделителя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параметров продукта будет использоваться символ `|`, а не `,` как прежде". Каким образом система отреагирует на данное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изменение?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953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Напомним, что сейчас, конкретный разделитель зашит внутри общей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241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теперь общая функция создания продукта должна поддержать два разных поведения, которые будут выбираться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взависимости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от того, кто является клиентом.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077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Общая функция теперь стала чуть более *абстрактной*, конечно, ей же теперь нужно поддержать больше возможных поведений.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976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 внимание вот на что, в результате добавления нового и *обязательного* аргумента, 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getProductsFromFile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 что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обратывает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продукты из локальных файлов, также требует модификации: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969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Изначально пришло требование которое по смыслу относилось к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getProductsFromAPI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но по итогу пришлось менять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 части программы, которые не имели отношения к изначальному требованию вовсе: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Выглядит так, как будто ответственность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*протекла* в те части системы, в которых находится не должна была вовсе.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7336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Изначально пришло требование которое по смыслу относилось к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getProductsFromAPI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но по итогу пришлось менять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 части программы, которые не имели отношения к изначальному требованию вовсе: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Выглядит так, как будто ответственность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*протекла* в те части системы, в которых находится не должна была вовсе.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6394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Изначально пришло требование которое по смыслу относилось к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getProductsFromAPI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но по итогу пришлось менять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 части программы, которые не имели отношения к изначальному требованию вовсе: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Выглядит так, как будто ответственность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*протекла* в те части системы, в которых находится не должна была вовсе.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7427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Текущий дизайн системы, заставил разработчика изменить больше модулей, чем того требовала задача по своему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смыслу. Инженеров попросили поменять дверь, а в итоге им пришлось снести фундамент и строить всё заново.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Такое свойство дизайна называется *жесткостью*.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2314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 причина по которой 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getProductsFromFile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потребовала изменений - это несовместимость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новой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 своей старой версии. Она стала требовать от своих клиентов *больше*, чем было до этого.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3730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таком случае, действительно,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getProductsFromFile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останется нетронутой, ведь требуемое ею поведение станет по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умолчанию. Система уже не кажется такой жесткой, ведь изменения сконцентрированы в меньшем числе компонентов. Но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действительно ли все так в порядке, как кажется на первый взгляд?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256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реализация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была изменена. Любая модификация функции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имеет все шансы оказать негативный эффект на наблюдаемое поведение, вызывать *регресс* другими словами.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данном пример, хоть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getProductsFromFile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 не потребовал изменений, его поведение могло измениться, ведь исходный код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 из используемых им частей был изменен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говоря уже о том что в общей функции по прежнему остается поведение интересное конкретному клиенту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4990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 свойство также является одним из проявлений дизайна и имеет название `хрупкость`. Основным виновником здесь всегда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является некий общий компонент, модификации которого влияют не только на какого-то конкретного клиента, но и на всех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остальных его пользователей.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1854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Спустя несколько месяцев после релиза заказчик решает несколько доработать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систему, а именно - для продуктов полученных из локального файла (функция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getProductsFromFile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`) необходимо немного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иначе проводить обработку невалидных строчек, а именно, вставлять в качестве продукта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Невалидный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продукт` и указывать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 сумму как `0`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619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не просто пропускать продукт как это происходит сейчас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6490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Требование предназначено для конкретного источника данных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Реализация требует изменения общего компонента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1431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 занимательный факт - изменение, чисто логически, предназначалось для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продуктов, полученных из файла (функция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getProductsFromFile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`), но большая часть логики оказалась внутри общей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6408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 внимание на то, что каждый раз когда будут поступать изменения касательно работы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невалидного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продукта взятого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локального файла, 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getProductsFromAPI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также должна будет проверена повторно. И действительно,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содержит данную ответственность, то она обязана быть модифицирована (по определению),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следовательно, все клиенты которые от неё зависят, должны будут протестированы во избежание регресса.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5930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 сожалению, тут проблемы только начинаются. Вспомним что 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содержит в себе 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дополнительную ответственность, которая представляет собой все, что функция делает помимо обработки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невалидного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продукта: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0995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является *ответственной*, то есть от неё зависят много клиентов, в то время как она сама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зависима ни от кого. Ответственные компоненты трудно изменять напрямую, как раз вследствие существования их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пользователей, которые к каждой такой модификации будут чувствительны, либо явно через *жесткость*, либо неявно через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*хрупкость*.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данном случае, наличие у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нескольких ответственностей прежде всего говорит о том, что такой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 будет изменяться *чаще* чем обычно. При этом, каждая модификация будет дополнительно усложнена жесткостью 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хрупкостью дизайна.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0865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Несмотря на визуальную схожесть функций источников между собой,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данных секций со временем оказались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*разными*, что и привело в итоге к дизайну, плохо адаптированному под рассмотренные изменения: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2854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 называемое ложное или временное дублирование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7483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Векторы изменений обеих функций пересеклись в некоторой точке, что и привело к временному дублированию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драйверы изменений в источниках данных были разными, вследствие чего общий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начал раздуваться, пытавшись покрыть все более разрозненные требования от совершенно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разных клиентов привнося в дизайн признаки жесткости и хрупкости.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9130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же тогда такое настоящее дублирование? Дублирующим, называется код, удовлетворяющий двум основным критериям: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6584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Код обладает одинаковым наблюдаемым поведением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Код обладает одинаковыми ответственностями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1821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с валидацией оказался *истинным дублированием*: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Правила валидации оказались идентичными для обоих источников данных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Новое требование потребовало одновременно и одинаковым образом поменять обе функции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этом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может быть совершенно разным внешне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4144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 внимание, что клиенты *используют* ответственность валидации между собой. Это означает, что любые изменения в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логике проверки продукта инициированные одним клиентом, будут полезны и для всех остальных пользователей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ensureProductIsValid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А вот как бы выглядела ситуация если бы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ensureProductIsValid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не существовало: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8462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счёт добавления общей функции, удалось сократить количество изменяемых модулей в два раза. Интересно, но в данном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примере происходит не разделение ответственностей, так как она одна, а скорее её *перемещение* в один единственный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1999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рассмотрим ложное дублирование, также через диаграммы ответственностей: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5198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 внимание на то, что количество ответственностей от этого не изменилось, не уменьшилось также и количество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затрагиваемых модулей для каждого источника изменений по отдельности.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сути, добавив общий компонент, инженеры ничего не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выйграли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наоборот, только сильнее усложнив модификацию системы,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ведь как было сказано ранее, общий компонент содержащий в себе несколько ответственностей изменять достаточно не просто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силу проявляющейся жесткости и хрупкости дизайна.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7558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Вместе со срабатыванием конкретной ответственности функция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parseAndAddProduct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входит в что-то вроде суперпозиции,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 она, в рамках взятого источника изменений, преобразуется для одного клиента (для которого изменение 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предназначено), но остается неизменной для всех остальных.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5877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можно сравнить с игрой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Твистер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с каждым новым раундом, нужно переместить определенную часть своего тела, но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сохранить при этом всё остальное на прежних местах. Это сделать не просто, так как в организме, как и в любой другой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сложной системе, все зачастую связанно между собой. И разные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функциях зачастую переплетены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396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самом деле рассматриваемая ситуация не является чем то специфичным исключительно для маленьких функций.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5966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является гораздо более распространенной и актуальная в том числе и для много модульных приложений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вот в 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жесткость и хрупкость возникающие вследствие ошибочного определения ответственностей будут иметь гораздо более весомые последствия в виду большей отдаленности модулей друг от друга. Их просто сложнее изменять вместе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Отсюда и такие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антипаттерны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shotgun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surgary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где для реализации приходится вносить точечные изменения в куче разных модулей вместо того чтобы изменить 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такой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антипаттерн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рассматривается сейчас. Где очень часто изменяется один модуль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причем с каждой такой модификацией он становится только больше и сложнее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3880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учетом описанных проблем возникает закономерный вопрос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ли как то определить ответственности в проекте точнее?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8029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Разумным вариантом решения проблемы будет придерживаться тактики выжидания.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0074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Вместо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того чтобы спешить и избавляться от того, что нам кажется одинаковым, стоит взять таймаут и понаблюдать над тем каким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образом система будет развиваться со временем.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807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ввиду наличия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ответственностей, разных причин для изменений, со временем они скорее всего будут отличаться все сильнее. 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</a:t>
            </a:r>
            <a:b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внимание на то,</a:t>
            </a:r>
            <a:b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такая реализация уже не обладает признаками жесткости и хрупкости, а конкретное поведение гораздо проще понять.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334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Следующим испытанием для нашего мини проекта стало требование следующего характера - вывод любой информации должен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осуществляться не в консоль, как сейчас, а на сторонний клиент по специальному запросу.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278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Следующим испытанием для нашего мини проекта стало требование следующего характера - вывод любой информации должен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осуществляться не в консоль, как сейчас, а на сторонний клиент по специальному запросу.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7199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Следующим испытанием для нашего мини проекта стало требование следующего характера - вывод любой информации должен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осуществляться не в консоль, как сейчас, а на сторонний клиент по специальному запросу.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1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детального анализа было обнаружено, что несколько функций ссылаются на конкретный способ ввода: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4907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 из схемы ясно, для того чтобы реализовать требуемое поведение,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прийдется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скорректировать реализацию перечисленных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функций. Это крайне нежелательно, особенно в случае с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enusreProductIsValid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ведь она имеет нескольких клиентов.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4797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 из схемы ясно, для того чтобы реализовать требуемое поведение,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прийдется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скорректировать реализацию перечисленных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функций. Это крайне нежелательно, особенно в случае с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enusreProductIsValid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ведь она имеет нескольких клиентов.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4867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 из схемы ясно, для того чтобы реализовать требуемое поведение,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прийдется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скорректировать реализацию перечисленных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функций. Это крайне нежелательно, особенно в случае с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enusreProductIsValid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ведь она имеет нескольких клиентов.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6921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Основная причина по которой у нас нет другого выхода кроме как изменить код напрямую заключается в наличии связи на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методы объекта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Проблема здесь заключается не столько в самом факте присутствия связи, сколько в её *силе*.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изменение одного компонента вызывает неизбежные изменения в другом, то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такие компоненты считаются сильно связанными. Иначе связь между ними называется *слабой*.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3116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Большинство более менее популярных языков включают в себя строгую и статическую систему типов. Где каждый элемент имеет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 себя явное описание контракта. Без него, было бы невозможно каким-то образом взаимодействовать с объектом, ведь в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таком случае не совсем понятно какие операции являются для него валидными, а какие нет.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0519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такой связи является зависимость от типа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контракте которого прописано наличие стоимости. Если данный факт измениться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зависимая функция потребует своей модификации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9311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вид связи это связь на поведение или семантическая связь. 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7653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Вспомним что </a:t>
            </a:r>
            <a:r>
              <a:rPr lang="ru-RU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невалидные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продукты помечаются специальным именем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4519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showCountOfInvalidProducts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показывает общее количество невалидных продуктов. Здесь важно обратит внимание на то, что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такие продукты она определяет по *специальному* значению, которое полностью совпадает с типом представляющим нормальные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наименования товаров*.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8078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showCountOfInvalidProducts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показывает общее количество невалидных продуктов. Здесь важно обратит внимание на то, что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такие продукты она определяет по *специальному* значению, как бы давая ей специальный семантический смысл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исходящий из поведения функции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парсинга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продуктов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4161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Третий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вид связи и самый сильный – это зависимость от деталей реализации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137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 явно проверяет разметку страницы, которую возвращает компонент. Это также считается зависимостью от деталей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реализации, так как в случае их изменения, например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тесты также придется модифицировать, даже в случае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наблюдаемое поведение осталось прежним.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8580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 явно проверяет разметку страницы, которую возвращает компонент. Это также считается зависимостью от деталей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реализации, так как в случае их изменения, например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тесты также придется модифицировать, даже в случае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наблюдаемое поведение осталось прежним.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4098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 данными силами существует связь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Если компонент зависит от типа, то он зависит только от тех свойств, что из этого типа следуют, ни больше ни меньше.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9820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компонент зависит от семантики, то он зависит и от типа, ведь этот объект как-то надо использовать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тоже самое время опираясь на конкретное поведение мы не зависим от деталей реализации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6884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компонент зависит от деталей реализации, то он также зависит и от семантики или конкретного поведения.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из таких слоёв это потенциальная причина для изменений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потенциальная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ответсвенность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 сильнее зависимость, тем больше существует причин или ответственностей по которым оба связанных компонента могут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измениться.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7869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 выше сила зависимости тем больше и количество ответственностей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99527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Используя ранее описанные определения можно с уверенностью сказать, что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ensureProductIsValid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calcShowTotal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имеют сильную связь со способом вывода. Ссылаясь на конкретный объект, функции ссылаются на конкретное поведение. Из-за этого, в случае когда данная конкретика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меняется, данные сущности также должны быть изменены. Они приобрели данные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из-за величины силы связи.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2836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того чтобы решить задачу и при этом подготовить систему для подобных казусов в будущем, необходимо ослабить связь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 упомянутыми элементами. То есть сдвинуть зависимость ближе к ядру на схеме ниже, то есть на уровень типа*.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72122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Объявим тип, от которого будут зависеть указанные функции: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0897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Дальше, данную зависимость нужно каким-то образом поставить компонентам, ограничимся простой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передачи через аргументы функции: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99425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этого компоненты имели сильную зависимость и больше причин для изменений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945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Теперь, все, от чего зависят данные компоненты - это всего лишь тип объекта отвечающего за вывод. Зависимость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действительно в данном случае ослабла, доказательством этого является тот факт, что в будущем, в случае добавления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дополнительного источника вывода,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calcShowTotal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ensureProductIsValid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затронуты не будут.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394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Теперь, все, от чего зависят данные компоненты - это всего лишь тип объекта отвечающего за вывод. Зависимость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действительно в данном случае ослабла, доказательством этого является тот факт, что в будущем, в случае добавления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дополнительного источника вывода, функции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calcShowTotal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ensureProductIsValid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затронуты не будут.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раз не будут затронуты они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и их клиенты также останутся неизменными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5563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итогам рассмотренного мини-проекта должно быть очевидно, что одним из важнейших свойств хорошего дизайна системы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является адаптивность к модификациям. Программу легко изменять, когда отсутствуют элементы жесткости и хрупкости. Это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 правильного определения ответственностей, что крайне трудно достижимо без основного фактора -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*времени*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4063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с течением времени система подвергается различным модификациям, которые и выявляют основные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компонентов. Следовательно, хороший дизайн требует терпения и наблюдательности. Более того, сами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ответсвенности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всегда статичны и также могут меняться. Дизайн который хорошо работает сегодня, не факт, что окажется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 же полезным завтра, когда условия на проекте изменятся. Но есть кое-что еще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34180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США располагается достаточно известный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Такомский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мост: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Примечательным для нас его делает тот факт, что он строился дважды. Инженеры, проектируя его в первый раз, в основном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ориентировались на то, чтобы обеспечить достаточную устойчивость к нагрузке вызванной проходящим по нему трафиком.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Однако, спустя несколько месяцев после возведения он обрушился и произошло это не из-за того, что он не выдержал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избыточного веса машин, а из-за сильного ветра, что раскачивал его из стороны в сторону. Данный пример хорошо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иллюстрирует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основную проблему - до тех пор пока мост не был построен, инженеры не могли знать всех факторов, что могли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воздействовать на него в будущем.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 и в программировании, мы редко можем знать заранее, в каком направлении будет изменяться наша система, какими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ответственностями она будет обладать в будущем до тех пор пока не выпустим первую, самую простую версию,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подопытного кролика за которым будут внимательно наблюдать и отмечать все те факторы, что влияют на него из вне. Отсюда и такая популярность итеративных методологий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Заказчик, зачастую, понимает чего он действительно хочет, только после того как увидит первую рабочую версию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продукта. С каждым новым релизом, программа должна учитывать весь предыдущей опыт, становится все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адаптивней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приходящим в неё модификациям, вырабатывать внутренний иммунитет к основным векторам изменений.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Инженеры учли полученный опыт после первой неудачной попытки возведения моста.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Cпустя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лет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Такомский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мост был построен</a:t>
            </a:r>
            <a:b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вновь, на том же месте где стоит в целости и сохранности и по сей день.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7502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83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29FA5-2783-4E86-8813-38C38EF932DD}" type="datetime1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71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C060-8516-40FA-A8A8-66387D137ABD}" type="datetime1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45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C569-EB6A-452A-BB6B-12A64101F477}" type="datetime1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12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A850-E4C0-49A0-B0EF-96466CF150AF}" type="datetime1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88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2969-2864-4F10-A837-1C845AC8F1B4}" type="datetime1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91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1234-8762-46E9-A76B-EC5B6A19443E}" type="datetime1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63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CF2E8-3EF9-443C-92E6-F749D69A7AB0}" type="datetime1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60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2129-F056-46E8-96F6-0069B89889D0}" type="datetime1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2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0F73B-26B3-45C4-9BE9-EA0CE8D9AC8B}" type="datetime1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80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2729-3250-4A25-83BF-95DC571DDDBC}" type="datetime1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91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9462-4FF6-40EE-B4E4-40BA81E6934B}" type="datetime1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awdawd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66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8F767-1343-4ED7-9C0F-BE4D95F04EC9}" type="datetime1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awdawd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E021C-B575-4FE5-8830-BDEFFB2C4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45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8.png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28.png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5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6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FAA25CB-64DD-C2F0-00EB-98740145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040" y="1404363"/>
            <a:ext cx="7470941" cy="1944000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TTTravels-DemiBold" panose="02000503030000020004" pitchFamily="2" charset="0"/>
              </a:rPr>
              <a:t>Единственная ответственность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0CF58F7-5000-6ADF-8DB4-D200B2704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040" y="3983984"/>
            <a:ext cx="7973999" cy="725262"/>
          </a:xfrm>
        </p:spPr>
        <p:txBody>
          <a:bodyPr/>
          <a:lstStyle/>
          <a:p>
            <a:pPr lvl="0" algn="l">
              <a:defRPr/>
            </a:pPr>
            <a:r>
              <a:rPr lang="ru-RU" kern="0" dirty="0">
                <a:solidFill>
                  <a:schemeClr val="bg1"/>
                </a:solidFill>
                <a:latin typeface="TTTravels-Regular"/>
                <a:sym typeface="TTTravels-Regular"/>
              </a:rPr>
              <a:t>Роман Хаимов</a:t>
            </a:r>
          </a:p>
        </p:txBody>
      </p:sp>
    </p:spTree>
    <p:extLst>
      <p:ext uri="{BB962C8B-B14F-4D97-AF65-F5344CB8AC3E}">
        <p14:creationId xmlns:p14="http://schemas.microsoft.com/office/powerpoint/2010/main" val="261471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776" y="1158764"/>
            <a:ext cx="3941591" cy="3941591"/>
          </a:xfrm>
          <a:prstGeom prst="ellipse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842981" y="2099502"/>
            <a:ext cx="5400167" cy="206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1pPr>
            <a:lvl2pPr marL="0" marR="0" indent="4572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2pPr>
            <a:lvl3pPr marL="0" marR="0" indent="914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3pPr>
            <a:lvl4pPr marL="0" marR="0" indent="1371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4pPr>
            <a:lvl5pPr marL="0" marR="0" indent="18288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TTravels-DemiBold" panose="02000503030000020004" pitchFamily="2" charset="0"/>
                <a:sym typeface="TTTravels-Regular"/>
              </a:rPr>
              <a:t>7 лет работы </a:t>
            </a:r>
            <a:r>
              <a:rPr lang="ru-RU" kern="0" noProof="0" dirty="0">
                <a:latin typeface="TTTravels-DemiBold" panose="02000503030000020004" pitchFamily="2" charset="0"/>
              </a:rPr>
              <a:t>в </a:t>
            </a:r>
            <a:r>
              <a:rPr lang="ru-RU" kern="0" noProof="0" dirty="0" err="1">
                <a:latin typeface="TTTravels-DemiBold" panose="02000503030000020004" pitchFamily="2" charset="0"/>
              </a:rPr>
              <a:t>Рексофт</a:t>
            </a:r>
            <a:endParaRPr kumimoji="0" lang="ru-RU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Travels-DemiBold" panose="02000503030000020004" pitchFamily="2" charset="0"/>
              <a:sym typeface="TTTravels-Regular"/>
            </a:endParaRPr>
          </a:p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ern="0" noProof="0" dirty="0"/>
              <a:t>Основное направление – оптимизация процесса производства</a:t>
            </a: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TTTravels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7012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МНОГО КОДА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b="25714"/>
          <a:stretch/>
        </p:blipFill>
        <p:spPr>
          <a:xfrm>
            <a:off x="2505075" y="2240280"/>
            <a:ext cx="7181850" cy="23774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614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018" y="434422"/>
            <a:ext cx="5857965" cy="59891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6962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241" y="217609"/>
            <a:ext cx="3357518" cy="64227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158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241" y="217609"/>
            <a:ext cx="3357518" cy="64227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Прямоугольник 2"/>
          <p:cNvSpPr/>
          <p:nvPr/>
        </p:nvSpPr>
        <p:spPr>
          <a:xfrm>
            <a:off x="4267200" y="76200"/>
            <a:ext cx="3657600" cy="6640392"/>
          </a:xfrm>
          <a:prstGeom prst="rect">
            <a:avLst/>
          </a:prstGeom>
          <a:solidFill>
            <a:srgbClr val="FFFFFF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МНОГО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67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l="22460" t="26429" r="26467" b="18557"/>
          <a:stretch/>
        </p:blipFill>
        <p:spPr>
          <a:xfrm>
            <a:off x="3117159" y="1290638"/>
            <a:ext cx="5957682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71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РАЗДЕЛЕНИЕ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21978" y="229529"/>
            <a:ext cx="3778523" cy="61855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909053" y="2906820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main.ts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21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b="77639"/>
          <a:stretch/>
        </p:blipFill>
        <p:spPr>
          <a:xfrm>
            <a:off x="1432627" y="487223"/>
            <a:ext cx="3778523" cy="13831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t="23660" b="48522"/>
          <a:stretch/>
        </p:blipFill>
        <p:spPr>
          <a:xfrm>
            <a:off x="891912" y="2485505"/>
            <a:ext cx="3778523" cy="1720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t="73257"/>
          <a:stretch/>
        </p:blipFill>
        <p:spPr>
          <a:xfrm>
            <a:off x="1371667" y="4838008"/>
            <a:ext cx="3778523" cy="16542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t="-194" b="45229"/>
          <a:stretch/>
        </p:blipFill>
        <p:spPr>
          <a:xfrm>
            <a:off x="7544300" y="315884"/>
            <a:ext cx="3778523" cy="33999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t="64940"/>
          <a:stretch/>
        </p:blipFill>
        <p:spPr>
          <a:xfrm>
            <a:off x="7544300" y="4206240"/>
            <a:ext cx="3778523" cy="21686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2867490" y="2785178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ИЛИ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860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b="77639"/>
          <a:stretch/>
        </p:blipFill>
        <p:spPr>
          <a:xfrm>
            <a:off x="4803869" y="930113"/>
            <a:ext cx="3778523" cy="13831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t="23660" b="48522"/>
          <a:stretch/>
        </p:blipFill>
        <p:spPr>
          <a:xfrm>
            <a:off x="2171507" y="3241963"/>
            <a:ext cx="3778523" cy="1720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t="73257"/>
          <a:stretch/>
        </p:blipFill>
        <p:spPr>
          <a:xfrm>
            <a:off x="7145286" y="3690851"/>
            <a:ext cx="3778523" cy="16542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832361" y="4100459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582" y="3684960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0944" y="1206184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48241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b="77639"/>
          <a:stretch/>
        </p:blipFill>
        <p:spPr>
          <a:xfrm>
            <a:off x="4224774" y="674879"/>
            <a:ext cx="3778523" cy="13831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t="23660" b="48522"/>
          <a:stretch/>
        </p:blipFill>
        <p:spPr>
          <a:xfrm>
            <a:off x="1527948" y="3699776"/>
            <a:ext cx="3778523" cy="1720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6"/>
                    </a14:imgEffect>
                  </a14:imgLayer>
                </a14:imgProps>
              </a:ext>
            </a:extLst>
          </a:blip>
          <a:srcRect t="73257"/>
          <a:stretch/>
        </p:blipFill>
        <p:spPr>
          <a:xfrm>
            <a:off x="7451649" y="3699776"/>
            <a:ext cx="3778523" cy="16542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911849" y="950950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main.ts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5023" y="4282200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utils.ts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38724" y="4111393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logic.ts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2761465" y="2018624"/>
            <a:ext cx="1169486" cy="1151486"/>
            <a:chOff x="2092321" y="1241631"/>
            <a:chExt cx="1169486" cy="1151486"/>
          </a:xfrm>
        </p:grpSpPr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380000">
              <a:off x="2418438" y="1588447"/>
              <a:ext cx="639078" cy="639078"/>
            </a:xfrm>
            <a:prstGeom prst="rect">
              <a:avLst/>
            </a:prstGeom>
          </p:spPr>
        </p:pic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2622729" y="1754039"/>
              <a:ext cx="639078" cy="639078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 rot="18655409">
              <a:off x="2188966" y="1144986"/>
              <a:ext cx="6377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latin typeface="Roboto" panose="02000000000000000000" pitchFamily="2" charset="0"/>
                  <a:ea typeface="Roboto" panose="02000000000000000000" pitchFamily="2" charset="0"/>
                </a:rPr>
                <a:t>?</a:t>
              </a:r>
            </a:p>
          </p:txBody>
        </p:sp>
      </p:grpSp>
      <p:grpSp>
        <p:nvGrpSpPr>
          <p:cNvPr id="19" name="Группа 18"/>
          <p:cNvGrpSpPr/>
          <p:nvPr/>
        </p:nvGrpSpPr>
        <p:grpSpPr>
          <a:xfrm rot="5400000">
            <a:off x="8496983" y="2120940"/>
            <a:ext cx="1169486" cy="1151486"/>
            <a:chOff x="2092321" y="1241631"/>
            <a:chExt cx="1169486" cy="1151486"/>
          </a:xfrm>
        </p:grpSpPr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380000">
              <a:off x="2418438" y="1588447"/>
              <a:ext cx="639078" cy="639078"/>
            </a:xfrm>
            <a:prstGeom prst="rect">
              <a:avLst/>
            </a:prstGeom>
          </p:spPr>
        </p:pic>
        <p:pic>
          <p:nvPicPr>
            <p:cNvPr id="21" name="Рисунок 2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2622729" y="1754039"/>
              <a:ext cx="639078" cy="639078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 rot="18655409">
              <a:off x="2188966" y="1144986"/>
              <a:ext cx="6377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latin typeface="Roboto" panose="02000000000000000000" pitchFamily="2" charset="0"/>
                  <a:ea typeface="Roboto" panose="02000000000000000000" pitchFamily="2" charset="0"/>
                </a:rPr>
                <a:t>?</a:t>
              </a:r>
            </a:p>
          </p:txBody>
        </p:sp>
      </p:grpSp>
      <p:grpSp>
        <p:nvGrpSpPr>
          <p:cNvPr id="23" name="Группа 22"/>
          <p:cNvGrpSpPr/>
          <p:nvPr/>
        </p:nvGrpSpPr>
        <p:grpSpPr>
          <a:xfrm rot="2700000">
            <a:off x="5726141" y="3706458"/>
            <a:ext cx="1169486" cy="1151486"/>
            <a:chOff x="2092321" y="1241631"/>
            <a:chExt cx="1169486" cy="1151486"/>
          </a:xfrm>
        </p:grpSpPr>
        <p:pic>
          <p:nvPicPr>
            <p:cNvPr id="24" name="Рисунок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380000">
              <a:off x="2418438" y="1588447"/>
              <a:ext cx="639078" cy="639078"/>
            </a:xfrm>
            <a:prstGeom prst="rect">
              <a:avLst/>
            </a:prstGeom>
          </p:spPr>
        </p:pic>
        <p:pic>
          <p:nvPicPr>
            <p:cNvPr id="25" name="Рисунок 2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2622729" y="1754039"/>
              <a:ext cx="639078" cy="639078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 rot="18655409">
              <a:off x="2188966" y="1144986"/>
              <a:ext cx="6377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latin typeface="Roboto" panose="02000000000000000000" pitchFamily="2" charset="0"/>
                  <a:ea typeface="Roboto" panose="02000000000000000000" pitchFamily="2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594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1603373" y="2387600"/>
            <a:ext cx="3714247" cy="2541204"/>
            <a:chOff x="3197166" y="2060894"/>
            <a:chExt cx="5732446" cy="3922010"/>
          </a:xfrm>
        </p:grpSpPr>
        <p:pic>
          <p:nvPicPr>
            <p:cNvPr id="27" name="Рисунок 2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2773" y="2060894"/>
              <a:ext cx="968953" cy="968953"/>
            </a:xfrm>
            <a:prstGeom prst="rect">
              <a:avLst/>
            </a:prstGeom>
          </p:spPr>
        </p:pic>
        <p:pic>
          <p:nvPicPr>
            <p:cNvPr id="28" name="Рисунок 2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6119" y="3532098"/>
              <a:ext cx="968953" cy="968953"/>
            </a:xfrm>
            <a:prstGeom prst="rect">
              <a:avLst/>
            </a:prstGeom>
          </p:spPr>
        </p:pic>
        <p:pic>
          <p:nvPicPr>
            <p:cNvPr id="29" name="Рисунок 2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6439" y="3532098"/>
              <a:ext cx="968953" cy="968953"/>
            </a:xfrm>
            <a:prstGeom prst="rect">
              <a:avLst/>
            </a:prstGeom>
          </p:spPr>
        </p:pic>
        <p:pic>
          <p:nvPicPr>
            <p:cNvPr id="30" name="Рисунок 2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380000">
              <a:off x="4725811" y="2753220"/>
              <a:ext cx="1003589" cy="1003589"/>
            </a:xfrm>
            <a:prstGeom prst="rect">
              <a:avLst/>
            </a:prstGeom>
          </p:spPr>
        </p:pic>
        <p:pic>
          <p:nvPicPr>
            <p:cNvPr id="31" name="Рисунок 3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3016" flipH="1">
              <a:off x="6145099" y="2753219"/>
              <a:ext cx="1003589" cy="1003589"/>
            </a:xfrm>
            <a:prstGeom prst="rect">
              <a:avLst/>
            </a:prstGeom>
          </p:spPr>
        </p:pic>
        <p:pic>
          <p:nvPicPr>
            <p:cNvPr id="32" name="Рисунок 3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7166" y="5003302"/>
              <a:ext cx="968953" cy="968953"/>
            </a:xfrm>
            <a:prstGeom prst="rect">
              <a:avLst/>
            </a:prstGeom>
          </p:spPr>
        </p:pic>
        <p:pic>
          <p:nvPicPr>
            <p:cNvPr id="33" name="Рисунок 32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0659" y="5013951"/>
              <a:ext cx="968953" cy="968953"/>
            </a:xfrm>
            <a:prstGeom prst="rect">
              <a:avLst/>
            </a:prstGeom>
          </p:spPr>
        </p:pic>
        <p:pic>
          <p:nvPicPr>
            <p:cNvPr id="35" name="Рисунок 34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696984">
              <a:off x="3531690" y="4176736"/>
              <a:ext cx="1003589" cy="1003589"/>
            </a:xfrm>
            <a:prstGeom prst="rect">
              <a:avLst/>
            </a:prstGeom>
          </p:spPr>
        </p:pic>
        <p:pic>
          <p:nvPicPr>
            <p:cNvPr id="36" name="Рисунок 3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3016" flipH="1">
              <a:off x="7326231" y="4172508"/>
              <a:ext cx="1003589" cy="1003589"/>
            </a:xfrm>
            <a:prstGeom prst="rect">
              <a:avLst/>
            </a:prstGeom>
          </p:spPr>
        </p:pic>
      </p:grpSp>
      <p:grpSp>
        <p:nvGrpSpPr>
          <p:cNvPr id="38" name="Группа 37"/>
          <p:cNvGrpSpPr/>
          <p:nvPr/>
        </p:nvGrpSpPr>
        <p:grpSpPr>
          <a:xfrm flipH="1">
            <a:off x="7742257" y="2387600"/>
            <a:ext cx="2914554" cy="2534304"/>
            <a:chOff x="3197166" y="2060894"/>
            <a:chExt cx="4498226" cy="3911361"/>
          </a:xfrm>
        </p:grpSpPr>
        <p:pic>
          <p:nvPicPr>
            <p:cNvPr id="39" name="Рисунок 3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2773" y="2060894"/>
              <a:ext cx="968953" cy="968953"/>
            </a:xfrm>
            <a:prstGeom prst="rect">
              <a:avLst/>
            </a:prstGeom>
          </p:spPr>
        </p:pic>
        <p:pic>
          <p:nvPicPr>
            <p:cNvPr id="40" name="Рисунок 3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6119" y="3532098"/>
              <a:ext cx="968953" cy="968953"/>
            </a:xfrm>
            <a:prstGeom prst="rect">
              <a:avLst/>
            </a:prstGeom>
          </p:spPr>
        </p:pic>
        <p:pic>
          <p:nvPicPr>
            <p:cNvPr id="41" name="Рисунок 4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6439" y="3532098"/>
              <a:ext cx="968953" cy="968953"/>
            </a:xfrm>
            <a:prstGeom prst="rect">
              <a:avLst/>
            </a:prstGeom>
          </p:spPr>
        </p:pic>
        <p:pic>
          <p:nvPicPr>
            <p:cNvPr id="42" name="Рисунок 4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380000">
              <a:off x="4725811" y="2753220"/>
              <a:ext cx="1003589" cy="1003589"/>
            </a:xfrm>
            <a:prstGeom prst="rect">
              <a:avLst/>
            </a:prstGeom>
          </p:spPr>
        </p:pic>
        <p:pic>
          <p:nvPicPr>
            <p:cNvPr id="43" name="Рисунок 4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3016" flipH="1">
              <a:off x="6145099" y="2753219"/>
              <a:ext cx="1003589" cy="1003589"/>
            </a:xfrm>
            <a:prstGeom prst="rect">
              <a:avLst/>
            </a:prstGeom>
          </p:spPr>
        </p:pic>
        <p:pic>
          <p:nvPicPr>
            <p:cNvPr id="44" name="Рисунок 43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7166" y="5003302"/>
              <a:ext cx="968953" cy="968953"/>
            </a:xfrm>
            <a:prstGeom prst="rect">
              <a:avLst/>
            </a:prstGeom>
          </p:spPr>
        </p:pic>
        <p:pic>
          <p:nvPicPr>
            <p:cNvPr id="46" name="Рисунок 4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2773" y="5003302"/>
              <a:ext cx="968953" cy="968953"/>
            </a:xfrm>
            <a:prstGeom prst="rect">
              <a:avLst/>
            </a:prstGeom>
          </p:spPr>
        </p:pic>
        <p:pic>
          <p:nvPicPr>
            <p:cNvPr id="47" name="Рисунок 4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696984">
              <a:off x="3531690" y="4176736"/>
              <a:ext cx="1003589" cy="1003589"/>
            </a:xfrm>
            <a:prstGeom prst="rect">
              <a:avLst/>
            </a:prstGeom>
          </p:spPr>
        </p:pic>
        <p:pic>
          <p:nvPicPr>
            <p:cNvPr id="49" name="Рисунок 4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3016" flipH="1">
              <a:off x="4915287" y="4172506"/>
              <a:ext cx="1003589" cy="1003589"/>
            </a:xfrm>
            <a:prstGeom prst="rect">
              <a:avLst/>
            </a:prstGeom>
          </p:spPr>
        </p:pic>
      </p:grpSp>
      <p:sp>
        <p:nvSpPr>
          <p:cNvPr id="50" name="TextBox 49"/>
          <p:cNvSpPr txBox="1"/>
          <p:nvPr/>
        </p:nvSpPr>
        <p:spPr>
          <a:xfrm>
            <a:off x="2867490" y="2785178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ИЛИ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698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SRP</a:t>
            </a:r>
          </a:p>
        </p:txBody>
      </p:sp>
    </p:spTree>
    <p:extLst>
      <p:ext uri="{BB962C8B-B14F-4D97-AF65-F5344CB8AC3E}">
        <p14:creationId xmlns:p14="http://schemas.microsoft.com/office/powerpoint/2010/main" val="109999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/>
          <p:cNvGrpSpPr/>
          <p:nvPr/>
        </p:nvGrpSpPr>
        <p:grpSpPr>
          <a:xfrm>
            <a:off x="4704080" y="2363539"/>
            <a:ext cx="3710955" cy="2054224"/>
            <a:chOff x="4704080" y="2363539"/>
            <a:chExt cx="3710955" cy="2054224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4704080" y="2462913"/>
              <a:ext cx="3710955" cy="1855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445" y="2363539"/>
              <a:ext cx="2054224" cy="20542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5207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704080" y="2462913"/>
            <a:ext cx="3710955" cy="18554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376" y="2462912"/>
            <a:ext cx="1800000" cy="1800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135" y="2473304"/>
            <a:ext cx="1800000" cy="1800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557" y="2490651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84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BBA9C03-398D-4534-B445-64AA3A6FF67B}"/>
              </a:ext>
            </a:extLst>
          </p:cNvPr>
          <p:cNvGrpSpPr/>
          <p:nvPr/>
        </p:nvGrpSpPr>
        <p:grpSpPr>
          <a:xfrm>
            <a:off x="5196000" y="2869313"/>
            <a:ext cx="1800000" cy="1855477"/>
            <a:chOff x="5659557" y="2462913"/>
            <a:chExt cx="1800000" cy="1855477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5659557" y="2462913"/>
              <a:ext cx="1800000" cy="1855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9557" y="2490651"/>
              <a:ext cx="1800000" cy="1800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809D99-76B6-4ECD-9677-F5A3BF5F4326}"/>
              </a:ext>
            </a:extLst>
          </p:cNvPr>
          <p:cNvGrpSpPr/>
          <p:nvPr/>
        </p:nvGrpSpPr>
        <p:grpSpPr>
          <a:xfrm>
            <a:off x="2062507" y="1979923"/>
            <a:ext cx="1802950" cy="1855477"/>
            <a:chOff x="2062507" y="1573523"/>
            <a:chExt cx="1802950" cy="1855477"/>
          </a:xfrm>
        </p:grpSpPr>
        <p:sp>
          <p:nvSpPr>
            <p:cNvPr id="6" name="Прямоугольник 2">
              <a:extLst>
                <a:ext uri="{FF2B5EF4-FFF2-40B4-BE49-F238E27FC236}">
                  <a16:creationId xmlns:a16="http://schemas.microsoft.com/office/drawing/2014/main" id="{F9CA7772-852A-49D6-B3CB-9BA8CA712BFA}"/>
                </a:ext>
              </a:extLst>
            </p:cNvPr>
            <p:cNvSpPr/>
            <p:nvPr/>
          </p:nvSpPr>
          <p:spPr>
            <a:xfrm>
              <a:off x="2065457" y="1573523"/>
              <a:ext cx="1800000" cy="1855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2507" y="1629000"/>
              <a:ext cx="1800000" cy="1800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44A04A-4553-431A-B364-8AD0C6192EC2}"/>
              </a:ext>
            </a:extLst>
          </p:cNvPr>
          <p:cNvGrpSpPr/>
          <p:nvPr/>
        </p:nvGrpSpPr>
        <p:grpSpPr>
          <a:xfrm>
            <a:off x="8326543" y="1941574"/>
            <a:ext cx="1800000" cy="1855477"/>
            <a:chOff x="8910757" y="1573523"/>
            <a:chExt cx="1800000" cy="1855477"/>
          </a:xfrm>
        </p:grpSpPr>
        <p:sp>
          <p:nvSpPr>
            <p:cNvPr id="9" name="Прямоугольник 2">
              <a:extLst>
                <a:ext uri="{FF2B5EF4-FFF2-40B4-BE49-F238E27FC236}">
                  <a16:creationId xmlns:a16="http://schemas.microsoft.com/office/drawing/2014/main" id="{4F6EACD5-BBA8-45D3-98BC-E4FAF7F52777}"/>
                </a:ext>
              </a:extLst>
            </p:cNvPr>
            <p:cNvSpPr/>
            <p:nvPr/>
          </p:nvSpPr>
          <p:spPr>
            <a:xfrm>
              <a:off x="8910757" y="1573523"/>
              <a:ext cx="1800000" cy="1855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0757" y="1573523"/>
              <a:ext cx="1800000" cy="18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4746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01"/>
          <a:stretch/>
        </p:blipFill>
        <p:spPr>
          <a:xfrm>
            <a:off x="1885950" y="2208068"/>
            <a:ext cx="8420100" cy="24418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6517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2228850"/>
            <a:ext cx="8420100" cy="2400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5913120" y="3091064"/>
            <a:ext cx="1727200" cy="675871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724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30" y="2594605"/>
            <a:ext cx="11649941" cy="1710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3447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82"/>
          <a:stretch/>
        </p:blipFill>
        <p:spPr>
          <a:xfrm>
            <a:off x="2285275" y="1293300"/>
            <a:ext cx="7621451" cy="4271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6163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ЕДИНАЯ ПРИЧИНА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894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230" y="1347470"/>
            <a:ext cx="2476500" cy="40005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4672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783" y="336803"/>
            <a:ext cx="3828435" cy="61843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3620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t="2425" b="31845"/>
          <a:stretch/>
        </p:blipFill>
        <p:spPr>
          <a:xfrm>
            <a:off x="3670351" y="853440"/>
            <a:ext cx="4851299" cy="51511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8199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23" b="2667"/>
          <a:stretch/>
        </p:blipFill>
        <p:spPr>
          <a:xfrm>
            <a:off x="3352800" y="2222958"/>
            <a:ext cx="5486400" cy="24120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5996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123" y="335280"/>
            <a:ext cx="3519754" cy="61874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6150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2644170"/>
            <a:ext cx="64043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НОВОЕ</a:t>
            </a:r>
          </a:p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ТРЕБОВАНИЕ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69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2021208" y="2753360"/>
            <a:ext cx="4750432" cy="1351281"/>
            <a:chOff x="1609409" y="2844799"/>
            <a:chExt cx="4750432" cy="1351281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8561" y="2844800"/>
              <a:ext cx="1351280" cy="1351280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08985" y="2844800"/>
              <a:ext cx="1351280" cy="1351280"/>
            </a:xfrm>
            <a:prstGeom prst="rect">
              <a:avLst/>
            </a:prstGeom>
          </p:spPr>
        </p:pic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9409" y="2844799"/>
              <a:ext cx="1351280" cy="1351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9551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2021208" y="2753360"/>
            <a:ext cx="8149584" cy="1351281"/>
            <a:chOff x="1609409" y="2844799"/>
            <a:chExt cx="8149584" cy="1351281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8561" y="2844800"/>
              <a:ext cx="1351280" cy="1351280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08985" y="2844800"/>
              <a:ext cx="1351280" cy="1351280"/>
            </a:xfrm>
            <a:prstGeom prst="rect">
              <a:avLst/>
            </a:prstGeom>
          </p:spPr>
        </p:pic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9409" y="2844799"/>
              <a:ext cx="1351280" cy="1351280"/>
            </a:xfrm>
            <a:prstGeom prst="rect">
              <a:avLst/>
            </a:prstGeom>
          </p:spPr>
        </p:pic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7713" y="2844799"/>
              <a:ext cx="1351280" cy="1351280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6708137" y="2844799"/>
              <a:ext cx="1351280" cy="1351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3677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t="-167" b="31845"/>
          <a:stretch/>
        </p:blipFill>
        <p:spPr>
          <a:xfrm>
            <a:off x="3670351" y="650240"/>
            <a:ext cx="4851299" cy="5354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1989E3A-C8F6-4C82-9F64-12C51FF1B533}"/>
              </a:ext>
            </a:extLst>
          </p:cNvPr>
          <p:cNvSpPr/>
          <p:nvPr/>
        </p:nvSpPr>
        <p:spPr>
          <a:xfrm>
            <a:off x="3670351" y="650240"/>
            <a:ext cx="4851299" cy="797560"/>
          </a:xfrm>
          <a:prstGeom prst="rect">
            <a:avLst/>
          </a:prstGeom>
          <a:solidFill>
            <a:schemeClr val="bg2">
              <a:lumMod val="9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79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4" b="52528"/>
          <a:stretch/>
        </p:blipFill>
        <p:spPr>
          <a:xfrm>
            <a:off x="3534298" y="335618"/>
            <a:ext cx="5146699" cy="611598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3534297" y="1082040"/>
            <a:ext cx="5146699" cy="594360"/>
          </a:xfrm>
          <a:prstGeom prst="rect">
            <a:avLst/>
          </a:prstGeom>
          <a:solidFill>
            <a:schemeClr val="accent6">
              <a:lumMod val="40000"/>
              <a:lumOff val="6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B619EC33-6408-4670-AC71-3F45E2F16DE9}"/>
              </a:ext>
            </a:extLst>
          </p:cNvPr>
          <p:cNvSpPr/>
          <p:nvPr/>
        </p:nvSpPr>
        <p:spPr>
          <a:xfrm>
            <a:off x="5039360" y="335618"/>
            <a:ext cx="1246293" cy="253662"/>
          </a:xfrm>
          <a:prstGeom prst="rect">
            <a:avLst/>
          </a:prstGeom>
          <a:solidFill>
            <a:schemeClr val="accent6">
              <a:lumMod val="40000"/>
              <a:lumOff val="6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169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7" b="10278"/>
          <a:stretch/>
        </p:blipFill>
        <p:spPr>
          <a:xfrm>
            <a:off x="4610100" y="292100"/>
            <a:ext cx="2971800" cy="627380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8BE2CDB-1658-41DF-89C9-F3AE500FB644}"/>
              </a:ext>
            </a:extLst>
          </p:cNvPr>
          <p:cNvSpPr/>
          <p:nvPr/>
        </p:nvSpPr>
        <p:spPr>
          <a:xfrm>
            <a:off x="4610101" y="3398520"/>
            <a:ext cx="2971800" cy="316738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847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5098473" y="2930237"/>
            <a:ext cx="1995055" cy="997527"/>
            <a:chOff x="5130295" y="1838773"/>
            <a:chExt cx="1995055" cy="997527"/>
          </a:xfrm>
        </p:grpSpPr>
        <p:sp>
          <p:nvSpPr>
            <p:cNvPr id="28" name="Прямоугольник 27"/>
            <p:cNvSpPr/>
            <p:nvPr/>
          </p:nvSpPr>
          <p:spPr>
            <a:xfrm>
              <a:off x="5130295" y="1838773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main()</a:t>
              </a:r>
            </a:p>
          </p:txBody>
        </p:sp>
        <p:sp>
          <p:nvSpPr>
            <p:cNvPr id="2" name="Овал 1"/>
            <p:cNvSpPr/>
            <p:nvPr/>
          </p:nvSpPr>
          <p:spPr>
            <a:xfrm>
              <a:off x="6834403" y="1888651"/>
              <a:ext cx="241069" cy="24106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" name="Группа 7"/>
          <p:cNvGrpSpPr/>
          <p:nvPr/>
        </p:nvGrpSpPr>
        <p:grpSpPr>
          <a:xfrm>
            <a:off x="9071720" y="492649"/>
            <a:ext cx="2200260" cy="338554"/>
            <a:chOff x="8052781" y="706009"/>
            <a:chExt cx="2200260" cy="338554"/>
          </a:xfrm>
        </p:grpSpPr>
        <p:sp>
          <p:nvSpPr>
            <p:cNvPr id="9" name="Овал 8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8293850" y="706009"/>
              <a:ext cx="195919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1600" dirty="0">
                  <a:latin typeface="Roboto" panose="02000000000000000000" pitchFamily="2" charset="0"/>
                </a:rPr>
                <a:t>Источник данных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0202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7" b="10278"/>
          <a:stretch/>
        </p:blipFill>
        <p:spPr>
          <a:xfrm>
            <a:off x="4610100" y="292100"/>
            <a:ext cx="2971800" cy="627380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3" name="Прямоугольник 2"/>
          <p:cNvSpPr/>
          <p:nvPr/>
        </p:nvSpPr>
        <p:spPr>
          <a:xfrm>
            <a:off x="4610101" y="3398520"/>
            <a:ext cx="2971800" cy="316738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15B5ABB7-C502-4766-B386-E674096292DE}"/>
              </a:ext>
            </a:extLst>
          </p:cNvPr>
          <p:cNvSpPr/>
          <p:nvPr/>
        </p:nvSpPr>
        <p:spPr>
          <a:xfrm>
            <a:off x="4610100" y="487680"/>
            <a:ext cx="2971800" cy="275082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17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07"/>
          <a:stretch/>
        </p:blipFill>
        <p:spPr>
          <a:xfrm>
            <a:off x="1990452" y="607247"/>
            <a:ext cx="3729628" cy="51361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D1B155-A125-46CD-B1A2-D3F51CF12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1922" y="607247"/>
            <a:ext cx="3487130" cy="51389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Прямоугольник 2">
            <a:extLst>
              <a:ext uri="{FF2B5EF4-FFF2-40B4-BE49-F238E27FC236}">
                <a16:creationId xmlns:a16="http://schemas.microsoft.com/office/drawing/2014/main" id="{3F5C1CF8-521F-4D91-8853-4BC66280157E}"/>
              </a:ext>
            </a:extLst>
          </p:cNvPr>
          <p:cNvSpPr/>
          <p:nvPr/>
        </p:nvSpPr>
        <p:spPr>
          <a:xfrm>
            <a:off x="1990451" y="607247"/>
            <a:ext cx="3729627" cy="211903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2">
            <a:extLst>
              <a:ext uri="{FF2B5EF4-FFF2-40B4-BE49-F238E27FC236}">
                <a16:creationId xmlns:a16="http://schemas.microsoft.com/office/drawing/2014/main" id="{79E5864A-24C6-4392-99BE-CB9829B3343D}"/>
              </a:ext>
            </a:extLst>
          </p:cNvPr>
          <p:cNvSpPr/>
          <p:nvPr/>
        </p:nvSpPr>
        <p:spPr>
          <a:xfrm>
            <a:off x="6471922" y="607247"/>
            <a:ext cx="3487130" cy="211903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671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839" y="1502920"/>
            <a:ext cx="7111637" cy="40545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Прямоугольник 5"/>
          <p:cNvSpPr/>
          <p:nvPr/>
        </p:nvSpPr>
        <p:spPr>
          <a:xfrm>
            <a:off x="2783838" y="1833880"/>
            <a:ext cx="7111637" cy="1762760"/>
          </a:xfrm>
          <a:prstGeom prst="rect">
            <a:avLst/>
          </a:prstGeom>
          <a:solidFill>
            <a:schemeClr val="accent6">
              <a:lumMod val="40000"/>
              <a:lumOff val="6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501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3120281" y="1933083"/>
            <a:ext cx="5951439" cy="3765739"/>
            <a:chOff x="2896767" y="1933083"/>
            <a:chExt cx="5951439" cy="3765739"/>
          </a:xfrm>
        </p:grpSpPr>
        <p:grpSp>
          <p:nvGrpSpPr>
            <p:cNvPr id="5" name="Группа 4"/>
            <p:cNvGrpSpPr/>
            <p:nvPr/>
          </p:nvGrpSpPr>
          <p:grpSpPr>
            <a:xfrm>
              <a:off x="4922303" y="4701295"/>
              <a:ext cx="1995055" cy="997527"/>
              <a:chOff x="5101720" y="3153223"/>
              <a:chExt cx="1995055" cy="997527"/>
            </a:xfrm>
          </p:grpSpPr>
          <p:sp>
            <p:nvSpPr>
              <p:cNvPr id="28" name="Прямоугольник 27"/>
              <p:cNvSpPr/>
              <p:nvPr/>
            </p:nvSpPr>
            <p:spPr>
              <a:xfrm>
                <a:off x="5101720" y="3153223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main()</a:t>
                </a:r>
              </a:p>
            </p:txBody>
          </p:sp>
          <p:sp>
            <p:nvSpPr>
              <p:cNvPr id="2" name="Овал 1"/>
              <p:cNvSpPr/>
              <p:nvPr/>
            </p:nvSpPr>
            <p:spPr>
              <a:xfrm>
                <a:off x="6805828" y="3203101"/>
                <a:ext cx="241069" cy="24106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4" name="Прямоугольник 3"/>
            <p:cNvSpPr/>
            <p:nvPr/>
          </p:nvSpPr>
          <p:spPr>
            <a:xfrm>
              <a:off x="2896767" y="1933083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02958" y="1933084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cxnSp>
          <p:nvCxnSpPr>
            <p:cNvPr id="8" name="Соединительная линия уступом 7"/>
            <p:cNvCxnSpPr>
              <a:stCxn id="28" idx="0"/>
              <a:endCxn id="4" idx="2"/>
            </p:cNvCxnSpPr>
            <p:nvPr/>
          </p:nvCxnSpPr>
          <p:spPr>
            <a:xfrm rot="16200000" flipV="1">
              <a:off x="4219029" y="3000493"/>
              <a:ext cx="1770685" cy="163092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Соединительная линия уступом 10"/>
            <p:cNvCxnSpPr>
              <a:stCxn id="28" idx="0"/>
              <a:endCxn id="6" idx="2"/>
            </p:cNvCxnSpPr>
            <p:nvPr/>
          </p:nvCxnSpPr>
          <p:spPr>
            <a:xfrm rot="5400000" flipH="1" flipV="1">
              <a:off x="5787364" y="3063078"/>
              <a:ext cx="1770684" cy="150575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Группа 14"/>
          <p:cNvGrpSpPr/>
          <p:nvPr/>
        </p:nvGrpSpPr>
        <p:grpSpPr>
          <a:xfrm>
            <a:off x="9071720" y="492649"/>
            <a:ext cx="2200260" cy="338554"/>
            <a:chOff x="8052781" y="706009"/>
            <a:chExt cx="2200260" cy="338554"/>
          </a:xfrm>
        </p:grpSpPr>
        <p:sp>
          <p:nvSpPr>
            <p:cNvPr id="16" name="Овал 15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8293850" y="706009"/>
              <a:ext cx="195919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1600" dirty="0">
                  <a:latin typeface="Roboto" panose="02000000000000000000" pitchFamily="2" charset="0"/>
                </a:rPr>
                <a:t>Источник данных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32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839" y="1502920"/>
            <a:ext cx="7111637" cy="40545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Прямоугольник 5"/>
          <p:cNvSpPr/>
          <p:nvPr/>
        </p:nvSpPr>
        <p:spPr>
          <a:xfrm>
            <a:off x="2783838" y="1833880"/>
            <a:ext cx="7111637" cy="1762760"/>
          </a:xfrm>
          <a:prstGeom prst="rect">
            <a:avLst/>
          </a:prstGeom>
          <a:solidFill>
            <a:schemeClr val="accent6">
              <a:lumMod val="40000"/>
              <a:lumOff val="6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090" y="2065222"/>
            <a:ext cx="1300076" cy="13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049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839" y="1502920"/>
            <a:ext cx="7111637" cy="40545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Прямоугольник 6"/>
          <p:cNvSpPr/>
          <p:nvPr/>
        </p:nvSpPr>
        <p:spPr>
          <a:xfrm>
            <a:off x="2783838" y="3616959"/>
            <a:ext cx="7111637" cy="1940559"/>
          </a:xfrm>
          <a:prstGeom prst="rect">
            <a:avLst/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276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5098473" y="2930237"/>
            <a:ext cx="1995055" cy="997527"/>
            <a:chOff x="4960403" y="3967870"/>
            <a:chExt cx="1995055" cy="997527"/>
          </a:xfrm>
        </p:grpSpPr>
        <p:grpSp>
          <p:nvGrpSpPr>
            <p:cNvPr id="5" name="Группа 4"/>
            <p:cNvGrpSpPr/>
            <p:nvPr/>
          </p:nvGrpSpPr>
          <p:grpSpPr>
            <a:xfrm>
              <a:off x="4960403" y="3967870"/>
              <a:ext cx="1995055" cy="997527"/>
              <a:chOff x="5101720" y="3153223"/>
              <a:chExt cx="1995055" cy="997527"/>
            </a:xfrm>
          </p:grpSpPr>
          <p:sp>
            <p:nvSpPr>
              <p:cNvPr id="28" name="Прямоугольник 27"/>
              <p:cNvSpPr/>
              <p:nvPr/>
            </p:nvSpPr>
            <p:spPr>
              <a:xfrm>
                <a:off x="5101720" y="3153223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main()</a:t>
                </a:r>
              </a:p>
            </p:txBody>
          </p:sp>
          <p:sp>
            <p:nvSpPr>
              <p:cNvPr id="2" name="Овал 1"/>
              <p:cNvSpPr/>
              <p:nvPr/>
            </p:nvSpPr>
            <p:spPr>
              <a:xfrm>
                <a:off x="6805828" y="3203101"/>
                <a:ext cx="241069" cy="24106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9" name="Овал 8"/>
            <p:cNvSpPr/>
            <p:nvPr/>
          </p:nvSpPr>
          <p:spPr>
            <a:xfrm>
              <a:off x="6371268" y="4017748"/>
              <a:ext cx="241069" cy="2410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" name="Прямоугольник 10"/>
          <p:cNvSpPr/>
          <p:nvPr/>
        </p:nvSpPr>
        <p:spPr>
          <a:xfrm>
            <a:off x="9312789" y="879946"/>
            <a:ext cx="18582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Неизвестная</a:t>
            </a:r>
          </a:p>
          <a:p>
            <a:r>
              <a:rPr lang="ru-RU" sz="1600" dirty="0">
                <a:latin typeface="Roboto" panose="02000000000000000000" pitchFamily="2" charset="0"/>
              </a:rPr>
              <a:t>ответственность</a:t>
            </a: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9083232" y="928688"/>
            <a:ext cx="241069" cy="2410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9071720" y="492649"/>
            <a:ext cx="2200260" cy="338554"/>
            <a:chOff x="8052781" y="706009"/>
            <a:chExt cx="2200260" cy="338554"/>
          </a:xfrm>
        </p:grpSpPr>
        <p:sp>
          <p:nvSpPr>
            <p:cNvPr id="14" name="Овал 13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8293850" y="706009"/>
              <a:ext cx="195919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1600" dirty="0">
                  <a:latin typeface="Roboto" panose="02000000000000000000" pitchFamily="2" charset="0"/>
                </a:rPr>
                <a:t>Источник данных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436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98"/>
          <a:stretch/>
        </p:blipFill>
        <p:spPr>
          <a:xfrm>
            <a:off x="1503680" y="2107972"/>
            <a:ext cx="9184640" cy="26420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784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3120281" y="1911891"/>
            <a:ext cx="5951439" cy="3765739"/>
            <a:chOff x="2715792" y="2333133"/>
            <a:chExt cx="5951439" cy="3765739"/>
          </a:xfrm>
        </p:grpSpPr>
        <p:sp>
          <p:nvSpPr>
            <p:cNvPr id="28" name="Прямоугольник 27"/>
            <p:cNvSpPr/>
            <p:nvPr/>
          </p:nvSpPr>
          <p:spPr>
            <a:xfrm>
              <a:off x="4741328" y="5101345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main()</a:t>
              </a:r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2715792" y="2333133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5821983" y="2333134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calcShowTotal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cxnSp>
          <p:nvCxnSpPr>
            <p:cNvPr id="8" name="Соединительная линия уступом 7"/>
            <p:cNvCxnSpPr>
              <a:stCxn id="28" idx="0"/>
              <a:endCxn id="4" idx="2"/>
            </p:cNvCxnSpPr>
            <p:nvPr/>
          </p:nvCxnSpPr>
          <p:spPr>
            <a:xfrm rot="16200000" flipV="1">
              <a:off x="4038054" y="3400543"/>
              <a:ext cx="1770685" cy="163092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Соединительная линия уступом 10"/>
            <p:cNvCxnSpPr>
              <a:stCxn id="28" idx="0"/>
              <a:endCxn id="6" idx="2"/>
            </p:cNvCxnSpPr>
            <p:nvPr/>
          </p:nvCxnSpPr>
          <p:spPr>
            <a:xfrm rot="5400000" flipH="1" flipV="1">
              <a:off x="5606389" y="3463128"/>
              <a:ext cx="1770684" cy="150575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Овал 8"/>
            <p:cNvSpPr/>
            <p:nvPr/>
          </p:nvSpPr>
          <p:spPr>
            <a:xfrm>
              <a:off x="5196681" y="2383324"/>
              <a:ext cx="241069" cy="24106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8368666" y="2383933"/>
              <a:ext cx="241069" cy="2410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рямоугольник 12"/>
          <p:cNvSpPr/>
          <p:nvPr/>
        </p:nvSpPr>
        <p:spPr>
          <a:xfrm>
            <a:off x="9312789" y="879946"/>
            <a:ext cx="18582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Неизвестная</a:t>
            </a:r>
          </a:p>
          <a:p>
            <a:r>
              <a:rPr lang="ru-RU" sz="1600" dirty="0">
                <a:latin typeface="Roboto" panose="02000000000000000000" pitchFamily="2" charset="0"/>
              </a:rPr>
              <a:t>ответственность</a:t>
            </a: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9083232" y="928688"/>
            <a:ext cx="241069" cy="2410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/>
          <p:cNvGrpSpPr/>
          <p:nvPr/>
        </p:nvGrpSpPr>
        <p:grpSpPr>
          <a:xfrm>
            <a:off x="9071720" y="492649"/>
            <a:ext cx="2200260" cy="338554"/>
            <a:chOff x="8052781" y="706009"/>
            <a:chExt cx="2200260" cy="338554"/>
          </a:xfrm>
        </p:grpSpPr>
        <p:sp>
          <p:nvSpPr>
            <p:cNvPr id="20" name="Овал 19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8293850" y="706009"/>
              <a:ext cx="195919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1600" dirty="0">
                  <a:latin typeface="Roboto" panose="02000000000000000000" pitchFamily="2" charset="0"/>
                </a:rPr>
                <a:t>Источник данных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75051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946" y="728999"/>
            <a:ext cx="1800000" cy="1800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294" y="2018347"/>
            <a:ext cx="1021305" cy="102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690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946" y="728999"/>
            <a:ext cx="1800000" cy="1800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163" y="1831162"/>
            <a:ext cx="1395674" cy="139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481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25" y="1428750"/>
            <a:ext cx="27241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10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595086" y="828040"/>
            <a:ext cx="10690180" cy="5201920"/>
            <a:chOff x="595086" y="0"/>
            <a:chExt cx="10690180" cy="5201920"/>
          </a:xfrm>
        </p:grpSpPr>
        <p:pic>
          <p:nvPicPr>
            <p:cNvPr id="12" name="Рисунок 11"/>
            <p:cNvPicPr>
              <a:picLocks noChangeAspect="1"/>
            </p:cNvPicPr>
            <p:nvPr/>
          </p:nvPicPr>
          <p:blipFill rotWithShape="1">
            <a:blip r:embed="rId4"/>
            <a:srcRect t="1" b="64474"/>
            <a:stretch/>
          </p:blipFill>
          <p:spPr>
            <a:xfrm>
              <a:off x="595086" y="0"/>
              <a:ext cx="5065486" cy="52019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Прямоугольник 12"/>
            <p:cNvSpPr/>
            <p:nvPr/>
          </p:nvSpPr>
          <p:spPr>
            <a:xfrm>
              <a:off x="595086" y="1921692"/>
              <a:ext cx="5065486" cy="3280228"/>
            </a:xfrm>
            <a:prstGeom prst="rect">
              <a:avLst/>
            </a:prstGeom>
            <a:solidFill>
              <a:schemeClr val="bg2">
                <a:lumMod val="50000"/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/>
            <p:cNvPicPr>
              <a:picLocks noChangeAspect="1"/>
            </p:cNvPicPr>
            <p:nvPr/>
          </p:nvPicPr>
          <p:blipFill rotWithShape="1">
            <a:blip r:embed="rId4"/>
            <a:srcRect t="49448" b="13199"/>
            <a:stretch/>
          </p:blipFill>
          <p:spPr>
            <a:xfrm>
              <a:off x="6599328" y="0"/>
              <a:ext cx="4685938" cy="50596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Прямоугольник 13"/>
            <p:cNvSpPr/>
            <p:nvPr/>
          </p:nvSpPr>
          <p:spPr>
            <a:xfrm>
              <a:off x="6599322" y="1921692"/>
              <a:ext cx="4685938" cy="3137988"/>
            </a:xfrm>
            <a:prstGeom prst="rect">
              <a:avLst/>
            </a:prstGeom>
            <a:solidFill>
              <a:schemeClr val="bg2">
                <a:lumMod val="50000"/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161026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445595" y="822960"/>
            <a:ext cx="10832647" cy="5212080"/>
            <a:chOff x="445595" y="0"/>
            <a:chExt cx="10832647" cy="5212080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 rotWithShape="1">
            <a:blip r:embed="rId4"/>
            <a:srcRect t="-1" b="64734"/>
            <a:stretch/>
          </p:blipFill>
          <p:spPr>
            <a:xfrm>
              <a:off x="445596" y="0"/>
              <a:ext cx="5072779" cy="51714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 rotWithShape="1">
            <a:blip r:embed="rId4"/>
            <a:srcRect t="49116" b="13815"/>
            <a:stretch/>
          </p:blipFill>
          <p:spPr>
            <a:xfrm>
              <a:off x="6414380" y="0"/>
              <a:ext cx="4863862" cy="5212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Прямоугольник 7"/>
            <p:cNvSpPr/>
            <p:nvPr/>
          </p:nvSpPr>
          <p:spPr>
            <a:xfrm>
              <a:off x="445595" y="3683000"/>
              <a:ext cx="5072779" cy="406862"/>
            </a:xfrm>
            <a:prstGeom prst="rect">
              <a:avLst/>
            </a:prstGeom>
            <a:solidFill>
              <a:schemeClr val="accent6">
                <a:lumMod val="75000"/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6414379" y="3733800"/>
              <a:ext cx="4863863" cy="406862"/>
            </a:xfrm>
            <a:prstGeom prst="rect">
              <a:avLst/>
            </a:prstGeom>
            <a:solidFill>
              <a:schemeClr val="accent6">
                <a:lumMod val="75000"/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274987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3120281" y="2047383"/>
            <a:ext cx="5951439" cy="3765739"/>
            <a:chOff x="2639592" y="2047383"/>
            <a:chExt cx="5951439" cy="3765739"/>
          </a:xfrm>
        </p:grpSpPr>
        <p:sp>
          <p:nvSpPr>
            <p:cNvPr id="28" name="Прямоугольник 27"/>
            <p:cNvSpPr/>
            <p:nvPr/>
          </p:nvSpPr>
          <p:spPr>
            <a:xfrm>
              <a:off x="4665128" y="4815595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2639592" y="2047383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5745783" y="2047384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cxnSp>
          <p:nvCxnSpPr>
            <p:cNvPr id="8" name="Соединительная линия уступом 7"/>
            <p:cNvCxnSpPr>
              <a:stCxn id="28" idx="0"/>
              <a:endCxn id="4" idx="2"/>
            </p:cNvCxnSpPr>
            <p:nvPr/>
          </p:nvCxnSpPr>
          <p:spPr>
            <a:xfrm rot="16200000" flipV="1">
              <a:off x="3961854" y="3114793"/>
              <a:ext cx="1770685" cy="163092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Соединительная линия уступом 10"/>
            <p:cNvCxnSpPr>
              <a:stCxn id="28" idx="0"/>
              <a:endCxn id="6" idx="2"/>
            </p:cNvCxnSpPr>
            <p:nvPr/>
          </p:nvCxnSpPr>
          <p:spPr>
            <a:xfrm rot="5400000" flipH="1" flipV="1">
              <a:off x="5530189" y="3177378"/>
              <a:ext cx="1770684" cy="150575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Овал 8"/>
            <p:cNvSpPr/>
            <p:nvPr/>
          </p:nvSpPr>
          <p:spPr>
            <a:xfrm>
              <a:off x="5130864" y="2098182"/>
              <a:ext cx="241069" cy="24106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8289470" y="2091108"/>
              <a:ext cx="241069" cy="24106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9071720" y="492649"/>
            <a:ext cx="2440710" cy="338554"/>
            <a:chOff x="8052781" y="706009"/>
            <a:chExt cx="2440710" cy="338554"/>
          </a:xfrm>
        </p:grpSpPr>
        <p:sp>
          <p:nvSpPr>
            <p:cNvPr id="17" name="Овал 16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8293850" y="706009"/>
              <a:ext cx="21996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dirty="0">
                  <a:latin typeface="Roboto" panose="02000000000000000000" pitchFamily="2" charset="0"/>
                </a:rPr>
                <a:t>Правила валидации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21129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B2991E-39DD-40E6-BDFB-E371B90E7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185" y="563708"/>
            <a:ext cx="5025631" cy="57305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7895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b="54505"/>
          <a:stretch/>
        </p:blipFill>
        <p:spPr>
          <a:xfrm>
            <a:off x="111805" y="667658"/>
            <a:ext cx="5903869" cy="55358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4"/>
          <a:srcRect t="49099" b="3282"/>
          <a:stretch/>
        </p:blipFill>
        <p:spPr>
          <a:xfrm>
            <a:off x="6160815" y="496350"/>
            <a:ext cx="5903869" cy="57942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Прямоугольник 16"/>
          <p:cNvSpPr/>
          <p:nvPr/>
        </p:nvSpPr>
        <p:spPr>
          <a:xfrm>
            <a:off x="111805" y="2637971"/>
            <a:ext cx="5903869" cy="406862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6160815" y="2696027"/>
            <a:ext cx="5903869" cy="406862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1264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982492" y="1853911"/>
            <a:ext cx="5951439" cy="3150178"/>
            <a:chOff x="2982492" y="1599708"/>
            <a:chExt cx="5951439" cy="315017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82492" y="37523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88683" y="37523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4563642" y="159970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ensureProductIsValid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3" name="Овал 12"/>
            <p:cNvSpPr/>
            <p:nvPr/>
          </p:nvSpPr>
          <p:spPr>
            <a:xfrm>
              <a:off x="7054914" y="1650507"/>
              <a:ext cx="241069" cy="24106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" name="Соединительная линия уступом 13"/>
            <p:cNvCxnSpPr>
              <a:stCxn id="4" idx="0"/>
              <a:endCxn id="12" idx="2"/>
            </p:cNvCxnSpPr>
            <p:nvPr/>
          </p:nvCxnSpPr>
          <p:spPr>
            <a:xfrm rot="5400000" flipH="1" flipV="1">
              <a:off x="4587650" y="2384222"/>
              <a:ext cx="1155123" cy="158115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Соединительная линия уступом 14"/>
            <p:cNvCxnSpPr>
              <a:stCxn id="6" idx="0"/>
              <a:endCxn id="12" idx="2"/>
            </p:cNvCxnSpPr>
            <p:nvPr/>
          </p:nvCxnSpPr>
          <p:spPr>
            <a:xfrm rot="16200000" flipV="1">
              <a:off x="6155985" y="2397036"/>
              <a:ext cx="1155124" cy="155552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Группа 9"/>
          <p:cNvGrpSpPr/>
          <p:nvPr/>
        </p:nvGrpSpPr>
        <p:grpSpPr>
          <a:xfrm>
            <a:off x="9071720" y="492649"/>
            <a:ext cx="2440710" cy="338554"/>
            <a:chOff x="8052781" y="706009"/>
            <a:chExt cx="2440710" cy="338554"/>
          </a:xfrm>
        </p:grpSpPr>
        <p:sp>
          <p:nvSpPr>
            <p:cNvPr id="11" name="Овал 10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8293850" y="706009"/>
              <a:ext cx="21996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dirty="0">
                  <a:latin typeface="Roboto" panose="02000000000000000000" pitchFamily="2" charset="0"/>
                </a:rPr>
                <a:t>Правила валидации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8746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2644170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ДУБЛИРОВАНИЕ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658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b="54505"/>
          <a:stretch/>
        </p:blipFill>
        <p:spPr>
          <a:xfrm>
            <a:off x="111805" y="667658"/>
            <a:ext cx="5903869" cy="55358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4"/>
          <a:srcRect t="49099" b="3282"/>
          <a:stretch/>
        </p:blipFill>
        <p:spPr>
          <a:xfrm>
            <a:off x="6160815" y="496350"/>
            <a:ext cx="5903869" cy="57942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Прямоугольник 16"/>
          <p:cNvSpPr/>
          <p:nvPr/>
        </p:nvSpPr>
        <p:spPr>
          <a:xfrm>
            <a:off x="111805" y="2289164"/>
            <a:ext cx="5903869" cy="270375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6160815" y="2363550"/>
            <a:ext cx="5903869" cy="2629363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3387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40" y="1056908"/>
            <a:ext cx="9215120" cy="5117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4012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199" y="686972"/>
            <a:ext cx="8105775" cy="523757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6" name="Прямоугольник 15"/>
          <p:cNvSpPr/>
          <p:nvPr/>
        </p:nvSpPr>
        <p:spPr>
          <a:xfrm>
            <a:off x="2362199" y="2992582"/>
            <a:ext cx="8105775" cy="64008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4923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2002790" y="2002790"/>
            <a:ext cx="8318500" cy="4000500"/>
            <a:chOff x="1982470" y="1789430"/>
            <a:chExt cx="8318500" cy="4000500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4470" y="1789430"/>
              <a:ext cx="2476500" cy="4000500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82470" y="1789430"/>
              <a:ext cx="2476500" cy="4000500"/>
            </a:xfrm>
            <a:prstGeom prst="rect">
              <a:avLst/>
            </a:prstGeom>
          </p:spPr>
        </p:pic>
      </p:grpSp>
      <p:pic>
        <p:nvPicPr>
          <p:cNvPr id="6" name="Рисунок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768" y="436880"/>
            <a:ext cx="1351280" cy="135128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400" y="436880"/>
            <a:ext cx="1351280" cy="13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387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628" y="866775"/>
            <a:ext cx="9091221" cy="504825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0" name="Прямоугольник 9"/>
          <p:cNvSpPr/>
          <p:nvPr/>
        </p:nvSpPr>
        <p:spPr>
          <a:xfrm>
            <a:off x="1519628" y="1295400"/>
            <a:ext cx="9091221" cy="51435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48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82492" y="3752358"/>
            <a:ext cx="2784288" cy="997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88683" y="3752359"/>
            <a:ext cx="2845248" cy="997527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3642" y="1599708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parseAndAddProduct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4" name="Соединительная линия уступом 13"/>
          <p:cNvCxnSpPr>
            <a:stCxn id="4" idx="0"/>
            <a:endCxn id="12" idx="2"/>
          </p:cNvCxnSpPr>
          <p:nvPr/>
        </p:nvCxnSpPr>
        <p:spPr>
          <a:xfrm rot="5400000" flipH="1" flipV="1">
            <a:off x="4587650" y="2384222"/>
            <a:ext cx="1155123" cy="15811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6" idx="0"/>
            <a:endCxn id="12" idx="2"/>
          </p:cNvCxnSpPr>
          <p:nvPr/>
        </p:nvCxnSpPr>
        <p:spPr>
          <a:xfrm rot="16200000" flipV="1">
            <a:off x="6155985" y="2397036"/>
            <a:ext cx="1155124" cy="155552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3568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727889" y="1099449"/>
            <a:ext cx="10507670" cy="4499114"/>
            <a:chOff x="254923" y="789710"/>
            <a:chExt cx="11599268" cy="4966508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923" y="789710"/>
              <a:ext cx="11599268" cy="4966508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sp>
          <p:nvSpPr>
            <p:cNvPr id="7" name="Прямоугольник 6"/>
            <p:cNvSpPr/>
            <p:nvPr/>
          </p:nvSpPr>
          <p:spPr>
            <a:xfrm>
              <a:off x="5004261" y="1249746"/>
              <a:ext cx="1529543" cy="406862"/>
            </a:xfrm>
            <a:prstGeom prst="rect">
              <a:avLst/>
            </a:prstGeom>
            <a:solidFill>
              <a:schemeClr val="accent6">
                <a:lumMod val="75000"/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/>
            <p:cNvSpPr/>
            <p:nvPr/>
          </p:nvSpPr>
          <p:spPr>
            <a:xfrm>
              <a:off x="8997141" y="806336"/>
              <a:ext cx="2449484" cy="406862"/>
            </a:xfrm>
            <a:prstGeom prst="rect">
              <a:avLst/>
            </a:prstGeom>
            <a:solidFill>
              <a:schemeClr val="accent6">
                <a:lumMod val="75000"/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647201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560" y="1113220"/>
            <a:ext cx="7633359" cy="47592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3819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82492" y="3752358"/>
            <a:ext cx="2784288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88683" y="3752359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3642" y="1599708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parseAndAddProduct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4" name="Соединительная линия уступом 13"/>
          <p:cNvCxnSpPr>
            <a:stCxn id="4" idx="0"/>
            <a:endCxn id="12" idx="2"/>
          </p:cNvCxnSpPr>
          <p:nvPr/>
        </p:nvCxnSpPr>
        <p:spPr>
          <a:xfrm rot="5400000" flipH="1" flipV="1">
            <a:off x="4587650" y="2384222"/>
            <a:ext cx="1155123" cy="15811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6" idx="0"/>
            <a:endCxn id="12" idx="2"/>
          </p:cNvCxnSpPr>
          <p:nvPr/>
        </p:nvCxnSpPr>
        <p:spPr>
          <a:xfrm rot="16200000" flipV="1">
            <a:off x="6155985" y="2397036"/>
            <a:ext cx="1155124" cy="155552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438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82492" y="3752358"/>
            <a:ext cx="2784288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88683" y="3752359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3642" y="1599708"/>
            <a:ext cx="2784288" cy="9975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parseAndAddProduct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4" name="Соединительная линия уступом 13"/>
          <p:cNvCxnSpPr>
            <a:stCxn id="4" idx="0"/>
            <a:endCxn id="12" idx="2"/>
          </p:cNvCxnSpPr>
          <p:nvPr/>
        </p:nvCxnSpPr>
        <p:spPr>
          <a:xfrm rot="5400000" flipH="1" flipV="1">
            <a:off x="4587650" y="2384222"/>
            <a:ext cx="1155123" cy="15811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6" idx="0"/>
            <a:endCxn id="12" idx="2"/>
          </p:cNvCxnSpPr>
          <p:nvPr/>
        </p:nvCxnSpPr>
        <p:spPr>
          <a:xfrm rot="16200000" flipV="1">
            <a:off x="6155985" y="2397036"/>
            <a:ext cx="1155124" cy="155552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9695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82492" y="3752358"/>
            <a:ext cx="2784288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88683" y="3752359"/>
            <a:ext cx="2845248" cy="997527"/>
          </a:xfrm>
          <a:prstGeom prst="rect">
            <a:avLst/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3642" y="1599708"/>
            <a:ext cx="2784288" cy="9975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parseAndAddProduct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4" name="Соединительная линия уступом 13"/>
          <p:cNvCxnSpPr>
            <a:stCxn id="4" idx="0"/>
            <a:endCxn id="12" idx="2"/>
          </p:cNvCxnSpPr>
          <p:nvPr/>
        </p:nvCxnSpPr>
        <p:spPr>
          <a:xfrm rot="5400000" flipH="1" flipV="1">
            <a:off x="4587650" y="2384222"/>
            <a:ext cx="1155123" cy="15811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6" idx="0"/>
            <a:endCxn id="12" idx="2"/>
          </p:cNvCxnSpPr>
          <p:nvPr/>
        </p:nvCxnSpPr>
        <p:spPr>
          <a:xfrm rot="16200000" flipV="1">
            <a:off x="6155985" y="2397036"/>
            <a:ext cx="1155124" cy="155552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4418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ЖЕСТКОСТЬ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0460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96366" y="2444087"/>
            <a:ext cx="11599268" cy="1969827"/>
            <a:chOff x="397163" y="2124653"/>
            <a:chExt cx="11599268" cy="1969827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 rotWithShape="1">
            <a:blip r:embed="rId4"/>
            <a:srcRect b="90739"/>
            <a:stretch/>
          </p:blipFill>
          <p:spPr>
            <a:xfrm>
              <a:off x="397163" y="3634510"/>
              <a:ext cx="11599268" cy="459970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5" name="Рисунок 4"/>
            <p:cNvPicPr>
              <a:picLocks noChangeAspect="1"/>
            </p:cNvPicPr>
            <p:nvPr/>
          </p:nvPicPr>
          <p:blipFill rotWithShape="1">
            <a:blip r:embed="rId5"/>
            <a:srcRect b="92376"/>
            <a:stretch/>
          </p:blipFill>
          <p:spPr>
            <a:xfrm>
              <a:off x="1529788" y="2124653"/>
              <a:ext cx="9091221" cy="384867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</p:grpSp>
      <p:sp>
        <p:nvSpPr>
          <p:cNvPr id="9" name="Прямоугольник 8"/>
          <p:cNvSpPr/>
          <p:nvPr/>
        </p:nvSpPr>
        <p:spPr>
          <a:xfrm>
            <a:off x="9001760" y="3966412"/>
            <a:ext cx="2495665" cy="447502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7208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310" y="1278999"/>
            <a:ext cx="10102396" cy="443239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0" name="Прямоугольник 9"/>
          <p:cNvSpPr/>
          <p:nvPr/>
        </p:nvSpPr>
        <p:spPr>
          <a:xfrm>
            <a:off x="8995236" y="1278999"/>
            <a:ext cx="1901364" cy="40686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3986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82492" y="3752358"/>
            <a:ext cx="2784288" cy="99752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88683" y="3752359"/>
            <a:ext cx="2845248" cy="997527"/>
          </a:xfrm>
          <a:prstGeom prst="rect">
            <a:avLst/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3642" y="1599708"/>
            <a:ext cx="2784288" cy="9975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parseAndAddProduct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4" name="Соединительная линия уступом 13"/>
          <p:cNvCxnSpPr>
            <a:stCxn id="4" idx="0"/>
            <a:endCxn id="12" idx="2"/>
          </p:cNvCxnSpPr>
          <p:nvPr/>
        </p:nvCxnSpPr>
        <p:spPr>
          <a:xfrm rot="5400000" flipH="1" flipV="1">
            <a:off x="4587650" y="2384222"/>
            <a:ext cx="1155123" cy="15811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6" idx="0"/>
            <a:endCxn id="12" idx="2"/>
          </p:cNvCxnSpPr>
          <p:nvPr/>
        </p:nvCxnSpPr>
        <p:spPr>
          <a:xfrm rot="16200000" flipV="1">
            <a:off x="6155985" y="2397036"/>
            <a:ext cx="1155124" cy="155552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5769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ХРУПКОСТЬ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487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048" y="355600"/>
            <a:ext cx="1351280" cy="135128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25" y="1977390"/>
            <a:ext cx="2724150" cy="400050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657599" y="1977391"/>
            <a:ext cx="4541522" cy="755650"/>
          </a:xfrm>
          <a:prstGeom prst="rect">
            <a:avLst/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657599" y="3599815"/>
            <a:ext cx="4541522" cy="755650"/>
          </a:xfrm>
          <a:prstGeom prst="rect">
            <a:avLst/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9956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310" y="1278999"/>
            <a:ext cx="10102396" cy="443239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0" name="Прямоугольник 9"/>
          <p:cNvSpPr/>
          <p:nvPr/>
        </p:nvSpPr>
        <p:spPr>
          <a:xfrm>
            <a:off x="1164310" y="2936349"/>
            <a:ext cx="10102396" cy="1130826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6105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82492" y="3752358"/>
            <a:ext cx="2784288" cy="99752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88683" y="3752359"/>
            <a:ext cx="2845248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3642" y="1599708"/>
            <a:ext cx="2784288" cy="9975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parseAndAddProduct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4" name="Соединительная линия уступом 13"/>
          <p:cNvCxnSpPr>
            <a:stCxn id="4" idx="0"/>
            <a:endCxn id="12" idx="2"/>
          </p:cNvCxnSpPr>
          <p:nvPr/>
        </p:nvCxnSpPr>
        <p:spPr>
          <a:xfrm rot="5400000" flipH="1" flipV="1">
            <a:off x="4587650" y="2384222"/>
            <a:ext cx="1155123" cy="15811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6" idx="0"/>
            <a:endCxn id="12" idx="2"/>
          </p:cNvCxnSpPr>
          <p:nvPr/>
        </p:nvCxnSpPr>
        <p:spPr>
          <a:xfrm rot="16200000" flipV="1">
            <a:off x="6155985" y="2397036"/>
            <a:ext cx="1155124" cy="155552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1012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704" y="532019"/>
            <a:ext cx="6356555" cy="564755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6" name="Прямоугольник 5"/>
          <p:cNvSpPr/>
          <p:nvPr/>
        </p:nvSpPr>
        <p:spPr>
          <a:xfrm>
            <a:off x="2929704" y="2790382"/>
            <a:ext cx="6356555" cy="1362517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929705" y="1523558"/>
            <a:ext cx="1661346" cy="333818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6781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82492" y="3752358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88683" y="3752359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563642" y="1599708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parseAndAddProduct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4" name="Соединительная линия уступом 13"/>
          <p:cNvCxnSpPr>
            <a:stCxn id="4" idx="0"/>
            <a:endCxn id="12" idx="2"/>
          </p:cNvCxnSpPr>
          <p:nvPr/>
        </p:nvCxnSpPr>
        <p:spPr>
          <a:xfrm rot="5400000" flipH="1" flipV="1">
            <a:off x="4587650" y="2384222"/>
            <a:ext cx="1155123" cy="15811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6" idx="0"/>
            <a:endCxn id="12" idx="2"/>
          </p:cNvCxnSpPr>
          <p:nvPr/>
        </p:nvCxnSpPr>
        <p:spPr>
          <a:xfrm rot="16200000" flipV="1">
            <a:off x="6155985" y="2397036"/>
            <a:ext cx="1155124" cy="155552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/>
          <p:cNvSpPr/>
          <p:nvPr/>
        </p:nvSpPr>
        <p:spPr>
          <a:xfrm>
            <a:off x="7048045" y="1658614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8662382" y="3782838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8060573" y="1129371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8293850" y="1072289"/>
            <a:ext cx="23166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 err="1">
                <a:latin typeface="Roboto" panose="02000000000000000000" pitchFamily="2" charset="0"/>
              </a:rPr>
              <a:t>Невалидный</a:t>
            </a:r>
            <a:r>
              <a:rPr lang="ru-RU" sz="1600" dirty="0">
                <a:latin typeface="Roboto" panose="02000000000000000000" pitchFamily="2" charset="0"/>
              </a:rPr>
              <a:t> продукт</a:t>
            </a:r>
            <a:endParaRPr lang="en-US" sz="1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0167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251" y="329738"/>
            <a:ext cx="6861299" cy="6096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Прямоугольник 9"/>
          <p:cNvSpPr/>
          <p:nvPr/>
        </p:nvSpPr>
        <p:spPr>
          <a:xfrm>
            <a:off x="2811251" y="1978428"/>
            <a:ext cx="6861299" cy="603795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2811250" y="4202083"/>
            <a:ext cx="6861299" cy="138407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350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9312789" y="1225386"/>
            <a:ext cx="18582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Неизвестная</a:t>
            </a:r>
          </a:p>
          <a:p>
            <a:r>
              <a:rPr lang="ru-RU" sz="1600" dirty="0">
                <a:latin typeface="Roboto" panose="02000000000000000000" pitchFamily="2" charset="0"/>
              </a:rPr>
              <a:t>ответственность</a:t>
            </a: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3232" y="1274128"/>
            <a:ext cx="241069" cy="2410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/>
          <p:cNvGrpSpPr/>
          <p:nvPr/>
        </p:nvGrpSpPr>
        <p:grpSpPr>
          <a:xfrm>
            <a:off x="9071720" y="838089"/>
            <a:ext cx="1680887" cy="338554"/>
            <a:chOff x="8052781" y="706009"/>
            <a:chExt cx="1680887" cy="338554"/>
          </a:xfrm>
        </p:grpSpPr>
        <p:sp>
          <p:nvSpPr>
            <p:cNvPr id="22" name="Овал 21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8293850" y="706009"/>
              <a:ext cx="14398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dirty="0">
                  <a:latin typeface="Roboto" panose="02000000000000000000" pitchFamily="2" charset="0"/>
                </a:rPr>
                <a:t>Разделитель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3120281" y="2188988"/>
            <a:ext cx="5951439" cy="3150178"/>
            <a:chOff x="2982492" y="1599708"/>
            <a:chExt cx="5951439" cy="315017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82492" y="37523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88683" y="37523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4563642" y="159970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parseAndAddProduct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cxnSp>
          <p:nvCxnSpPr>
            <p:cNvPr id="14" name="Соединительная линия уступом 13"/>
            <p:cNvCxnSpPr>
              <a:stCxn id="4" idx="0"/>
              <a:endCxn id="12" idx="2"/>
            </p:cNvCxnSpPr>
            <p:nvPr/>
          </p:nvCxnSpPr>
          <p:spPr>
            <a:xfrm rot="5400000" flipH="1" flipV="1">
              <a:off x="4587650" y="2384222"/>
              <a:ext cx="1155123" cy="158115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Соединительная линия уступом 14"/>
            <p:cNvCxnSpPr>
              <a:stCxn id="6" idx="0"/>
              <a:endCxn id="12" idx="2"/>
            </p:cNvCxnSpPr>
            <p:nvPr/>
          </p:nvCxnSpPr>
          <p:spPr>
            <a:xfrm rot="16200000" flipV="1">
              <a:off x="6155985" y="2397036"/>
              <a:ext cx="1155124" cy="155552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Овал 10"/>
            <p:cNvSpPr/>
            <p:nvPr/>
          </p:nvSpPr>
          <p:spPr>
            <a:xfrm>
              <a:off x="7048045" y="1658614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/>
            <p:cNvSpPr/>
            <p:nvPr/>
          </p:nvSpPr>
          <p:spPr>
            <a:xfrm>
              <a:off x="6770261" y="1658068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/>
            <p:cNvSpPr/>
            <p:nvPr/>
          </p:nvSpPr>
          <p:spPr>
            <a:xfrm>
              <a:off x="6470194" y="1658067"/>
              <a:ext cx="241069" cy="2410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Овал 25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9286456" y="450792"/>
            <a:ext cx="23166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 err="1">
                <a:latin typeface="Roboto" panose="02000000000000000000" pitchFamily="2" charset="0"/>
              </a:rPr>
              <a:t>Невалидный</a:t>
            </a:r>
            <a:r>
              <a:rPr lang="ru-RU" sz="1600" dirty="0">
                <a:latin typeface="Roboto" panose="02000000000000000000" pitchFamily="2" charset="0"/>
              </a:rPr>
              <a:t> продукт</a:t>
            </a:r>
            <a:endParaRPr lang="en-US" sz="1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504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b="54505"/>
          <a:stretch/>
        </p:blipFill>
        <p:spPr>
          <a:xfrm>
            <a:off x="111805" y="667658"/>
            <a:ext cx="5903869" cy="55358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4"/>
          <a:srcRect t="49099" b="3282"/>
          <a:stretch/>
        </p:blipFill>
        <p:spPr>
          <a:xfrm>
            <a:off x="6160815" y="496350"/>
            <a:ext cx="5903869" cy="57942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Прямоугольник 16"/>
          <p:cNvSpPr/>
          <p:nvPr/>
        </p:nvSpPr>
        <p:spPr>
          <a:xfrm>
            <a:off x="111805" y="2289164"/>
            <a:ext cx="5903869" cy="270375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6160815" y="2363550"/>
            <a:ext cx="5903869" cy="2629363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2810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2644170"/>
            <a:ext cx="64043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ЛОЖНОЕ ДУБЛИРОВАНИЕ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4273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Группа 31"/>
          <p:cNvGrpSpPr/>
          <p:nvPr/>
        </p:nvGrpSpPr>
        <p:grpSpPr>
          <a:xfrm rot="18900000">
            <a:off x="2393311" y="-378308"/>
            <a:ext cx="7106618" cy="7106618"/>
            <a:chOff x="4055225" y="1388226"/>
            <a:chExt cx="4081549" cy="4081549"/>
          </a:xfrm>
        </p:grpSpPr>
        <p:cxnSp>
          <p:nvCxnSpPr>
            <p:cNvPr id="30" name="Прямая со стрелкой 29"/>
            <p:cNvCxnSpPr/>
            <p:nvPr/>
          </p:nvCxnSpPr>
          <p:spPr>
            <a:xfrm flipV="1">
              <a:off x="6096000" y="1388226"/>
              <a:ext cx="0" cy="408154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/>
            <p:cNvCxnSpPr/>
            <p:nvPr/>
          </p:nvCxnSpPr>
          <p:spPr>
            <a:xfrm rot="5400000" flipV="1">
              <a:off x="6096000" y="1388226"/>
              <a:ext cx="0" cy="408154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Прямоугольник 32"/>
          <p:cNvSpPr/>
          <p:nvPr/>
        </p:nvSpPr>
        <p:spPr>
          <a:xfrm rot="18900000">
            <a:off x="2791246" y="4475618"/>
            <a:ext cx="2536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latin typeface="Roboto" panose="02000000000000000000" pitchFamily="2" charset="0"/>
              </a:rPr>
              <a:t>getProductsFromAPI</a:t>
            </a:r>
            <a:r>
              <a:rPr lang="en-US" dirty="0"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34" name="Прямоугольник 33"/>
          <p:cNvSpPr/>
          <p:nvPr/>
        </p:nvSpPr>
        <p:spPr>
          <a:xfrm rot="2700000">
            <a:off x="6491510" y="4470516"/>
            <a:ext cx="2550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latin typeface="Roboto" panose="02000000000000000000" pitchFamily="2" charset="0"/>
              </a:rPr>
              <a:t>getProductsFromFile</a:t>
            </a:r>
            <a:r>
              <a:rPr lang="en-US" dirty="0"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35" name="Овал 34"/>
          <p:cNvSpPr/>
          <p:nvPr/>
        </p:nvSpPr>
        <p:spPr>
          <a:xfrm>
            <a:off x="5826086" y="3054465"/>
            <a:ext cx="241069" cy="241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9812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2644170"/>
            <a:ext cx="64043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ИСТИННОЕ ДУБЛИРОВАНИЕ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1862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2229168" y="2305368"/>
            <a:ext cx="7733665" cy="2247265"/>
            <a:chOff x="978535" y="3632199"/>
            <a:chExt cx="7733665" cy="2247265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535" y="3632199"/>
              <a:ext cx="2247265" cy="2247265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4935" y="3632199"/>
              <a:ext cx="2247265" cy="2247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484782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445595" y="822960"/>
            <a:ext cx="11105913" cy="5212080"/>
            <a:chOff x="445595" y="0"/>
            <a:chExt cx="11105913" cy="5212080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 rotWithShape="1">
            <a:blip r:embed="rId4"/>
            <a:srcRect t="-1" b="64734"/>
            <a:stretch/>
          </p:blipFill>
          <p:spPr>
            <a:xfrm>
              <a:off x="445596" y="0"/>
              <a:ext cx="5072779" cy="51714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 rotWithShape="1">
            <a:blip r:embed="rId4"/>
            <a:srcRect t="49116" b="13815"/>
            <a:stretch/>
          </p:blipFill>
          <p:spPr>
            <a:xfrm>
              <a:off x="6687646" y="0"/>
              <a:ext cx="4863862" cy="5212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Прямоугольник 7"/>
            <p:cNvSpPr/>
            <p:nvPr/>
          </p:nvSpPr>
          <p:spPr>
            <a:xfrm>
              <a:off x="445595" y="3683000"/>
              <a:ext cx="5072779" cy="406862"/>
            </a:xfrm>
            <a:prstGeom prst="rect">
              <a:avLst/>
            </a:prstGeom>
            <a:solidFill>
              <a:schemeClr val="accent6">
                <a:lumMod val="75000"/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6687645" y="3733800"/>
              <a:ext cx="4863863" cy="406862"/>
            </a:xfrm>
            <a:prstGeom prst="rect">
              <a:avLst/>
            </a:prstGeom>
            <a:solidFill>
              <a:schemeClr val="accent6">
                <a:lumMod val="75000"/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8706880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982492" y="1853911"/>
            <a:ext cx="5951439" cy="3150178"/>
            <a:chOff x="2982492" y="1599708"/>
            <a:chExt cx="5951439" cy="315017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82492" y="37523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88683" y="37523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4563642" y="159970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ensureProductIsValid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3" name="Овал 12"/>
            <p:cNvSpPr/>
            <p:nvPr/>
          </p:nvSpPr>
          <p:spPr>
            <a:xfrm>
              <a:off x="7054914" y="1650507"/>
              <a:ext cx="241069" cy="24106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" name="Соединительная линия уступом 13"/>
            <p:cNvCxnSpPr>
              <a:stCxn id="4" idx="0"/>
              <a:endCxn id="12" idx="2"/>
            </p:cNvCxnSpPr>
            <p:nvPr/>
          </p:nvCxnSpPr>
          <p:spPr>
            <a:xfrm rot="5400000" flipH="1" flipV="1">
              <a:off x="4587650" y="2384222"/>
              <a:ext cx="1155123" cy="158115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Соединительная линия уступом 14"/>
            <p:cNvCxnSpPr>
              <a:stCxn id="6" idx="0"/>
              <a:endCxn id="12" idx="2"/>
            </p:cNvCxnSpPr>
            <p:nvPr/>
          </p:nvCxnSpPr>
          <p:spPr>
            <a:xfrm rot="16200000" flipV="1">
              <a:off x="6155985" y="2397036"/>
              <a:ext cx="1155124" cy="155552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Группа 9"/>
          <p:cNvGrpSpPr/>
          <p:nvPr/>
        </p:nvGrpSpPr>
        <p:grpSpPr>
          <a:xfrm>
            <a:off x="9071720" y="492649"/>
            <a:ext cx="2440710" cy="338554"/>
            <a:chOff x="8052781" y="706009"/>
            <a:chExt cx="2440710" cy="338554"/>
          </a:xfrm>
        </p:grpSpPr>
        <p:sp>
          <p:nvSpPr>
            <p:cNvPr id="11" name="Овал 10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8293850" y="706009"/>
              <a:ext cx="21996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dirty="0">
                  <a:latin typeface="Roboto" panose="02000000000000000000" pitchFamily="2" charset="0"/>
                </a:rPr>
                <a:t>Правила валидации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42481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982492" y="4006561"/>
            <a:ext cx="5951439" cy="997528"/>
            <a:chOff x="2982492" y="3752358"/>
            <a:chExt cx="5951439" cy="99752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82492" y="37523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88683" y="37523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9071720" y="492649"/>
            <a:ext cx="2440710" cy="338554"/>
            <a:chOff x="8052781" y="706009"/>
            <a:chExt cx="2440710" cy="338554"/>
          </a:xfrm>
        </p:grpSpPr>
        <p:sp>
          <p:nvSpPr>
            <p:cNvPr id="11" name="Овал 10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8293850" y="706009"/>
              <a:ext cx="21996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dirty="0">
                  <a:latin typeface="Roboto" panose="02000000000000000000" pitchFamily="2" charset="0"/>
                </a:rPr>
                <a:t>Правила валидации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  <p:sp>
        <p:nvSpPr>
          <p:cNvPr id="17" name="Овал 16"/>
          <p:cNvSpPr/>
          <p:nvPr/>
        </p:nvSpPr>
        <p:spPr>
          <a:xfrm>
            <a:off x="5474911" y="4057361"/>
            <a:ext cx="241069" cy="241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8642062" y="4057361"/>
            <a:ext cx="241069" cy="241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8391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па 20"/>
          <p:cNvGrpSpPr/>
          <p:nvPr/>
        </p:nvGrpSpPr>
        <p:grpSpPr>
          <a:xfrm>
            <a:off x="9071720" y="838089"/>
            <a:ext cx="1680887" cy="338554"/>
            <a:chOff x="8052781" y="706009"/>
            <a:chExt cx="1680887" cy="338554"/>
          </a:xfrm>
        </p:grpSpPr>
        <p:sp>
          <p:nvSpPr>
            <p:cNvPr id="22" name="Овал 21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8293850" y="706009"/>
              <a:ext cx="14398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dirty="0">
                  <a:latin typeface="Roboto" panose="02000000000000000000" pitchFamily="2" charset="0"/>
                </a:rPr>
                <a:t>Разделитель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3120281" y="2188988"/>
            <a:ext cx="5951439" cy="3150178"/>
            <a:chOff x="2982492" y="1599708"/>
            <a:chExt cx="5951439" cy="315017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82492" y="37523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88683" y="37523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4563642" y="159970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parseAndAddProduct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cxnSp>
          <p:nvCxnSpPr>
            <p:cNvPr id="14" name="Соединительная линия уступом 13"/>
            <p:cNvCxnSpPr>
              <a:stCxn id="4" idx="0"/>
              <a:endCxn id="12" idx="2"/>
            </p:cNvCxnSpPr>
            <p:nvPr/>
          </p:nvCxnSpPr>
          <p:spPr>
            <a:xfrm rot="5400000" flipH="1" flipV="1">
              <a:off x="4587650" y="2384222"/>
              <a:ext cx="1155123" cy="158115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Соединительная линия уступом 14"/>
            <p:cNvCxnSpPr>
              <a:stCxn id="6" idx="0"/>
              <a:endCxn id="12" idx="2"/>
            </p:cNvCxnSpPr>
            <p:nvPr/>
          </p:nvCxnSpPr>
          <p:spPr>
            <a:xfrm rot="16200000" flipV="1">
              <a:off x="6155985" y="2397036"/>
              <a:ext cx="1155124" cy="155552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Овал 10"/>
            <p:cNvSpPr/>
            <p:nvPr/>
          </p:nvSpPr>
          <p:spPr>
            <a:xfrm>
              <a:off x="7048045" y="1658614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/>
            <p:cNvSpPr/>
            <p:nvPr/>
          </p:nvSpPr>
          <p:spPr>
            <a:xfrm>
              <a:off x="6770261" y="1658068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Овал 25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9286456" y="450792"/>
            <a:ext cx="23166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 err="1">
                <a:latin typeface="Roboto" panose="02000000000000000000" pitchFamily="2" charset="0"/>
              </a:rPr>
              <a:t>Невалидный</a:t>
            </a:r>
            <a:r>
              <a:rPr lang="ru-RU" sz="1600" dirty="0">
                <a:latin typeface="Roboto" panose="02000000000000000000" pitchFamily="2" charset="0"/>
              </a:rPr>
              <a:t> продукт</a:t>
            </a:r>
            <a:endParaRPr lang="en-US" sz="1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4997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3120281" y="4341638"/>
            <a:ext cx="5951439" cy="997528"/>
            <a:chOff x="2982492" y="3752358"/>
            <a:chExt cx="5951439" cy="99752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82492" y="37523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88683" y="37523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1" name="Овал 10"/>
            <p:cNvSpPr/>
            <p:nvPr/>
          </p:nvSpPr>
          <p:spPr>
            <a:xfrm>
              <a:off x="8652222" y="3792996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/>
            <p:cNvSpPr/>
            <p:nvPr/>
          </p:nvSpPr>
          <p:spPr>
            <a:xfrm>
              <a:off x="5469200" y="3792997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Группа 20">
            <a:extLst>
              <a:ext uri="{FF2B5EF4-FFF2-40B4-BE49-F238E27FC236}">
                <a16:creationId xmlns:a16="http://schemas.microsoft.com/office/drawing/2014/main" id="{A6DAB907-C42B-48D8-BFA7-D222A4F03A9E}"/>
              </a:ext>
            </a:extLst>
          </p:cNvPr>
          <p:cNvGrpSpPr/>
          <p:nvPr/>
        </p:nvGrpSpPr>
        <p:grpSpPr>
          <a:xfrm>
            <a:off x="9071720" y="838089"/>
            <a:ext cx="1680887" cy="338554"/>
            <a:chOff x="8052781" y="706009"/>
            <a:chExt cx="1680887" cy="338554"/>
          </a:xfrm>
        </p:grpSpPr>
        <p:sp>
          <p:nvSpPr>
            <p:cNvPr id="13" name="Овал 21">
              <a:extLst>
                <a:ext uri="{FF2B5EF4-FFF2-40B4-BE49-F238E27FC236}">
                  <a16:creationId xmlns:a16="http://schemas.microsoft.com/office/drawing/2014/main" id="{1B0870F6-4A26-403F-BA64-F19CC23C3060}"/>
                </a:ext>
              </a:extLst>
            </p:cNvPr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22">
              <a:extLst>
                <a:ext uri="{FF2B5EF4-FFF2-40B4-BE49-F238E27FC236}">
                  <a16:creationId xmlns:a16="http://schemas.microsoft.com/office/drawing/2014/main" id="{307B0B13-DA7D-4807-94FC-0AE85652FDAE}"/>
                </a:ext>
              </a:extLst>
            </p:cNvPr>
            <p:cNvSpPr/>
            <p:nvPr/>
          </p:nvSpPr>
          <p:spPr>
            <a:xfrm>
              <a:off x="8293850" y="706009"/>
              <a:ext cx="14398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dirty="0">
                  <a:latin typeface="Roboto" panose="02000000000000000000" pitchFamily="2" charset="0"/>
                </a:rPr>
                <a:t>Разделитель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  <p:sp>
        <p:nvSpPr>
          <p:cNvPr id="15" name="Овал 25">
            <a:extLst>
              <a:ext uri="{FF2B5EF4-FFF2-40B4-BE49-F238E27FC236}">
                <a16:creationId xmlns:a16="http://schemas.microsoft.com/office/drawing/2014/main" id="{BB911835-DF86-48F6-AACC-15BB42855391}"/>
              </a:ext>
            </a:extLst>
          </p:cNvPr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26">
            <a:extLst>
              <a:ext uri="{FF2B5EF4-FFF2-40B4-BE49-F238E27FC236}">
                <a16:creationId xmlns:a16="http://schemas.microsoft.com/office/drawing/2014/main" id="{6783D5B7-84DC-44A9-AA38-9385A55275B7}"/>
              </a:ext>
            </a:extLst>
          </p:cNvPr>
          <p:cNvSpPr/>
          <p:nvPr/>
        </p:nvSpPr>
        <p:spPr>
          <a:xfrm>
            <a:off x="9286456" y="450792"/>
            <a:ext cx="23166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 err="1">
                <a:latin typeface="Roboto" panose="02000000000000000000" pitchFamily="2" charset="0"/>
              </a:rPr>
              <a:t>Невалидный</a:t>
            </a:r>
            <a:r>
              <a:rPr lang="ru-RU" sz="1600" dirty="0">
                <a:latin typeface="Roboto" panose="02000000000000000000" pitchFamily="2" charset="0"/>
              </a:rPr>
              <a:t> продукт</a:t>
            </a:r>
            <a:endParaRPr lang="en-US" sz="1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8947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4384291" y="2938058"/>
            <a:ext cx="2784288" cy="9975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4396155" y="2955133"/>
            <a:ext cx="1459556" cy="9667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469026" y="3252155"/>
            <a:ext cx="2614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latin typeface="Roboto" panose="02000000000000000000" pitchFamily="2" charset="0"/>
              </a:rPr>
              <a:t>parseAndAddProduct</a:t>
            </a:r>
            <a:r>
              <a:rPr lang="en-US" dirty="0"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894612" y="2938058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7873970" y="2939632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22" name="Соединительная линия уступом 21"/>
          <p:cNvCxnSpPr>
            <a:stCxn id="21" idx="1"/>
            <a:endCxn id="12" idx="3"/>
          </p:cNvCxnSpPr>
          <p:nvPr/>
        </p:nvCxnSpPr>
        <p:spPr>
          <a:xfrm rot="10800000">
            <a:off x="7168580" y="3436822"/>
            <a:ext cx="705391" cy="157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22"/>
          <p:cNvCxnSpPr>
            <a:stCxn id="20" idx="3"/>
            <a:endCxn id="13" idx="1"/>
          </p:cNvCxnSpPr>
          <p:nvPr/>
        </p:nvCxnSpPr>
        <p:spPr>
          <a:xfrm>
            <a:off x="3678900" y="3436822"/>
            <a:ext cx="717255" cy="170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8290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520" y="731520"/>
            <a:ext cx="539496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37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па 20"/>
          <p:cNvGrpSpPr/>
          <p:nvPr/>
        </p:nvGrpSpPr>
        <p:grpSpPr>
          <a:xfrm>
            <a:off x="9071720" y="838089"/>
            <a:ext cx="1680887" cy="338554"/>
            <a:chOff x="8052781" y="706009"/>
            <a:chExt cx="1680887" cy="338554"/>
          </a:xfrm>
        </p:grpSpPr>
        <p:sp>
          <p:nvSpPr>
            <p:cNvPr id="22" name="Овал 21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8293850" y="706009"/>
              <a:ext cx="14398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dirty="0">
                  <a:latin typeface="Roboto" panose="02000000000000000000" pitchFamily="2" charset="0"/>
                </a:rPr>
                <a:t>Разделитель</a:t>
              </a:r>
              <a:endParaRPr lang="en-US" sz="1600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3120281" y="2188988"/>
            <a:ext cx="5951439" cy="3150178"/>
            <a:chOff x="2982492" y="1599708"/>
            <a:chExt cx="5951439" cy="315017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82492" y="37523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getProductsFromAPI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88683" y="37523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getProductsFromFile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4563642" y="159970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parseAndAddProduct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cxnSp>
          <p:nvCxnSpPr>
            <p:cNvPr id="14" name="Соединительная линия уступом 13"/>
            <p:cNvCxnSpPr>
              <a:stCxn id="4" idx="0"/>
              <a:endCxn id="12" idx="2"/>
            </p:cNvCxnSpPr>
            <p:nvPr/>
          </p:nvCxnSpPr>
          <p:spPr>
            <a:xfrm rot="5400000" flipH="1" flipV="1">
              <a:off x="4587650" y="2384222"/>
              <a:ext cx="1155123" cy="158115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Соединительная линия уступом 14"/>
            <p:cNvCxnSpPr>
              <a:stCxn id="6" idx="0"/>
              <a:endCxn id="12" idx="2"/>
            </p:cNvCxnSpPr>
            <p:nvPr/>
          </p:nvCxnSpPr>
          <p:spPr>
            <a:xfrm rot="16200000" flipV="1">
              <a:off x="6155985" y="2397036"/>
              <a:ext cx="1155124" cy="155552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Овал 10"/>
            <p:cNvSpPr/>
            <p:nvPr/>
          </p:nvSpPr>
          <p:spPr>
            <a:xfrm>
              <a:off x="7048045" y="1658614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/>
            <p:cNvSpPr/>
            <p:nvPr/>
          </p:nvSpPr>
          <p:spPr>
            <a:xfrm>
              <a:off x="6770261" y="1658068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Овал 25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9286456" y="450792"/>
            <a:ext cx="23166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 err="1">
                <a:latin typeface="Roboto" panose="02000000000000000000" pitchFamily="2" charset="0"/>
              </a:rPr>
              <a:t>Невалидный</a:t>
            </a:r>
            <a:r>
              <a:rPr lang="ru-RU" sz="1600" dirty="0">
                <a:latin typeface="Roboto" panose="02000000000000000000" pitchFamily="2" charset="0"/>
              </a:rPr>
              <a:t> продукт</a:t>
            </a: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17" name="Овал 15">
            <a:extLst>
              <a:ext uri="{FF2B5EF4-FFF2-40B4-BE49-F238E27FC236}">
                <a16:creationId xmlns:a16="http://schemas.microsoft.com/office/drawing/2014/main" id="{F1CC73F5-5576-4103-9212-AC177A57FC83}"/>
              </a:ext>
            </a:extLst>
          </p:cNvPr>
          <p:cNvSpPr/>
          <p:nvPr/>
        </p:nvSpPr>
        <p:spPr>
          <a:xfrm>
            <a:off x="5633020" y="4379737"/>
            <a:ext cx="241069" cy="241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0">
            <a:extLst>
              <a:ext uri="{FF2B5EF4-FFF2-40B4-BE49-F238E27FC236}">
                <a16:creationId xmlns:a16="http://schemas.microsoft.com/office/drawing/2014/main" id="{F93E5436-14CC-45BA-BFFD-235C13AC56D8}"/>
              </a:ext>
            </a:extLst>
          </p:cNvPr>
          <p:cNvSpPr/>
          <p:nvPr/>
        </p:nvSpPr>
        <p:spPr>
          <a:xfrm>
            <a:off x="8807791" y="4376414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947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па 20"/>
          <p:cNvGrpSpPr/>
          <p:nvPr/>
        </p:nvGrpSpPr>
        <p:grpSpPr>
          <a:xfrm>
            <a:off x="9071720" y="838089"/>
            <a:ext cx="553975" cy="338554"/>
            <a:chOff x="8052781" y="706009"/>
            <a:chExt cx="553975" cy="338554"/>
          </a:xfrm>
        </p:grpSpPr>
        <p:sp>
          <p:nvSpPr>
            <p:cNvPr id="22" name="Овал 21"/>
            <p:cNvSpPr/>
            <p:nvPr/>
          </p:nvSpPr>
          <p:spPr>
            <a:xfrm>
              <a:off x="8052781" y="754752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8293850" y="706009"/>
              <a:ext cx="31290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Roboto" panose="02000000000000000000" pitchFamily="2" charset="0"/>
                </a:rPr>
                <a:t>B</a:t>
              </a: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3120281" y="2188988"/>
            <a:ext cx="5951439" cy="3150178"/>
            <a:chOff x="2982492" y="1599708"/>
            <a:chExt cx="5951439" cy="315017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82492" y="37523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MODULE A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88683" y="37523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MODULE B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4563642" y="159970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SHARED MODULE</a:t>
              </a:r>
            </a:p>
          </p:txBody>
        </p:sp>
        <p:cxnSp>
          <p:nvCxnSpPr>
            <p:cNvPr id="14" name="Соединительная линия уступом 13"/>
            <p:cNvCxnSpPr>
              <a:stCxn id="4" idx="0"/>
              <a:endCxn id="12" idx="2"/>
            </p:cNvCxnSpPr>
            <p:nvPr/>
          </p:nvCxnSpPr>
          <p:spPr>
            <a:xfrm rot="5400000" flipH="1" flipV="1">
              <a:off x="4587650" y="2384222"/>
              <a:ext cx="1155123" cy="158115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Соединительная линия уступом 14"/>
            <p:cNvCxnSpPr>
              <a:stCxn id="6" idx="0"/>
              <a:endCxn id="12" idx="2"/>
            </p:cNvCxnSpPr>
            <p:nvPr/>
          </p:nvCxnSpPr>
          <p:spPr>
            <a:xfrm rot="16200000" flipV="1">
              <a:off x="6155985" y="2397036"/>
              <a:ext cx="1155124" cy="155552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Овал 10"/>
            <p:cNvSpPr/>
            <p:nvPr/>
          </p:nvSpPr>
          <p:spPr>
            <a:xfrm>
              <a:off x="7048045" y="1658614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/>
            <p:cNvSpPr/>
            <p:nvPr/>
          </p:nvSpPr>
          <p:spPr>
            <a:xfrm>
              <a:off x="6770261" y="1658068"/>
              <a:ext cx="241069" cy="2410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Овал 25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9309316" y="450792"/>
            <a:ext cx="3193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</a:rPr>
              <a:t>A</a:t>
            </a:r>
          </a:p>
        </p:txBody>
      </p:sp>
      <p:sp>
        <p:nvSpPr>
          <p:cNvPr id="17" name="Овал 15">
            <a:extLst>
              <a:ext uri="{FF2B5EF4-FFF2-40B4-BE49-F238E27FC236}">
                <a16:creationId xmlns:a16="http://schemas.microsoft.com/office/drawing/2014/main" id="{EDAE81EE-2BA3-4C0A-AF87-F5A4AA7EC49C}"/>
              </a:ext>
            </a:extLst>
          </p:cNvPr>
          <p:cNvSpPr/>
          <p:nvPr/>
        </p:nvSpPr>
        <p:spPr>
          <a:xfrm>
            <a:off x="5633020" y="4379737"/>
            <a:ext cx="241069" cy="241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0">
            <a:extLst>
              <a:ext uri="{FF2B5EF4-FFF2-40B4-BE49-F238E27FC236}">
                <a16:creationId xmlns:a16="http://schemas.microsoft.com/office/drawing/2014/main" id="{E1E49913-3D9A-4790-A4FD-299FA021F6C6}"/>
              </a:ext>
            </a:extLst>
          </p:cNvPr>
          <p:cNvSpPr/>
          <p:nvPr/>
        </p:nvSpPr>
        <p:spPr>
          <a:xfrm>
            <a:off x="8807791" y="4376414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867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РЕШЕНИЕ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6635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2644170"/>
            <a:ext cx="64043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ТАКТИКА ВЫЖИДАНИЯ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2135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b="54505"/>
          <a:stretch/>
        </p:blipFill>
        <p:spPr>
          <a:xfrm>
            <a:off x="223565" y="657498"/>
            <a:ext cx="5758982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t="49099" b="3282"/>
          <a:stretch/>
        </p:blipFill>
        <p:spPr>
          <a:xfrm>
            <a:off x="6272575" y="486190"/>
            <a:ext cx="5502162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Прямоугольник 16">
            <a:extLst>
              <a:ext uri="{FF2B5EF4-FFF2-40B4-BE49-F238E27FC236}">
                <a16:creationId xmlns:a16="http://schemas.microsoft.com/office/drawing/2014/main" id="{34059D6F-0ABC-4967-8D4E-B115D655058F}"/>
              </a:ext>
            </a:extLst>
          </p:cNvPr>
          <p:cNvSpPr/>
          <p:nvPr/>
        </p:nvSpPr>
        <p:spPr>
          <a:xfrm>
            <a:off x="223565" y="2212964"/>
            <a:ext cx="5758982" cy="2703750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17">
            <a:extLst>
              <a:ext uri="{FF2B5EF4-FFF2-40B4-BE49-F238E27FC236}">
                <a16:creationId xmlns:a16="http://schemas.microsoft.com/office/drawing/2014/main" id="{D122CF41-3556-407F-B3C3-329A4FFFE5CB}"/>
              </a:ext>
            </a:extLst>
          </p:cNvPr>
          <p:cNvSpPr/>
          <p:nvPr/>
        </p:nvSpPr>
        <p:spPr>
          <a:xfrm>
            <a:off x="6272575" y="2212965"/>
            <a:ext cx="5502162" cy="2549536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24904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b="54505"/>
          <a:stretch/>
        </p:blipFill>
        <p:spPr>
          <a:xfrm>
            <a:off x="230917" y="774699"/>
            <a:ext cx="5606744" cy="4918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4"/>
          <a:srcRect t="49099" b="3153"/>
          <a:stretch/>
        </p:blipFill>
        <p:spPr>
          <a:xfrm>
            <a:off x="6142461" y="603430"/>
            <a:ext cx="5714358" cy="52606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230917" y="2148840"/>
            <a:ext cx="5606744" cy="406862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142461" y="3233736"/>
            <a:ext cx="5714358" cy="850584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32836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НОВОЕ ИСПЫТАНИЕ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66432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3720784" y="2753361"/>
            <a:ext cx="3050856" cy="1351280"/>
            <a:chOff x="3308985" y="2844800"/>
            <a:chExt cx="3050856" cy="1351280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8561" y="2844800"/>
              <a:ext cx="1351280" cy="1351280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08985" y="2844800"/>
              <a:ext cx="1351280" cy="1351280"/>
            </a:xfrm>
            <a:prstGeom prst="rect">
              <a:avLst/>
            </a:prstGeom>
          </p:spPr>
        </p:pic>
      </p:grpSp>
      <p:pic>
        <p:nvPicPr>
          <p:cNvPr id="5" name="Рисунок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488" y="2753361"/>
            <a:ext cx="1350000" cy="1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513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360" y="2753361"/>
            <a:ext cx="1351280" cy="13512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19936" y="2753361"/>
            <a:ext cx="1351280" cy="13512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512" y="2753361"/>
            <a:ext cx="1350000" cy="1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519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811" y="2366502"/>
            <a:ext cx="6103458" cy="1739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20" y="350377"/>
            <a:ext cx="4795658" cy="5772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Прямоугольник 11"/>
          <p:cNvSpPr/>
          <p:nvPr/>
        </p:nvSpPr>
        <p:spPr>
          <a:xfrm>
            <a:off x="563921" y="1826029"/>
            <a:ext cx="4795658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563920" y="3685453"/>
            <a:ext cx="4795658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5812811" y="3177453"/>
            <a:ext cx="6103458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2860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18992" y="2571258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ensureProductIsValid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25183" y="2571259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calcShowTotal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1" name="Овал 10"/>
          <p:cNvSpPr/>
          <p:nvPr/>
        </p:nvSpPr>
        <p:spPr>
          <a:xfrm>
            <a:off x="8571641" y="2609358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248942" y="4857258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755183" y="4857257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0" name="Соединительная линия уступом 9"/>
          <p:cNvCxnSpPr>
            <a:stCxn id="8" idx="0"/>
            <a:endCxn id="4" idx="2"/>
          </p:cNvCxnSpPr>
          <p:nvPr/>
        </p:nvCxnSpPr>
        <p:spPr>
          <a:xfrm rot="5400000" flipH="1" flipV="1">
            <a:off x="2831875" y="3377997"/>
            <a:ext cx="1288473" cy="16700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stCxn id="9" idx="0"/>
            <a:endCxn id="4" idx="2"/>
          </p:cNvCxnSpPr>
          <p:nvPr/>
        </p:nvCxnSpPr>
        <p:spPr>
          <a:xfrm rot="16200000" flipV="1">
            <a:off x="4600236" y="3279685"/>
            <a:ext cx="1288472" cy="186667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286456" y="450792"/>
            <a:ext cx="17091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Способ вывода</a:t>
            </a: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403791" y="2609358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584850" y="557579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console</a:t>
            </a:r>
          </a:p>
        </p:txBody>
      </p:sp>
      <p:cxnSp>
        <p:nvCxnSpPr>
          <p:cNvPr id="22" name="Соединительная линия уступом 21"/>
          <p:cNvCxnSpPr>
            <a:stCxn id="4" idx="0"/>
            <a:endCxn id="21" idx="2"/>
          </p:cNvCxnSpPr>
          <p:nvPr/>
        </p:nvCxnSpPr>
        <p:spPr>
          <a:xfrm rot="5400000" flipH="1" flipV="1">
            <a:off x="4635989" y="1230253"/>
            <a:ext cx="1016152" cy="1665858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22"/>
          <p:cNvCxnSpPr>
            <a:stCxn id="6" idx="0"/>
            <a:endCxn id="21" idx="2"/>
          </p:cNvCxnSpPr>
          <p:nvPr/>
        </p:nvCxnSpPr>
        <p:spPr>
          <a:xfrm rot="16200000" flipV="1">
            <a:off x="6204325" y="1327776"/>
            <a:ext cx="1016153" cy="147081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628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18992" y="2571258"/>
            <a:ext cx="2784288" cy="9975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ensureProductIsValid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25183" y="2571259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calcShowTotal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1" name="Овал 10"/>
          <p:cNvSpPr/>
          <p:nvPr/>
        </p:nvSpPr>
        <p:spPr>
          <a:xfrm>
            <a:off x="8571641" y="2609358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5403791" y="2609358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248942" y="4857258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755183" y="4857257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0" name="Соединительная линия уступом 9"/>
          <p:cNvCxnSpPr>
            <a:stCxn id="8" idx="0"/>
            <a:endCxn id="4" idx="2"/>
          </p:cNvCxnSpPr>
          <p:nvPr/>
        </p:nvCxnSpPr>
        <p:spPr>
          <a:xfrm rot="5400000" flipH="1" flipV="1">
            <a:off x="2831875" y="3377997"/>
            <a:ext cx="1288473" cy="16700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stCxn id="9" idx="0"/>
            <a:endCxn id="4" idx="2"/>
          </p:cNvCxnSpPr>
          <p:nvPr/>
        </p:nvCxnSpPr>
        <p:spPr>
          <a:xfrm rot="16200000" flipV="1">
            <a:off x="4600236" y="3279685"/>
            <a:ext cx="1288472" cy="186667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286456" y="450792"/>
            <a:ext cx="17091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Способ вывода</a:t>
            </a: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584850" y="557579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console</a:t>
            </a:r>
          </a:p>
        </p:txBody>
      </p:sp>
      <p:cxnSp>
        <p:nvCxnSpPr>
          <p:cNvPr id="18" name="Соединительная линия уступом 17"/>
          <p:cNvCxnSpPr>
            <a:endCxn id="15" idx="2"/>
          </p:cNvCxnSpPr>
          <p:nvPr/>
        </p:nvCxnSpPr>
        <p:spPr>
          <a:xfrm rot="5400000" flipH="1" flipV="1">
            <a:off x="4635989" y="1230253"/>
            <a:ext cx="1016152" cy="1665858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ная линия уступом 19"/>
          <p:cNvCxnSpPr>
            <a:endCxn id="15" idx="2"/>
          </p:cNvCxnSpPr>
          <p:nvPr/>
        </p:nvCxnSpPr>
        <p:spPr>
          <a:xfrm rot="16200000" flipV="1">
            <a:off x="6204325" y="1327776"/>
            <a:ext cx="1016153" cy="147081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99030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18992" y="2571258"/>
            <a:ext cx="2784288" cy="9975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ensureProductIsValid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025183" y="2571259"/>
            <a:ext cx="284524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calcShowTotal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11" name="Овал 10"/>
          <p:cNvSpPr/>
          <p:nvPr/>
        </p:nvSpPr>
        <p:spPr>
          <a:xfrm>
            <a:off x="8571641" y="2609358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248942" y="4857258"/>
            <a:ext cx="2784288" cy="997527"/>
          </a:xfrm>
          <a:prstGeom prst="rect">
            <a:avLst/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getProductsFromAPI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755183" y="4857257"/>
            <a:ext cx="2845248" cy="997527"/>
          </a:xfrm>
          <a:prstGeom prst="rect">
            <a:avLst/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getProductsFromFile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()</a:t>
            </a:r>
          </a:p>
        </p:txBody>
      </p:sp>
      <p:cxnSp>
        <p:nvCxnSpPr>
          <p:cNvPr id="10" name="Соединительная линия уступом 9"/>
          <p:cNvCxnSpPr>
            <a:stCxn id="8" idx="0"/>
            <a:endCxn id="4" idx="2"/>
          </p:cNvCxnSpPr>
          <p:nvPr/>
        </p:nvCxnSpPr>
        <p:spPr>
          <a:xfrm rot="5400000" flipH="1" flipV="1">
            <a:off x="2831875" y="3377997"/>
            <a:ext cx="1288473" cy="167005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stCxn id="9" idx="0"/>
            <a:endCxn id="4" idx="2"/>
          </p:cNvCxnSpPr>
          <p:nvPr/>
        </p:nvCxnSpPr>
        <p:spPr>
          <a:xfrm rot="16200000" flipV="1">
            <a:off x="4600236" y="3279685"/>
            <a:ext cx="1288472" cy="186667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286456" y="450792"/>
            <a:ext cx="17091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Способ вывода</a:t>
            </a: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403791" y="2609358"/>
            <a:ext cx="241069" cy="2410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4584850" y="557579"/>
            <a:ext cx="2784288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console</a:t>
            </a:r>
          </a:p>
        </p:txBody>
      </p:sp>
      <p:cxnSp>
        <p:nvCxnSpPr>
          <p:cNvPr id="20" name="Соединительная линия уступом 19"/>
          <p:cNvCxnSpPr>
            <a:endCxn id="18" idx="2"/>
          </p:cNvCxnSpPr>
          <p:nvPr/>
        </p:nvCxnSpPr>
        <p:spPr>
          <a:xfrm rot="5400000" flipH="1" flipV="1">
            <a:off x="4635989" y="1230253"/>
            <a:ext cx="1016152" cy="1665858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endCxn id="18" idx="2"/>
          </p:cNvCxnSpPr>
          <p:nvPr/>
        </p:nvCxnSpPr>
        <p:spPr>
          <a:xfrm rot="16200000" flipV="1">
            <a:off x="6204325" y="1327776"/>
            <a:ext cx="1016153" cy="147081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4655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3013502"/>
            <a:ext cx="6404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СИЛА СВЯЗИ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0723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4841" y="3013502"/>
            <a:ext cx="8402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ТИП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8754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592" y="1368716"/>
            <a:ext cx="8672817" cy="41205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1759591" y="1795549"/>
            <a:ext cx="8672817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759591" y="3858029"/>
            <a:ext cx="8672817" cy="1631256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6344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4841" y="3013502"/>
            <a:ext cx="8402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ПОВЕДЕНИЕ</a:t>
            </a:r>
            <a:r>
              <a:rPr lang="ru-RU" sz="4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  <a:r>
              <a:rPr lang="ru-RU" sz="4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СЕМАНТИКА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9508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4"/>
          <a:srcRect t="49099" b="3153"/>
          <a:stretch/>
        </p:blipFill>
        <p:spPr>
          <a:xfrm>
            <a:off x="2954391" y="536849"/>
            <a:ext cx="6283219" cy="57843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Прямоугольник 6"/>
          <p:cNvSpPr/>
          <p:nvPr/>
        </p:nvSpPr>
        <p:spPr>
          <a:xfrm>
            <a:off x="2954391" y="3725949"/>
            <a:ext cx="6283219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40673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587619"/>
            <a:ext cx="9347200" cy="36827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292470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587619"/>
            <a:ext cx="9347200" cy="36827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Прямоугольник 2"/>
          <p:cNvSpPr/>
          <p:nvPr/>
        </p:nvSpPr>
        <p:spPr>
          <a:xfrm>
            <a:off x="6187440" y="1937789"/>
            <a:ext cx="4370970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70378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3815" y="2644170"/>
            <a:ext cx="64043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ДЕТАЛИ РЕАЛИЗАЦИИ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0819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60" y="780454"/>
            <a:ext cx="4399824" cy="52647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268909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60" y="780454"/>
            <a:ext cx="4399824" cy="52647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Прямоугольник 2"/>
          <p:cNvSpPr/>
          <p:nvPr/>
        </p:nvSpPr>
        <p:spPr>
          <a:xfrm>
            <a:off x="3834587" y="2801388"/>
            <a:ext cx="4370970" cy="2298931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28890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вал 20"/>
          <p:cNvSpPr/>
          <p:nvPr/>
        </p:nvSpPr>
        <p:spPr>
          <a:xfrm>
            <a:off x="3020482" y="353482"/>
            <a:ext cx="6151036" cy="615103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Тип</a:t>
            </a:r>
          </a:p>
        </p:txBody>
      </p:sp>
      <p:sp>
        <p:nvSpPr>
          <p:cNvPr id="12" name="Овал 11"/>
          <p:cNvSpPr/>
          <p:nvPr/>
        </p:nvSpPr>
        <p:spPr>
          <a:xfrm>
            <a:off x="4240596" y="1573596"/>
            <a:ext cx="3710808" cy="37108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Тип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5109320" y="5621150"/>
            <a:ext cx="19733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Реализация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5184212" y="4218264"/>
            <a:ext cx="18235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Семантика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688396" y="133704"/>
            <a:ext cx="8815205" cy="659058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/>
          <p:cNvGrpSpPr/>
          <p:nvPr/>
        </p:nvGrpSpPr>
        <p:grpSpPr>
          <a:xfrm>
            <a:off x="5412582" y="2745582"/>
            <a:ext cx="1366836" cy="1366836"/>
            <a:chOff x="5412582" y="2745582"/>
            <a:chExt cx="1366836" cy="1366836"/>
          </a:xfrm>
        </p:grpSpPr>
        <p:sp>
          <p:nvSpPr>
            <p:cNvPr id="2" name="Овал 1"/>
            <p:cNvSpPr/>
            <p:nvPr/>
          </p:nvSpPr>
          <p:spPr>
            <a:xfrm>
              <a:off x="5412582" y="2745582"/>
              <a:ext cx="1366836" cy="136683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800" dirty="0">
                <a:solidFill>
                  <a:schemeClr val="tx1"/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5738433" y="3167389"/>
              <a:ext cx="7151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2800" dirty="0"/>
                <a:t>Тип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691983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вал 20"/>
          <p:cNvSpPr/>
          <p:nvPr/>
        </p:nvSpPr>
        <p:spPr>
          <a:xfrm>
            <a:off x="3020482" y="353482"/>
            <a:ext cx="6151036" cy="615103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Тип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5109320" y="5621150"/>
            <a:ext cx="19733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Реализация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688396" y="133704"/>
            <a:ext cx="8815205" cy="659058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4240596" y="1573596"/>
            <a:ext cx="3710808" cy="37108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Тип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5184212" y="4218264"/>
            <a:ext cx="18235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Семантика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5412582" y="2745582"/>
            <a:ext cx="1366836" cy="1366836"/>
            <a:chOff x="5412582" y="2745582"/>
            <a:chExt cx="1366836" cy="1366836"/>
          </a:xfrm>
        </p:grpSpPr>
        <p:sp>
          <p:nvSpPr>
            <p:cNvPr id="2" name="Овал 1"/>
            <p:cNvSpPr/>
            <p:nvPr/>
          </p:nvSpPr>
          <p:spPr>
            <a:xfrm>
              <a:off x="5412582" y="2745582"/>
              <a:ext cx="1366836" cy="136683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800" dirty="0">
                <a:solidFill>
                  <a:schemeClr val="tx1"/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5738433" y="3167389"/>
              <a:ext cx="7151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2800" dirty="0"/>
                <a:t>Тип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993910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вал 20"/>
          <p:cNvSpPr/>
          <p:nvPr/>
        </p:nvSpPr>
        <p:spPr>
          <a:xfrm>
            <a:off x="3020482" y="353482"/>
            <a:ext cx="6151036" cy="615103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Тип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5109320" y="5621150"/>
            <a:ext cx="19733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Реализация</a:t>
            </a:r>
          </a:p>
        </p:txBody>
      </p:sp>
      <p:sp>
        <p:nvSpPr>
          <p:cNvPr id="12" name="Овал 11"/>
          <p:cNvSpPr/>
          <p:nvPr/>
        </p:nvSpPr>
        <p:spPr>
          <a:xfrm>
            <a:off x="4240596" y="1573596"/>
            <a:ext cx="3710808" cy="37108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Тип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5184212" y="4218264"/>
            <a:ext cx="18235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Семантика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5412582" y="2745582"/>
            <a:ext cx="1366836" cy="1366836"/>
            <a:chOff x="5412582" y="2745582"/>
            <a:chExt cx="1366836" cy="1366836"/>
          </a:xfrm>
        </p:grpSpPr>
        <p:sp>
          <p:nvSpPr>
            <p:cNvPr id="2" name="Овал 1"/>
            <p:cNvSpPr/>
            <p:nvPr/>
          </p:nvSpPr>
          <p:spPr>
            <a:xfrm>
              <a:off x="5412582" y="2745582"/>
              <a:ext cx="1366836" cy="136683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800" dirty="0">
                <a:solidFill>
                  <a:schemeClr val="tx1"/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5738433" y="3167389"/>
              <a:ext cx="7151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2800" dirty="0"/>
                <a:t>Тип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097466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485900"/>
            <a:ext cx="69088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8913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811" y="2366502"/>
            <a:ext cx="6103458" cy="1739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20" y="350377"/>
            <a:ext cx="4795658" cy="5772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Прямоугольник 11"/>
          <p:cNvSpPr/>
          <p:nvPr/>
        </p:nvSpPr>
        <p:spPr>
          <a:xfrm>
            <a:off x="563921" y="1826029"/>
            <a:ext cx="4795658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563920" y="3685453"/>
            <a:ext cx="4795658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5812811" y="3177453"/>
            <a:ext cx="6103458" cy="383772"/>
          </a:xfrm>
          <a:prstGeom prst="rect">
            <a:avLst/>
          </a:prstGeom>
          <a:solidFill>
            <a:schemeClr val="bg2">
              <a:lumMod val="50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51911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вал 20"/>
          <p:cNvSpPr/>
          <p:nvPr/>
        </p:nvSpPr>
        <p:spPr>
          <a:xfrm>
            <a:off x="3020482" y="353482"/>
            <a:ext cx="6151036" cy="615103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Тип</a:t>
            </a:r>
          </a:p>
        </p:txBody>
      </p:sp>
      <p:sp>
        <p:nvSpPr>
          <p:cNvPr id="12" name="Овал 11"/>
          <p:cNvSpPr/>
          <p:nvPr/>
        </p:nvSpPr>
        <p:spPr>
          <a:xfrm>
            <a:off x="4240596" y="1573596"/>
            <a:ext cx="3710808" cy="37108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Тип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5109320" y="5621150"/>
            <a:ext cx="19733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Реализация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5184212" y="4218264"/>
            <a:ext cx="18235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Семантика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688396" y="133704"/>
            <a:ext cx="8815205" cy="659058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/>
          <p:cNvGrpSpPr/>
          <p:nvPr/>
        </p:nvGrpSpPr>
        <p:grpSpPr>
          <a:xfrm>
            <a:off x="5412582" y="2745582"/>
            <a:ext cx="1366836" cy="1366836"/>
            <a:chOff x="5412582" y="2745582"/>
            <a:chExt cx="1366836" cy="1366836"/>
          </a:xfrm>
        </p:grpSpPr>
        <p:sp>
          <p:nvSpPr>
            <p:cNvPr id="2" name="Овал 1"/>
            <p:cNvSpPr/>
            <p:nvPr/>
          </p:nvSpPr>
          <p:spPr>
            <a:xfrm>
              <a:off x="5412582" y="2745582"/>
              <a:ext cx="1366836" cy="136683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800" dirty="0">
                <a:solidFill>
                  <a:schemeClr val="tx1"/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5738433" y="3167389"/>
              <a:ext cx="7151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2800" dirty="0"/>
                <a:t>Тип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26346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35"/>
          <a:stretch/>
        </p:blipFill>
        <p:spPr>
          <a:xfrm>
            <a:off x="2540318" y="2165907"/>
            <a:ext cx="7111365" cy="25261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7100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080" y="2283759"/>
            <a:ext cx="9641840" cy="22904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Прямоугольник 4"/>
          <p:cNvSpPr/>
          <p:nvPr/>
        </p:nvSpPr>
        <p:spPr>
          <a:xfrm>
            <a:off x="1275080" y="3683000"/>
            <a:ext cx="9641840" cy="406862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7477760" y="2283759"/>
            <a:ext cx="2047240" cy="406862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17899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1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286456" y="450792"/>
            <a:ext cx="5565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Тип</a:t>
            </a:r>
            <a:endParaRPr lang="en-US" sz="1600" dirty="0">
              <a:latin typeface="Roboto" panose="02000000000000000000" pitchFamily="2" charset="0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9087893" y="838089"/>
            <a:ext cx="241069" cy="2410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9302629" y="789346"/>
            <a:ext cx="12971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Поведение</a:t>
            </a:r>
            <a:endParaRPr lang="en-US" sz="1600" dirty="0">
              <a:latin typeface="Roboto" panose="02000000000000000000" pitchFamily="2" charset="0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2918992" y="2538779"/>
            <a:ext cx="5951439" cy="3011207"/>
            <a:chOff x="2918992" y="557579"/>
            <a:chExt cx="5951439" cy="3011207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18992" y="25712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ensureProductIsValid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25183" y="25712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calcShowTotal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1" name="Овал 10"/>
            <p:cNvSpPr/>
            <p:nvPr/>
          </p:nvSpPr>
          <p:spPr>
            <a:xfrm>
              <a:off x="8571641" y="2609358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/>
            <p:cNvSpPr/>
            <p:nvPr/>
          </p:nvSpPr>
          <p:spPr>
            <a:xfrm>
              <a:off x="5403791" y="2609358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/>
            <p:cNvSpPr/>
            <p:nvPr/>
          </p:nvSpPr>
          <p:spPr>
            <a:xfrm>
              <a:off x="8298027" y="2611556"/>
              <a:ext cx="241069" cy="24106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/>
            <p:cNvSpPr/>
            <p:nvPr/>
          </p:nvSpPr>
          <p:spPr>
            <a:xfrm>
              <a:off x="5122305" y="2609357"/>
              <a:ext cx="241069" cy="24106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4584850" y="557579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console</a:t>
              </a:r>
            </a:p>
          </p:txBody>
        </p:sp>
        <p:cxnSp>
          <p:nvCxnSpPr>
            <p:cNvPr id="23" name="Соединительная линия уступом 22"/>
            <p:cNvCxnSpPr>
              <a:endCxn id="22" idx="2"/>
            </p:cNvCxnSpPr>
            <p:nvPr/>
          </p:nvCxnSpPr>
          <p:spPr>
            <a:xfrm rot="5400000" flipH="1" flipV="1">
              <a:off x="4635989" y="1230253"/>
              <a:ext cx="1016152" cy="1665858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Соединительная линия уступом 23"/>
            <p:cNvCxnSpPr>
              <a:endCxn id="22" idx="2"/>
            </p:cNvCxnSpPr>
            <p:nvPr/>
          </p:nvCxnSpPr>
          <p:spPr>
            <a:xfrm rot="16200000" flipV="1">
              <a:off x="6204325" y="1327776"/>
              <a:ext cx="1016153" cy="14708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97993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1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286456" y="450792"/>
            <a:ext cx="5565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Тип</a:t>
            </a:r>
            <a:endParaRPr lang="en-US" sz="1600" dirty="0">
              <a:latin typeface="Roboto" panose="02000000000000000000" pitchFamily="2" charset="0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2918992" y="2538779"/>
            <a:ext cx="5951439" cy="3011207"/>
            <a:chOff x="2918992" y="557579"/>
            <a:chExt cx="5951439" cy="3011207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18992" y="25712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ensureProductIsValid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25183" y="25712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calcShowTotal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1" name="Овал 10"/>
            <p:cNvSpPr/>
            <p:nvPr/>
          </p:nvSpPr>
          <p:spPr>
            <a:xfrm>
              <a:off x="8571641" y="2609358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/>
            <p:cNvSpPr/>
            <p:nvPr/>
          </p:nvSpPr>
          <p:spPr>
            <a:xfrm>
              <a:off x="5403791" y="2609358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4584850" y="557579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&lt;interface&gt;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Logger</a:t>
              </a:r>
            </a:p>
          </p:txBody>
        </p:sp>
        <p:cxnSp>
          <p:nvCxnSpPr>
            <p:cNvPr id="23" name="Соединительная линия уступом 22"/>
            <p:cNvCxnSpPr>
              <a:endCxn id="22" idx="2"/>
            </p:cNvCxnSpPr>
            <p:nvPr/>
          </p:nvCxnSpPr>
          <p:spPr>
            <a:xfrm rot="5400000" flipH="1" flipV="1">
              <a:off x="4635989" y="1230253"/>
              <a:ext cx="1016152" cy="1665858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Соединительная линия уступом 23"/>
            <p:cNvCxnSpPr>
              <a:endCxn id="22" idx="2"/>
            </p:cNvCxnSpPr>
            <p:nvPr/>
          </p:nvCxnSpPr>
          <p:spPr>
            <a:xfrm rot="16200000" flipV="1">
              <a:off x="6204325" y="1327776"/>
              <a:ext cx="1016153" cy="14708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993104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1"/>
          <p:cNvSpPr/>
          <p:nvPr/>
        </p:nvSpPr>
        <p:spPr>
          <a:xfrm>
            <a:off x="9071720" y="499535"/>
            <a:ext cx="241069" cy="2410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286456" y="450792"/>
            <a:ext cx="5565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</a:rPr>
              <a:t>Тип</a:t>
            </a:r>
            <a:endParaRPr lang="en-US" sz="1600" dirty="0">
              <a:latin typeface="Roboto" panose="02000000000000000000" pitchFamily="2" charset="0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2918992" y="2538779"/>
            <a:ext cx="5951439" cy="3011207"/>
            <a:chOff x="2918992" y="557579"/>
            <a:chExt cx="5951439" cy="3011207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918992" y="2571258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ensureProductIsValid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6025183" y="2571259"/>
              <a:ext cx="284524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</a:rPr>
                <a:t>calcShowTotal</a:t>
              </a:r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()</a:t>
              </a:r>
            </a:p>
          </p:txBody>
        </p:sp>
        <p:sp>
          <p:nvSpPr>
            <p:cNvPr id="11" name="Овал 10"/>
            <p:cNvSpPr/>
            <p:nvPr/>
          </p:nvSpPr>
          <p:spPr>
            <a:xfrm>
              <a:off x="8571641" y="2609358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/>
            <p:cNvSpPr/>
            <p:nvPr/>
          </p:nvSpPr>
          <p:spPr>
            <a:xfrm>
              <a:off x="5403791" y="2609358"/>
              <a:ext cx="241069" cy="2410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4584850" y="557579"/>
              <a:ext cx="2784288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&lt;interface&gt;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Logger</a:t>
              </a:r>
            </a:p>
          </p:txBody>
        </p:sp>
        <p:cxnSp>
          <p:nvCxnSpPr>
            <p:cNvPr id="23" name="Соединительная линия уступом 22"/>
            <p:cNvCxnSpPr>
              <a:cxnSpLocks/>
              <a:endCxn id="22" idx="2"/>
            </p:cNvCxnSpPr>
            <p:nvPr/>
          </p:nvCxnSpPr>
          <p:spPr>
            <a:xfrm rot="5400000" flipH="1" flipV="1">
              <a:off x="4635989" y="1230253"/>
              <a:ext cx="1016152" cy="1665858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Соединительная линия уступом 23"/>
            <p:cNvCxnSpPr>
              <a:cxnSpLocks/>
              <a:endCxn id="22" idx="2"/>
            </p:cNvCxnSpPr>
            <p:nvPr/>
          </p:nvCxnSpPr>
          <p:spPr>
            <a:xfrm rot="16200000" flipV="1">
              <a:off x="6204325" y="1327776"/>
              <a:ext cx="1016153" cy="14708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Прямоугольник 35"/>
          <p:cNvSpPr/>
          <p:nvPr/>
        </p:nvSpPr>
        <p:spPr>
          <a:xfrm>
            <a:off x="4584850" y="666950"/>
            <a:ext cx="2784288" cy="997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APILogger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37" name="Прямая со стрелкой 36"/>
          <p:cNvCxnSpPr>
            <a:stCxn id="36" idx="2"/>
          </p:cNvCxnSpPr>
          <p:nvPr/>
        </p:nvCxnSpPr>
        <p:spPr>
          <a:xfrm>
            <a:off x="5976994" y="1664477"/>
            <a:ext cx="0" cy="8884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505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528" y="1680528"/>
            <a:ext cx="3496945" cy="34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4838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368" y="1711008"/>
            <a:ext cx="3496945" cy="349694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495" y="1712353"/>
            <a:ext cx="3495600" cy="3495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84591" y="2783840"/>
            <a:ext cx="1351280" cy="13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2078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956" y="421360"/>
            <a:ext cx="8583982" cy="572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6655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Какой-то текст для чего-то там, в общем надо сюда будет что-то написать"/>
          <p:cNvSpPr txBox="1"/>
          <p:nvPr/>
        </p:nvSpPr>
        <p:spPr>
          <a:xfrm>
            <a:off x="938088" y="976753"/>
            <a:ext cx="5536283" cy="175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000">
                <a:latin typeface="TTTravels-Bold"/>
                <a:ea typeface="TTTravels-Bold"/>
                <a:cs typeface="TTTravels-Bold"/>
                <a:sym typeface="TTTravels-Bold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Спасибо за внимание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 lvl="0"/>
            <a:r>
              <a:rPr lang="ru-RU" sz="2400" kern="0" dirty="0">
                <a:solidFill>
                  <a:schemeClr val="bg1"/>
                </a:solidFill>
              </a:rPr>
              <a:t>Расширенная версия доклада будет опубликована на </a:t>
            </a:r>
            <a:r>
              <a:rPr lang="ru-RU" sz="2400" kern="0" dirty="0" err="1">
                <a:solidFill>
                  <a:schemeClr val="bg1"/>
                </a:solidFill>
              </a:rPr>
              <a:t>Хабр</a:t>
            </a:r>
            <a:r>
              <a:rPr lang="ru-RU" sz="2400" kern="0" dirty="0">
                <a:solidFill>
                  <a:schemeClr val="bg1"/>
                </a:solidFill>
              </a:rPr>
              <a:t> - </a:t>
            </a:r>
            <a:r>
              <a:rPr lang="en-US" sz="2400" kern="0" dirty="0">
                <a:solidFill>
                  <a:schemeClr val="bg1"/>
                </a:solidFill>
              </a:rPr>
              <a:t>@</a:t>
            </a:r>
            <a:r>
              <a:rPr lang="en-US" sz="2400" kern="0" dirty="0" err="1">
                <a:solidFill>
                  <a:schemeClr val="bg1"/>
                </a:solidFill>
              </a:rPr>
              <a:t>khaimov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042881-5E0D-42ED-B599-E8485F7F1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88" y="4126921"/>
            <a:ext cx="1844172" cy="1844172"/>
          </a:xfrm>
          <a:prstGeom prst="rect">
            <a:avLst/>
          </a:prstGeom>
        </p:spPr>
      </p:pic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51D5197-BA46-4FE2-9B7D-79E850DCA7D1}"/>
              </a:ext>
            </a:extLst>
          </p:cNvPr>
          <p:cNvSpPr txBox="1">
            <a:spLocks/>
          </p:cNvSpPr>
          <p:nvPr/>
        </p:nvSpPr>
        <p:spPr>
          <a:xfrm>
            <a:off x="-263289" y="3530455"/>
            <a:ext cx="4246926" cy="69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1pPr>
            <a:lvl2pPr marL="0" marR="0" indent="4572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2pPr>
            <a:lvl3pPr marL="0" marR="0" indent="914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3pPr>
            <a:lvl4pPr marL="0" marR="0" indent="1371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4pPr>
            <a:lvl5pPr marL="0" marR="0" indent="18288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9pPr>
          </a:lstStyle>
          <a:p>
            <a:pPr lvl="0" algn="ctr">
              <a:lnSpc>
                <a:spcPct val="160000"/>
              </a:lnSpc>
              <a:defRPr/>
            </a:pPr>
            <a:r>
              <a:rPr lang="ru-RU" sz="1800" kern="0" dirty="0">
                <a:solidFill>
                  <a:schemeClr val="bg1"/>
                </a:solidFill>
                <a:latin typeface="TTTravels-Bold" panose="02000803040000020004" pitchFamily="2" charset="0"/>
              </a:rPr>
              <a:t>Роль архитектуры в ПО</a:t>
            </a: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Travels-Bold" panose="02000803040000020004" pitchFamily="2" charset="0"/>
              <a:ea typeface="Roboto" panose="02000000000000000000" pitchFamily="2" charset="0"/>
              <a:sym typeface="TTTravels-Regular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2182A4-2232-4257-A0D9-BC22E0AF5B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612" y="4126921"/>
            <a:ext cx="1847088" cy="1847088"/>
          </a:xfrm>
          <a:prstGeom prst="rect">
            <a:avLst/>
          </a:prstGeom>
        </p:spPr>
      </p:pic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A8D8AC59-22AD-43E6-BBE3-2C97889D0E02}"/>
              </a:ext>
            </a:extLst>
          </p:cNvPr>
          <p:cNvSpPr txBox="1">
            <a:spLocks/>
          </p:cNvSpPr>
          <p:nvPr/>
        </p:nvSpPr>
        <p:spPr>
          <a:xfrm>
            <a:off x="3067178" y="3530455"/>
            <a:ext cx="4743955" cy="69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1pPr>
            <a:lvl2pPr marL="0" marR="0" indent="4572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2pPr>
            <a:lvl3pPr marL="0" marR="0" indent="914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3pPr>
            <a:lvl4pPr marL="0" marR="0" indent="1371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4pPr>
            <a:lvl5pPr marL="0" marR="0" indent="18288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9pPr>
          </a:lstStyle>
          <a:p>
            <a:pPr lvl="0" algn="ctr">
              <a:lnSpc>
                <a:spcPct val="160000"/>
              </a:lnSpc>
              <a:defRPr/>
            </a:pPr>
            <a:r>
              <a:rPr lang="ru-RU" sz="1800" kern="0" dirty="0">
                <a:solidFill>
                  <a:schemeClr val="bg1"/>
                </a:solidFill>
                <a:latin typeface="TTTravels-Bold" panose="02000803040000020004" pitchFamily="2" charset="0"/>
                <a:ea typeface="Roboto" panose="02000000000000000000" pitchFamily="2" charset="0"/>
              </a:rPr>
              <a:t>Тестируемая архитектура</a:t>
            </a:r>
            <a:endParaRPr lang="ru-RU" sz="1800" kern="0" dirty="0">
              <a:latin typeface="TTTravels-Bold" panose="02000803040000020004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4559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17878</TotalTime>
  <Words>4968</Words>
  <Application>Microsoft Office PowerPoint</Application>
  <PresentationFormat>Widescreen</PresentationFormat>
  <Paragraphs>482</Paragraphs>
  <Slides>126</Slides>
  <Notes>126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34" baseType="lpstr">
      <vt:lpstr>Arial</vt:lpstr>
      <vt:lpstr>Calibri</vt:lpstr>
      <vt:lpstr>Calibri Light</vt:lpstr>
      <vt:lpstr>Roboto</vt:lpstr>
      <vt:lpstr>TTTravels-Bold</vt:lpstr>
      <vt:lpstr>TTTravels-DemiBold</vt:lpstr>
      <vt:lpstr>TTTravels-Regular</vt:lpstr>
      <vt:lpstr>Тема Office</vt:lpstr>
      <vt:lpstr>Единственная ответственность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Khaimov Roman</dc:creator>
  <cp:lastModifiedBy>Роман Хаимов</cp:lastModifiedBy>
  <cp:revision>291</cp:revision>
  <dcterms:created xsi:type="dcterms:W3CDTF">2024-05-14T14:02:45Z</dcterms:created>
  <dcterms:modified xsi:type="dcterms:W3CDTF">2024-06-13T07:15:49Z</dcterms:modified>
</cp:coreProperties>
</file>