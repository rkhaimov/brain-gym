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7"/>
  </p:notesMasterIdLst>
  <p:sldIdLst>
    <p:sldId id="257" r:id="rId2"/>
    <p:sldId id="366" r:id="rId3"/>
    <p:sldId id="367" r:id="rId4"/>
    <p:sldId id="368" r:id="rId5"/>
    <p:sldId id="369" r:id="rId6"/>
    <p:sldId id="370" r:id="rId7"/>
    <p:sldId id="261" r:id="rId8"/>
    <p:sldId id="262" r:id="rId9"/>
    <p:sldId id="260" r:id="rId10"/>
    <p:sldId id="263" r:id="rId11"/>
    <p:sldId id="371" r:id="rId12"/>
    <p:sldId id="372" r:id="rId13"/>
    <p:sldId id="373" r:id="rId14"/>
    <p:sldId id="374" r:id="rId15"/>
    <p:sldId id="375" r:id="rId16"/>
    <p:sldId id="376" r:id="rId17"/>
    <p:sldId id="377" r:id="rId18"/>
    <p:sldId id="378" r:id="rId19"/>
    <p:sldId id="379" r:id="rId20"/>
    <p:sldId id="381" r:id="rId21"/>
    <p:sldId id="385" r:id="rId22"/>
    <p:sldId id="388" r:id="rId23"/>
    <p:sldId id="382" r:id="rId24"/>
    <p:sldId id="384" r:id="rId25"/>
    <p:sldId id="386" r:id="rId26"/>
    <p:sldId id="387" r:id="rId27"/>
    <p:sldId id="389" r:id="rId28"/>
    <p:sldId id="390" r:id="rId29"/>
    <p:sldId id="391" r:id="rId30"/>
    <p:sldId id="393" r:id="rId31"/>
    <p:sldId id="392" r:id="rId32"/>
    <p:sldId id="265" r:id="rId33"/>
    <p:sldId id="266" r:id="rId34"/>
    <p:sldId id="394" r:id="rId35"/>
    <p:sldId id="395" r:id="rId36"/>
    <p:sldId id="396" r:id="rId37"/>
    <p:sldId id="268" r:id="rId38"/>
    <p:sldId id="397" r:id="rId39"/>
    <p:sldId id="398" r:id="rId40"/>
    <p:sldId id="269" r:id="rId41"/>
    <p:sldId id="399" r:id="rId42"/>
    <p:sldId id="275" r:id="rId43"/>
    <p:sldId id="400" r:id="rId44"/>
    <p:sldId id="402" r:id="rId45"/>
    <p:sldId id="403" r:id="rId46"/>
    <p:sldId id="273" r:id="rId47"/>
    <p:sldId id="274" r:id="rId48"/>
    <p:sldId id="276" r:id="rId49"/>
    <p:sldId id="277" r:id="rId50"/>
    <p:sldId id="278" r:id="rId51"/>
    <p:sldId id="404" r:id="rId52"/>
    <p:sldId id="279" r:id="rId53"/>
    <p:sldId id="405" r:id="rId54"/>
    <p:sldId id="356" r:id="rId55"/>
    <p:sldId id="406" r:id="rId56"/>
    <p:sldId id="280" r:id="rId57"/>
    <p:sldId id="357" r:id="rId58"/>
    <p:sldId id="358" r:id="rId59"/>
    <p:sldId id="407" r:id="rId60"/>
    <p:sldId id="355" r:id="rId61"/>
    <p:sldId id="408" r:id="rId62"/>
    <p:sldId id="409" r:id="rId63"/>
    <p:sldId id="360" r:id="rId64"/>
    <p:sldId id="285" r:id="rId65"/>
    <p:sldId id="410" r:id="rId66"/>
    <p:sldId id="411" r:id="rId67"/>
    <p:sldId id="361" r:id="rId68"/>
    <p:sldId id="412" r:id="rId69"/>
    <p:sldId id="362" r:id="rId70"/>
    <p:sldId id="289" r:id="rId71"/>
    <p:sldId id="290" r:id="rId72"/>
    <p:sldId id="291" r:id="rId73"/>
    <p:sldId id="413" r:id="rId74"/>
    <p:sldId id="414" r:id="rId75"/>
    <p:sldId id="292" r:id="rId76"/>
    <p:sldId id="415" r:id="rId77"/>
    <p:sldId id="416" r:id="rId78"/>
    <p:sldId id="417" r:id="rId79"/>
    <p:sldId id="418" r:id="rId80"/>
    <p:sldId id="419" r:id="rId81"/>
    <p:sldId id="420" r:id="rId82"/>
    <p:sldId id="421" r:id="rId83"/>
    <p:sldId id="422" r:id="rId84"/>
    <p:sldId id="423" r:id="rId85"/>
    <p:sldId id="427" r:id="rId86"/>
    <p:sldId id="429" r:id="rId87"/>
    <p:sldId id="430" r:id="rId88"/>
    <p:sldId id="431" r:id="rId89"/>
    <p:sldId id="432" r:id="rId90"/>
    <p:sldId id="300" r:id="rId91"/>
    <p:sldId id="302" r:id="rId92"/>
    <p:sldId id="433" r:id="rId93"/>
    <p:sldId id="434" r:id="rId94"/>
    <p:sldId id="435" r:id="rId95"/>
    <p:sldId id="441" r:id="rId96"/>
    <p:sldId id="436" r:id="rId97"/>
    <p:sldId id="440" r:id="rId98"/>
    <p:sldId id="437" r:id="rId99"/>
    <p:sldId id="428" r:id="rId100"/>
    <p:sldId id="438" r:id="rId101"/>
    <p:sldId id="439" r:id="rId102"/>
    <p:sldId id="424" r:id="rId103"/>
    <p:sldId id="442" r:id="rId104"/>
    <p:sldId id="443" r:id="rId105"/>
    <p:sldId id="444" r:id="rId106"/>
    <p:sldId id="445" r:id="rId107"/>
    <p:sldId id="447" r:id="rId108"/>
    <p:sldId id="448" r:id="rId109"/>
    <p:sldId id="450" r:id="rId110"/>
    <p:sldId id="449" r:id="rId111"/>
    <p:sldId id="451" r:id="rId112"/>
    <p:sldId id="452" r:id="rId113"/>
    <p:sldId id="453" r:id="rId114"/>
    <p:sldId id="454" r:id="rId115"/>
    <p:sldId id="425" r:id="rId116"/>
    <p:sldId id="455" r:id="rId117"/>
    <p:sldId id="446" r:id="rId118"/>
    <p:sldId id="458" r:id="rId119"/>
    <p:sldId id="456" r:id="rId120"/>
    <p:sldId id="462" r:id="rId121"/>
    <p:sldId id="463" r:id="rId122"/>
    <p:sldId id="464" r:id="rId123"/>
    <p:sldId id="465" r:id="rId124"/>
    <p:sldId id="466" r:id="rId125"/>
    <p:sldId id="467" r:id="rId126"/>
    <p:sldId id="468" r:id="rId127"/>
    <p:sldId id="471" r:id="rId128"/>
    <p:sldId id="472" r:id="rId129"/>
    <p:sldId id="473" r:id="rId130"/>
    <p:sldId id="477" r:id="rId131"/>
    <p:sldId id="319" r:id="rId132"/>
    <p:sldId id="474" r:id="rId133"/>
    <p:sldId id="475" r:id="rId134"/>
    <p:sldId id="478" r:id="rId135"/>
    <p:sldId id="479" r:id="rId136"/>
    <p:sldId id="480" r:id="rId137"/>
    <p:sldId id="481" r:id="rId138"/>
    <p:sldId id="482" r:id="rId139"/>
    <p:sldId id="469" r:id="rId140"/>
    <p:sldId id="470" r:id="rId141"/>
    <p:sldId id="484" r:id="rId142"/>
    <p:sldId id="341" r:id="rId143"/>
    <p:sldId id="486" r:id="rId144"/>
    <p:sldId id="487" r:id="rId145"/>
    <p:sldId id="485" r:id="rId14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86891" autoAdjust="0"/>
  </p:normalViewPr>
  <p:slideViewPr>
    <p:cSldViewPr snapToGrid="0">
      <p:cViewPr varScale="1">
        <p:scale>
          <a:sx n="100" d="100"/>
          <a:sy n="100" d="100"/>
        </p:scale>
        <p:origin x="97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viewProps" Target="view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heme" Target="theme/theme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 smtClean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 Так какую из версий программ стоит выбрать?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сомнений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деле, принцип единственной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гласит следующее: "Модуль должен иметь одну и только одну причину для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 принимает в качестве аргумента название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файла со списком продуктов, обрабатывает его и выводит их итоговую сумму в консоль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Считывает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Считает общую сумму и выводит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программа среагирует на данное изменение? Сначала обозначим текущую секцию функции, в которой происходит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обработка файла.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самого простого решения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того что делают чаще всего – добавим условие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 находится обработка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 из файлов.</a:t>
            </a:r>
          </a:p>
          <a:p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стала еще больше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Появились повторяющиеся элементы между получением продуктов из API и из файла</a:t>
            </a: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011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получила свою первую модификацию. Можно с уверенностью сказать, что она приобрела свою первую причину для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изменения, то есть ответственность другими словами: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0142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Сокращенный вид. Индикатор в углу означает наличие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 причины для изменения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столкнемся с теми же проблемами. Функция станет больше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появится больше повторяющихся изменений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и в целом размер самой 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сильно мешать работе</a:t>
            </a:r>
          </a:p>
          <a:p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инженеры должны принять определенные меры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Вспомним, что одной из проблем при реализации нового метода получения данных, был тот факт, что разработчику также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приходилось взаимодействовать и со старым способом получения продуктов из файла. Это можно легко исправить, вынесем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данных в отдельные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Отдельные функции чтения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стала гораздо меньше. Рассмотрим актуальную диаграмму компонентов и их ответственностей.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ответственностей, при добавлении нового источника данных изменится только содержимое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действительно, всё что потребуется сделать, так это добавить новую ветку в условие и реализовать новую функцию.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Существующие реализации остальных источников данных не будут затронуты, более того, разработчику не придется даже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утруждать себя и заглядывать внутрь реализации этих функций, так как для добавления нового способа получения продуктов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этом скорее всего не будет никакой нужды.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Постойте, но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`main` содержит в себе поведения, которые изменяются в *разное время* в рамках разных, не</a:t>
            </a:r>
            <a:b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срабатывании определенных на диаграмме ответственностей, будут задействованы элементы программы с меньшим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объемом, что были до этого.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нового изменения.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его просто реализовать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нему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 к конкретно данному виду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в будущем быть уже на </a:t>
            </a:r>
            <a:r>
              <a:rPr lang="ru-RU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Итак, программа получила еще одну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Основная проблема при внесении изменений заключалась в том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Попробуем руководствоваться известным правилом DRY и выносить все что дублируется в отдельные сущности, в частности,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валидацией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оказался *истинным дублированием*: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же образом можно поступить в данном случае?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Одним из вариантов решения проблемы является тактика выжидания. Вместо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  <a:endParaRPr lang="ru-RU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Общее определение гласит следующим образом - если изменение одного компонента вызывает неизбежные изменения в другом, 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 Разберем данное утверждение по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порядку, для начала начнем с перечисления разных типов связи и их силы (элементы приведены в порядке возрастания силы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связи):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случае, если один из элементов контракта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будет изменен, 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потребует своей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модификации*.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семантики, то он зависит и от типа, но не от деталей реализации, ведь одно и то же поведение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может быть реализовано с помощью абсолютно разных алгоритмов.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деталей реализации, то он также зависит и от семантики или конкретного поведения.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Это объясняется правилом преемственности слоев, которое было описано ранее.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разделения и *распределения* ответственностей, что крайне трудно достижимо без основного фактора -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внимательности. Более того, сами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одной стороны хороший дизайн требует времени, с другой - обычно самые серьёзные архитектурные решения принимаются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самом начале проекта. Ошибиться очень просто. К счастью, существует перечень ответственностей, которые достаточно часто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встречаются на разных проектах, независимо от области их применения.</a:t>
            </a:r>
            <a:endParaRPr lang="ru-RU" dirty="0" smtClean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05469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одной стороны хороший дизайн требует времени, с другой - обычно самые серьёзные архитектурные решения принимаются 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самом начале проекта. Ошибиться очень просто. К счастью, существует перечень ответственностей, которые достаточно часто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встречаются на разных проектах, независимо от области их применения.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114956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Самым частым и стандартным подходом является разделение на три слоя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12003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пользовательский интерфейс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т.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е. то как программа представляет себя пользователю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она с ним взаимодействует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440624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 доступ к данным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то как приложение взаимодействует с </a:t>
            </a:r>
            <a:r>
              <a:rPr lang="ru-RU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персистетными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источниками (БД и другие формы хранения информации)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19880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домен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объединяет в себе основные бизнес сущности и взаимосвязи между ними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540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Почему они разделены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Потому что имеют тенденцию изменяться по разным причинам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иметь разные ответственности другими словами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15850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Дизайнеру не понравился цвет/размер/композиция определенного визуального элемента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Было решено интегрировать большее количество конфигураций экранов, сделать дизайн более адаптивным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велик шанс что остальные слои при этом останутся не тронутыми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1500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5504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Исследование вопроса разделения неизбежно привело нас к приложениям, состоящим из двух или более модулей. В последнее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время (на самом деле уже достаточно давно) особенно популярны микро-(сервисы/фронты) и это не удивительно. Программы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растут в сложности, вместе с этим и увеличиваются количество разработчиков, которые их создают и поддерживают. Для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упрощения управления их разделяют на *независимые* команды, каждая из которых занимается своей частью системы.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Вопрос грамотного разбиения программы, с учётом фактических ответственностей как никогда остро стоит при проектировании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 подобного рода. Для наглядности, рассмотрим одну из самых встречающихся проблем.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31972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разрабатывают систему по управлению документами клиентов некоторого банка. В приложении присутствуют два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модуля: мои документы и поддержка. Оба элемента предоставляют возможность оставить отзыв.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206987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нажатию на кнопку "Оставить отзыв" открывается форма: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0922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же можно сделать и для раздела с поддержкой, правда поля формы несколько отличаются: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нажатию "Отправить", происходит сохранение отзыва в рамках общего для отзывов API метода. На этапе проектирования,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инженерами было принято решение вынести отзывы в отдельный модуль: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446256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образом выглядит связь между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элементами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468783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 "Мои документы" вызывает функцию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 которую передает некоторый идентификатор. Далее, посмотрим на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исходный код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34070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содержится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switch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проверяющий аргумент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Далее, в зависимости от того кто является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клиентом, строится форма содержащая указанные поля, по нажатию "Отправить" данные передаются в общий сервис через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функцию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sendReview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всегда, самым первым и зачастую очевидным признаком смешивания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является размер функции. Это, конечно, не значит что всякая большая функция обязательно имеет несколько источников для изменений. Это стоит воспринимать как признак требующий более пристального внимания от инженера.</a:t>
            </a:r>
          </a:p>
          <a:p>
            <a:endParaRPr 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будем спешить и заниматься преждевременными оптимизациями, вместо этого мы, как всегда, понаблюдаем за тем, как такой дизайн будет реагировать на входящие </a:t>
            </a:r>
            <a:r>
              <a:rPr lang="ru-RU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884570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Аналитик из команды "Мои документы" решил, что оставляемой в отзыве информации не достаточно, пользователь также должен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указать свои пожелания по заполняемому составу. Разработчики вносят необходимые изменения в модуль "Отзыв":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64370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дело осталось за простым, отправить новую реализацию в тестирование и дело в шляпе, верно? Не совсем. Прежде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всего, необходимо выпустить новую версию модуля "Отзыв" со свежими изменениями: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803669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вынудит ожидаемо перепроверить форму в модуле Мои документы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906487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также нужно будет убедиться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поддержка осталась не тронутой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изменился исходный код модуля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который она использует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446049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 сокращения общности можно сказать что ситуация полностью симметрична с обеих сторон. Рассмотрим диаграмму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Ситуация которую мы уже встречали прежде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общий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 объединяющий в себе разные ответственности от своих клиентов. В данном случае это вызвало хрупкость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особо запущенных случаях это также рождает жесткость системы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требуя обязательных изменений в зависимых модулях. Почему так произошло? Возможно разработчики посчитали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Хотя на этот раз ситуация не связана с дублированием, а скорее с неверным определением *функции* модуля, что мы</a:t>
            </a:r>
            <a:r>
              <a:rPr lang="ru-RU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встречали ранее</a:t>
            </a:r>
          </a:p>
          <a:p>
            <a:endParaRPr lang="ru-RU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Такая реализация обладает всеми негативными свойствами, что были рассмотрены ранее. Более того, в данном случае ситуация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гораздо хуже, ведь *расстояние* между элементами выше.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0235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Расстояние между элементами - это метрика, которая характеризует, насколько легко те или иные части изменять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единовременно.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Расстояние между двумя функциями в одном файле минимальное, ведь их легко изменять вместе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Расстояние между двумя модулями программы с раздельными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релизными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циклами максимально, так как их гораздо сложнее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изменять синхронно.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00214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можно исправить данную ситуацию? Путем разделения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 своим клиентам конечно-же: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теперь содержит истинно общую часть: внешнее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обромление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формы и логику отправки данных. От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конкретных полей она полностью отвязана через ослабление связи.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117184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 smtClean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42932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 smtClean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1257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 smtClean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21166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протяжении всей статьи с разных сторон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демонстировался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столько сам принцип SRP, сколько та ключевая проблема,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которую он призван решить, а именно - адаптивность программы к изменениям. ПО которое плохо поддается изменению называют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исскуственно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сложным*. Для особо запущенных проектов существует даже отдельное понятие - устаревший (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legacy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проект.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Устаревший он не потому, что ему много лет, а из-за того насколько сильно он сопротивляется входящим модификациям.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Устаревшим проект может стать и через неделю.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Существует лишь два инструмента борьбы с искусственной сложностью: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Удаление - необходимо уметь определять избыточные конструкции и избавляться от них. Избыточном, называется такой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элемент системы, без которого она также обладала бы требуемым от неё наблюдаемым поведением.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Разделение - существует прямая корреляция между тем, какое количество ответственностей имеет функция и тем, насколько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сложной она является. В статье это демонстрировалось ни один раз.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бумаге всё звучит просто - функция должна иметь только одну ответственность, если она имеет больше, то просто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раздели! Однако самым сложным здесь является не столько разделение, сколько *определение* того, по каким причинам может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изменяться тот или иной компонент.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18183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Существует лишь два инструмента борьбы с искусственной сложностью: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Удаление - необходимо уметь определять избыточные конструкции и избавляться от них. Избыточном, называется такой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элемент системы, без которого она также обладала бы требуемым от неё наблюдаемым поведением.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Разделение - существует прямая корреляция между тем, какое количество ответственностей имеет функция и тем, насколько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сложной она является. В статье это демонстрировалось ни один раз.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бумаге всё звучит просто - функция должна иметь только одну ответственность, если она имеет больше, то просто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раздели! Однако самым сложным здесь является не столько разделение, сколько *определение* того, по каким причинам может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изменяться тот или иной компонент.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22722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будущем. Единственный вариант - это выпуск первой, самой простой версии,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b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311F87-8142-4AA9-951B-96014A4B4A25}" type="datetimeFigureOut">
              <a:rPr lang="ru-RU" smtClean="0"/>
              <a:t>04.06.2024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2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2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2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62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738945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98230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677985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849098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849098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</a:t>
            </a:r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 smtClean="0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 smtClean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  <a:endParaRPr lang="en-US" sz="4800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30" y="257358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230" y="1347470"/>
            <a:ext cx="2476500" cy="40005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40255" y="2020888"/>
            <a:ext cx="8111490" cy="2816225"/>
            <a:chOff x="1972310" y="2407919"/>
            <a:chExt cx="8111490" cy="2816225"/>
          </a:xfrm>
        </p:grpSpPr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2310" y="2407919"/>
              <a:ext cx="2816225" cy="2816225"/>
            </a:xfrm>
            <a:prstGeom prst="rect">
              <a:avLst/>
            </a:prstGeom>
          </p:spPr>
        </p:pic>
        <p:grpSp>
          <p:nvGrpSpPr>
            <p:cNvPr id="7" name="Группа 6"/>
            <p:cNvGrpSpPr/>
            <p:nvPr/>
          </p:nvGrpSpPr>
          <p:grpSpPr>
            <a:xfrm>
              <a:off x="6028055" y="2407919"/>
              <a:ext cx="4055745" cy="2816225"/>
              <a:chOff x="6028055" y="2407919"/>
              <a:chExt cx="4055745" cy="2816225"/>
            </a:xfrm>
          </p:grpSpPr>
          <p:pic>
            <p:nvPicPr>
              <p:cNvPr id="4" name="Рисунок 3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28055" y="2407919"/>
                <a:ext cx="2816225" cy="2816225"/>
              </a:xfrm>
              <a:prstGeom prst="rect">
                <a:avLst/>
              </a:prstGeom>
            </p:spPr>
          </p:pic>
          <p:pic>
            <p:nvPicPr>
              <p:cNvPr id="6" name="Рисунок 5"/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67575" y="2407919"/>
                <a:ext cx="2816225" cy="281622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33466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3210396" y="1736814"/>
            <a:ext cx="6230023" cy="381371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2802" y="1881975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main()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27879" y="3144908"/>
            <a:ext cx="1995055" cy="9975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Источник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403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926"/>
          <a:stretch/>
        </p:blipFill>
        <p:spPr>
          <a:xfrm>
            <a:off x="6725012" y="528952"/>
            <a:ext cx="3729628" cy="5292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  <a:endParaRPr lang="en-US" dirty="0">
                  <a:solidFill>
                    <a:schemeClr val="tx1"/>
                  </a:solidFill>
                  <a:latin typeface="Roboto" panose="02000000000000000000" pitchFamily="2" charset="0"/>
                </a:endParaRP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  <a:endParaRPr lang="en-US" dirty="0">
                  <a:solidFill>
                    <a:schemeClr val="tx1"/>
                  </a:solidFill>
                  <a:latin typeface="Roboto" panose="02000000000000000000" pitchFamily="2" charset="0"/>
                </a:endParaRP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 smtClean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 smtClean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1110589" cy="5201920"/>
            <a:chOff x="595086" y="0"/>
            <a:chExt cx="11110589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3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3"/>
            <a:srcRect t="49448" b="13199"/>
            <a:stretch/>
          </p:blipFill>
          <p:spPr>
            <a:xfrm>
              <a:off x="7019737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7019737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3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3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 smtClean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 smtClean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23" y="789710"/>
            <a:ext cx="11599268" cy="496650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5004261" y="1249746"/>
            <a:ext cx="1529543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8997141" y="806336"/>
            <a:ext cx="244948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3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4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 smtClean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2200260" cy="338554"/>
            <a:chOff x="8052781" y="706009"/>
            <a:chExt cx="2200260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 smtClean="0"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3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3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 smtClean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 smtClean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2200260" cy="338554"/>
            <a:chOff x="8052781" y="706009"/>
            <a:chExt cx="2200260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2200260" cy="338554"/>
            <a:chOff x="8052781" y="706009"/>
            <a:chExt cx="2200260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 smtClean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 smtClean="0">
                <a:latin typeface="Roboto" panose="02000000000000000000" pitchFamily="2" charset="0"/>
              </a:rPr>
              <a:t>Невалидный</a:t>
            </a:r>
            <a:r>
              <a:rPr lang="ru-RU" sz="1600" dirty="0" smtClean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 smtClean="0">
                <a:latin typeface="Roboto" panose="02000000000000000000" pitchFamily="2" charset="0"/>
              </a:rPr>
              <a:t>()</a:t>
            </a:r>
            <a:endParaRPr lang="en-US" dirty="0">
              <a:latin typeface="Roboto" panose="02000000000000000000" pitchFamily="2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 smtClean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 smtClean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 smtClean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3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 smtClean="0"/>
                <a:t>Тип</a:t>
              </a:r>
              <a:endParaRPr lang="ru-RU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 smtClean="0"/>
                <a:t>Тип</a:t>
              </a:r>
              <a:endParaRPr lang="ru-RU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 smtClean="0"/>
                <a:t>Тип</a:t>
              </a:r>
              <a:endParaRPr lang="ru-RU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 smtClean="0">
                <a:solidFill>
                  <a:schemeClr val="tx1"/>
                </a:solidFill>
              </a:rPr>
              <a:t>Тип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Реализация</a:t>
            </a:r>
            <a:endParaRPr lang="ru-RU" sz="28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 smtClean="0"/>
              <a:t>Семантика</a:t>
            </a:r>
            <a:endParaRPr lang="ru-RU" sz="28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 smtClean="0"/>
                <a:t>Тип</a:t>
              </a:r>
              <a:endParaRPr lang="ru-RU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 smtClean="0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 smtClean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 smtClean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048" y="1777048"/>
            <a:ext cx="3303905" cy="330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448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СЛОИ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88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9744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17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135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536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3472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852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8779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МИКРО-</a:t>
            </a:r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$@#@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609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364"/>
          <a:stretch/>
        </p:blipFill>
        <p:spPr>
          <a:xfrm>
            <a:off x="2491041" y="140682"/>
            <a:ext cx="7524539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308457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34" r="19454"/>
          <a:stretch/>
        </p:blipFill>
        <p:spPr>
          <a:xfrm>
            <a:off x="1990725" y="222250"/>
            <a:ext cx="8200294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290704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4" r="12109"/>
          <a:stretch/>
        </p:blipFill>
        <p:spPr>
          <a:xfrm>
            <a:off x="1352550" y="403225"/>
            <a:ext cx="9363075" cy="60515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572135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5099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908" y="1904759"/>
            <a:ext cx="9166185" cy="30484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38003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6342" y="203200"/>
            <a:ext cx="4276292" cy="64706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730930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7344"/>
          <a:stretch/>
        </p:blipFill>
        <p:spPr>
          <a:xfrm>
            <a:off x="4076700" y="341585"/>
            <a:ext cx="4022724" cy="624971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4076701" y="1815010"/>
            <a:ext cx="4022724" cy="678807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3766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v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2716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v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v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2642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v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v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7160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6922511" y="293451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6637887" y="293451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043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РАССТОЯНИЕ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144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3053" y="982369"/>
            <a:ext cx="5805895" cy="48932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93788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50" y="938212"/>
            <a:ext cx="6972300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930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Roboto" panose="02000000000000000000" pitchFamily="2" charset="0"/>
              </a:rPr>
              <a:t>v</a:t>
            </a:r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1492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 smtClean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771988" y="292430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10073034" y="2924306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8820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304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274838"/>
            <a:ext cx="64043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УДАЛЕНИЕ</a:t>
            </a:r>
          </a:p>
          <a:p>
            <a:pPr algn="ctr"/>
            <a:endParaRPr lang="ru-RU" sz="4800" dirty="0" smtClean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ctr"/>
            <a:r>
              <a:rPr lang="ru-RU" sz="4800" dirty="0" smtClean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912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17557</TotalTime>
  <Words>2843</Words>
  <Application>Microsoft Office PowerPoint</Application>
  <PresentationFormat>Широкоэкранный</PresentationFormat>
  <Paragraphs>555</Paragraphs>
  <Slides>145</Slides>
  <Notes>145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145</vt:i4>
      </vt:variant>
    </vt:vector>
  </HeadingPairs>
  <TitlesOfParts>
    <vt:vector size="150" baseType="lpstr">
      <vt:lpstr>Arial</vt:lpstr>
      <vt:lpstr>Calibri</vt:lpstr>
      <vt:lpstr>Calibri Light</vt:lpstr>
      <vt:lpstr>Roboto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Khaimov Roman</cp:lastModifiedBy>
  <cp:revision>254</cp:revision>
  <dcterms:created xsi:type="dcterms:W3CDTF">2024-05-14T14:02:45Z</dcterms:created>
  <dcterms:modified xsi:type="dcterms:W3CDTF">2024-06-04T11:48:03Z</dcterms:modified>
</cp:coreProperties>
</file>