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7"/>
  </p:notesMasterIdLst>
  <p:sldIdLst>
    <p:sldId id="257" r:id="rId2"/>
    <p:sldId id="493" r:id="rId3"/>
    <p:sldId id="491" r:id="rId4"/>
    <p:sldId id="366" r:id="rId5"/>
    <p:sldId id="367" r:id="rId6"/>
    <p:sldId id="368" r:id="rId7"/>
    <p:sldId id="369" r:id="rId8"/>
    <p:sldId id="370" r:id="rId9"/>
    <p:sldId id="261" r:id="rId10"/>
    <p:sldId id="262" r:id="rId11"/>
    <p:sldId id="260" r:id="rId12"/>
    <p:sldId id="263" r:id="rId13"/>
    <p:sldId id="371" r:id="rId14"/>
    <p:sldId id="372" r:id="rId15"/>
    <p:sldId id="373" r:id="rId16"/>
    <p:sldId id="374" r:id="rId17"/>
    <p:sldId id="500" r:id="rId18"/>
    <p:sldId id="375" r:id="rId19"/>
    <p:sldId id="376" r:id="rId20"/>
    <p:sldId id="377" r:id="rId21"/>
    <p:sldId id="378" r:id="rId22"/>
    <p:sldId id="379" r:id="rId23"/>
    <p:sldId id="381" r:id="rId24"/>
    <p:sldId id="385" r:id="rId25"/>
    <p:sldId id="388" r:id="rId26"/>
    <p:sldId id="382" r:id="rId27"/>
    <p:sldId id="384" r:id="rId28"/>
    <p:sldId id="386" r:id="rId29"/>
    <p:sldId id="387" r:id="rId30"/>
    <p:sldId id="389" r:id="rId31"/>
    <p:sldId id="390" r:id="rId32"/>
    <p:sldId id="391" r:id="rId33"/>
    <p:sldId id="393" r:id="rId34"/>
    <p:sldId id="266" r:id="rId35"/>
    <p:sldId id="394" r:id="rId36"/>
    <p:sldId id="395" r:id="rId37"/>
    <p:sldId id="396" r:id="rId38"/>
    <p:sldId id="268" r:id="rId39"/>
    <p:sldId id="397" r:id="rId40"/>
    <p:sldId id="398" r:id="rId41"/>
    <p:sldId id="269" r:id="rId42"/>
    <p:sldId id="399" r:id="rId43"/>
    <p:sldId id="275" r:id="rId44"/>
    <p:sldId id="504" r:id="rId45"/>
    <p:sldId id="400" r:id="rId46"/>
    <p:sldId id="402" r:id="rId47"/>
    <p:sldId id="403" r:id="rId48"/>
    <p:sldId id="273" r:id="rId49"/>
    <p:sldId id="274" r:id="rId50"/>
    <p:sldId id="276" r:id="rId51"/>
    <p:sldId id="277" r:id="rId52"/>
    <p:sldId id="488" r:id="rId53"/>
    <p:sldId id="278" r:id="rId54"/>
    <p:sldId id="404" r:id="rId55"/>
    <p:sldId id="279" r:id="rId56"/>
    <p:sldId id="405" r:id="rId57"/>
    <p:sldId id="356" r:id="rId58"/>
    <p:sldId id="406" r:id="rId59"/>
    <p:sldId id="280" r:id="rId60"/>
    <p:sldId id="358" r:id="rId61"/>
    <p:sldId id="407" r:id="rId62"/>
    <p:sldId id="355" r:id="rId63"/>
    <p:sldId id="496" r:id="rId64"/>
    <p:sldId id="497" r:id="rId65"/>
    <p:sldId id="408" r:id="rId66"/>
    <p:sldId id="360" r:id="rId67"/>
    <p:sldId id="285" r:id="rId68"/>
    <p:sldId id="410" r:id="rId69"/>
    <p:sldId id="411" r:id="rId70"/>
    <p:sldId id="361" r:id="rId71"/>
    <p:sldId id="412" r:id="rId72"/>
    <p:sldId id="362" r:id="rId73"/>
    <p:sldId id="290" r:id="rId74"/>
    <p:sldId id="291" r:id="rId75"/>
    <p:sldId id="413" r:id="rId76"/>
    <p:sldId id="414" r:id="rId77"/>
    <p:sldId id="292" r:id="rId78"/>
    <p:sldId id="415" r:id="rId79"/>
    <p:sldId id="416" r:id="rId80"/>
    <p:sldId id="417" r:id="rId81"/>
    <p:sldId id="418" r:id="rId82"/>
    <p:sldId id="419" r:id="rId83"/>
    <p:sldId id="420" r:id="rId84"/>
    <p:sldId id="421" r:id="rId85"/>
    <p:sldId id="422" r:id="rId86"/>
    <p:sldId id="423" r:id="rId87"/>
    <p:sldId id="499" r:id="rId88"/>
    <p:sldId id="498" r:id="rId89"/>
    <p:sldId id="503" r:id="rId90"/>
    <p:sldId id="427" r:id="rId91"/>
    <p:sldId id="501" r:id="rId92"/>
    <p:sldId id="429" r:id="rId93"/>
    <p:sldId id="430" r:id="rId94"/>
    <p:sldId id="502" r:id="rId95"/>
    <p:sldId id="431" r:id="rId96"/>
    <p:sldId id="432" r:id="rId97"/>
    <p:sldId id="300" r:id="rId98"/>
    <p:sldId id="302" r:id="rId99"/>
    <p:sldId id="433" r:id="rId100"/>
    <p:sldId id="434" r:id="rId101"/>
    <p:sldId id="435" r:id="rId102"/>
    <p:sldId id="441" r:id="rId103"/>
    <p:sldId id="436" r:id="rId104"/>
    <p:sldId id="440" r:id="rId105"/>
    <p:sldId id="437" r:id="rId106"/>
    <p:sldId id="428" r:id="rId107"/>
    <p:sldId id="438" r:id="rId108"/>
    <p:sldId id="439" r:id="rId109"/>
    <p:sldId id="424" r:id="rId110"/>
    <p:sldId id="442" r:id="rId111"/>
    <p:sldId id="443" r:id="rId112"/>
    <p:sldId id="444" r:id="rId113"/>
    <p:sldId id="445" r:id="rId114"/>
    <p:sldId id="447" r:id="rId115"/>
    <p:sldId id="448" r:id="rId116"/>
    <p:sldId id="450" r:id="rId117"/>
    <p:sldId id="449" r:id="rId118"/>
    <p:sldId id="451" r:id="rId119"/>
    <p:sldId id="452" r:id="rId120"/>
    <p:sldId id="453" r:id="rId121"/>
    <p:sldId id="454" r:id="rId122"/>
    <p:sldId id="425" r:id="rId123"/>
    <p:sldId id="455" r:id="rId124"/>
    <p:sldId id="485" r:id="rId125"/>
    <p:sldId id="492" r:id="rId1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FFFF"/>
    <a:srgbClr val="000000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67901" autoAdjust="0"/>
  </p:normalViewPr>
  <p:slideViewPr>
    <p:cSldViewPr snapToGrid="0">
      <p:cViewPr varScale="1">
        <p:scale>
          <a:sx n="58" d="100"/>
          <a:sy n="58" d="100"/>
        </p:scale>
        <p:origin x="163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26.06.2024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cs typeface="Calibri"/>
              </a:rPr>
              <a:t>Меня зовут Роман и уже на протяжении</a:t>
            </a:r>
            <a:r>
              <a:rPr lang="ru-RU" baseline="0" dirty="0">
                <a:cs typeface="Calibri"/>
              </a:rPr>
              <a:t> чуть более 7 лет я работаю в </a:t>
            </a:r>
            <a:r>
              <a:rPr lang="ru-RU" baseline="0" dirty="0" err="1">
                <a:cs typeface="Calibri"/>
              </a:rPr>
              <a:t>Рексофт</a:t>
            </a:r>
            <a:r>
              <a:rPr lang="ru-RU" baseline="0" dirty="0">
                <a:cs typeface="Calibri"/>
              </a:rPr>
              <a:t>. Основное направление моей деятельности заключается в оптимизации процесса производства.</a:t>
            </a:r>
          </a:p>
          <a:p>
            <a:endParaRPr lang="ru-RU" baseline="0" dirty="0">
              <a:cs typeface="Calibri"/>
            </a:endParaRPr>
          </a:p>
          <a:p>
            <a:r>
              <a:rPr lang="ru-RU" baseline="0" dirty="0">
                <a:cs typeface="Calibri"/>
              </a:rPr>
              <a:t>И принцип единственной ответственности занимает здесь далеко не последнюю роль. Точнее не сам принцип</a:t>
            </a:r>
            <a:r>
              <a:rPr lang="en-US" baseline="0" dirty="0">
                <a:cs typeface="Calibri"/>
              </a:rPr>
              <a:t>, </a:t>
            </a:r>
            <a:r>
              <a:rPr lang="ru-RU" baseline="0" dirty="0">
                <a:cs typeface="Calibri"/>
              </a:rPr>
              <a:t>а та корневая проблема</a:t>
            </a:r>
            <a:r>
              <a:rPr lang="en-US" baseline="0" dirty="0">
                <a:cs typeface="Calibri"/>
              </a:rPr>
              <a:t>, </a:t>
            </a:r>
            <a:r>
              <a:rPr lang="ru-RU" baseline="0" dirty="0">
                <a:cs typeface="Calibri"/>
              </a:rPr>
              <a:t>которую он призван решить</a:t>
            </a:r>
            <a:r>
              <a:rPr lang="en-US" baseline="0" dirty="0">
                <a:cs typeface="Calibri"/>
              </a:rPr>
              <a:t>, </a:t>
            </a:r>
            <a:r>
              <a:rPr lang="ru-RU" baseline="0" dirty="0">
                <a:cs typeface="Calibri"/>
              </a:rPr>
              <a:t>но обо всём по порядку.</a:t>
            </a:r>
            <a:endParaRPr lang="en-US" dirty="0">
              <a:cs typeface="Calibri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157BE-13C9-4B69-8B03-B7B56862D10D}" type="slidenum"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564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Все мы программисты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начинали свой путь с написания простой программы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88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добавляя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новые поведения, мы замечали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исходного кода начинает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становится больше.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неумолимо заставляют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программу расти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 некоторое время мы с неприятным для себя удивлением обнаруживаем, что контролировать систему стало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Знакомая каждому ситуация, когда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начале проекта задачи реализуются относительно легко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потом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определенной точки система становится запутанной и непредсказуемой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способов 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Казалось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-бы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нет ничего проще чем разбить один большой файл на несколько маленьких. Но тут возникают ряд 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какое количество компонентов нужно разбить одно целое? Их должно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быть 2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или 6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другим? Какая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у них должна быть дислокация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самое важные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к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акие между ними должны быть зависимости?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Какая у них должна быть сила и направленность?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программу,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ответственности 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спрашивая у других разработчиков а как они понимают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принцип 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SRP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услышать такое определение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 должен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иметь одну ответственность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 делать что-то одно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Соответственно если компонент делает слишком много-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-то его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нужно просто разделить.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Вроде легко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небольшой пример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0342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 вами простая функция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неё специально опущено название. Все что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она делает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это складывает два числа вместе.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считает что данная функция имеет одну ответственность? Кто считает что больше?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добавим простое умножение на некоторый коэффициент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операций стало больше.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 считает что теперь и ответственностей также стало больше?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добавим немного имён. Функция теперь называется </a:t>
            </a:r>
            <a:r>
              <a:rPr lang="en-US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computeTaxedPrice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всё что она делает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это считает сумму стоимости продуктов с учётом налога. Обратите внимание на то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операции те же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 считает что ответственностей по прежнему несколько? Вот запутал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Ну</a:t>
            </a:r>
            <a:r>
              <a:rPr lang="ru-RU" baseline="0" dirty="0"/>
              <a:t> допустим что ответственностей всё же несколько</a:t>
            </a:r>
            <a:r>
              <a:rPr lang="en-US" baseline="0" dirty="0"/>
              <a:t>, </a:t>
            </a:r>
            <a:r>
              <a:rPr lang="ru-RU" baseline="0" dirty="0"/>
              <a:t>что мы должны сделать? Естественно разделить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делает что-то одно. Но действительно ли стало лучше? Действительно ли стало проще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Причиной появления таких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неопределенностей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было использование такого понятия как "функция модуля". То, за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Гораздо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практичнее определять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принцип единственной ответственности следующим образом: "Модуль должен иметь одну и только одну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изменения".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качестве примера возьмем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рограмму которая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принимает в себя файл со списком продуктов и выводит их общую стоимость в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консоль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Сам файл содержит в себе обычный текст где в каждой строчке перечислен продукт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параметры которого разделены запятой. В данном случае это имя и стоимость товара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984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логика реализована в одной функции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её сверху вниз по секциям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09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Вначале она считывает переданный файл с локального диска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строки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валидирует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заполняет список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products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881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 просто считает общую сумму и выводит её в консоль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984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я перечислил поведение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уже как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намекает на определенные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ответственности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если мы руководствуемся первым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самым удобным определением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SRP</a:t>
            </a: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 х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очу чтобы вы обратили особое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внимание на то что мы сейчас сделаем.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заниматься преждевременными оптимизациями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разделять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код раньше времени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уберем руки от клавиатуры 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подождем новых требований к системе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494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Проходит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некоторое время.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Приходит заказчик и говорит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51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 хочу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программа могла доставать продукты не только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 локального диска-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8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и считывать их из удаленного источника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 от сервера по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образом программа среагирует на такое изменение?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33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Данная секция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завязана на конкретный способ получения продуктов из локального файла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155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поэтому мы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добавить новый способ прибегаем к самому простому варианту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именно – к использованию условий. Функция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в себя принимает более широкий тип который сужается через использование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statement.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9009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Старый способ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получения продуктов располагается в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ветке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 остался без изменений.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теперь удовлетворяет новым требованиям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нам здесь интересно другое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43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отредактирована. Можно с уверенностью сказать, что она приобрела свою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первую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Индикатор в углу означает наличие определенной ответственности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перевести на русский это значит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следующий раз когда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заказчик опять потребует добавить новый источник данных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должны будем изменить исходный код функции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напрямую. В процессе чего столкнемся с теми же проблемами и последствиями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 сопровождают нас сейчас.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рассмотреть их подробнее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Прежде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всего обратим внимание на то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п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ри добавлении нового источника продуктов нам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наврятли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полезно видеть реализацию остальных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существующих. Избавиться от этого шума легко, просто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отделив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методов получения в разные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775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Слева функция получения продуктов из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Справа процедура получения из локального файла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5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Вследствие такого отделения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ожидаемо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стала гораздо меньше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5025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 хорошо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уменьшили размер основной функции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 где же то самое разделение ответственностей?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на то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далеко не весь код оказался полезным в рамках добавления нового источника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товаров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5578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 данная секция осталась в своём первозданном виде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1474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ответственностей несколько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попробуем разделить их на отдельные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функции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98140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добавлении нового источника товаров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будет изменена исключительно функция </a:t>
            </a:r>
            <a:r>
              <a:rPr lang="en-US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-которая имеет меньший объем чем был у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изначально.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Получение продуктов и логика дальнейшей их обработки оказались раздельными не из-за того что я их перечислил через запятую. Сам заказчик продемонстрировал нам это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через свои требования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19299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Оглянемся назад и попробуем обобщить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то что сейчас произошло.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получила стресс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виде новой задачи.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8219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её просто реализовать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бы адаптировались к ней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выработали иммунитет. Для того чтобы в будущем она отняла у нас меньше времени и ресурсов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723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пользователи системы обнаруживают, что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 зачастую попадаются продукты с негативной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ценой: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Обсудив проблему с заказчиком, было решено доработать функцию валидации данных, чтобы она не пропускала такие продукты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166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Внимательно изучив код, разработчик обнаруживает достаточно интересный факт - обе функции получения продуктов содержат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идентичный код валидации.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внесения изменений, файл выглядит следующим образом: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что стоит обратить своё внимание - обе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изменились в результате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 той же задачи. Это означает, что между ними есть общая ответственность или общая причина для изменений: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Они изменились одновременно и поведение валидации в них идентичное. Если в будущем альтернативных источников товаров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станет больше и правила валидации будут меняться часто, это может негативно повлиять на производительность труда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продукт валидный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получаем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соответсвующий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экземпляр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противном случае – возвращается ничто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62931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действительно, теперь, при возникновении новых требований для валидации, все изменения будут сконцентрированы в одном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месте и автоматически выполняться для всех источников данных.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 про слона в комнате. Очевидно, что предыдущая ситуация была связана с явным повторением кода валидации. Он был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идентичным между двумя функциями получения продуктов, так почему же не называть вещи своими именами? Зачем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пытаться объяснить проблему косноязычно, через ответственности?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163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поступить проще и выносить все что дублируется визуально в отдельные сущности, в частности,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данные секции полностью повторяются между двумя источниками данных: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его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19697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она используется в одном из источников данных: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действительно стало меньше, для кого-то, он даже стал более читаемым*. Так зачем же утруждать себя рассуждениями 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причинах изменения, ответственностях, если можно просто визуально определить идентичный код и вынести его в отдельный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метод?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разработчики предоставляющие списки продуктов через API заявили: "Теперь, в качестве разделителя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параметров продукта будет использоваться символ `|`, а не `,` как прежде". Каким образом система отреагирует на данное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953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Напомним, что сейчас, конкретный разделитель зашит внутри общей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Самое очевидное что можно сделать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это параметризировать данный элемент. Общая функция теперь стала чуть более *абстрактной*, конечно, ей же теперь нужно поддержать больше возможных поведений.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вот что интересно, в результате добавления нового и *обязательного* аргумента,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 что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обратывает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из локальных файлов, также требует модификации: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9697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66394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3742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Текущий дизайн системы, заставил разработчика изменить больше модулей, чем того требовала задача по своему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смыслу. Инженеров попросили поменять дверь, а в итоге им пришлось снести фундамент и строить всё заново.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Такое свойство дизайна называется *жесткостью*.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02314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Эту проблему можно решить путем использования опциональных аргументов. В таком случае, действительно,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останется нетронутой, ведь требуемое ею поведение станет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умолчанию. Система уже не кажется такой жесткой, ведь изменения сконцентрированы в меньшем числе компонентов.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ли все так в порядке, как кажется на первый взгляд?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изменена. Любая модификация функции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имеет все шансы оказать негативный эффект на наблюдаемое поведение, вызывать *регресс* другими словами.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пример, хоть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не потребовал изменений, его поведение могло измениться, ведь исходный код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из используемых им частей был изменен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Такой свойство также является одним из проявлений дизайна и имеет название `хрупкость`. Основным виновником здесь всегда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некий общий компонент, модификации которого влияют не только на какого-то конкретного клиента, но и на всех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 его пользователей.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54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несколько месяцев после релиза заказчик решает несколько доработать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систему, а именно - для продуктов полученных из локального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 необходимо немного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иначе проводить обработку невалидных строчек, а именно, вставлять в качестве продукта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продукт` и указывать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его сумму как `0`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6194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не просто пропускать продукт как это происходит сейчас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Требование предназначено для конкретного источника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Реализация требует изменения общего компонента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1431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его внести по образу и подобию с предыдущим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используется опциональный аргумент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не было жесткости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 и условие так как поведения у нас разные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один занимательный факт - изменение, чисто логически, предназначалось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продуктов, полученных из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`), но большая часть логики оказалась внутри общей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 сожалению, тут проблемы только начинаются. Вспомним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дополнительную ответственность, которая представляет собой все, что функция делает помимо обработки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является *ответственной*, то есть от неё зависят много клиентов, в то время как она сама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зависима ни от кого. Ответственные компоненты трудно изменять напрямую, как раз вследствие существования их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пользователей, которые к каждой такой модификации будут чувствительны, либо явно через *жесткость*, либо неявно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*хрупкость*.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случае, наличие у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нескольких ответственностей прежде всего говорит о том, что такой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элемент будет изменяться *чаще* чем обычно. При этом, каждая модификация будет дополнительно усложнена жесткостью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хрупкостью дизайна.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Несмотря на визуальную схожесть функций источников между собой, ответственности данных секций со временем оказались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*разными*, что и привело в итоге к дизайну, плохо адаптированному под рассмотренные изменения: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8546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так называемое ложное или временное дублирование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4748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Просто так получилось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какой-то момент векторы изменений обеих функций пересеклись в некоторой точке, что и привело к идентичному коду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так как основные драйверы изменений в источниках данных были разными, наш общий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начал раздуваться, пытавшись покрыть все более разрозненные требования от совершенно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 клиентов привнося в дизайн признаки жесткости и хрупкости.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же тогда такое настоящее дублирование? Дублирующим, называется код, удовлетворяющий двум основным критериям: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6584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 обладает одинаковым наблюдаемым поведением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 обладает одинаковыми ответственностями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по простому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дублирующим называется код который обладает одинаковым набл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только сейчас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и в будущем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1182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с валидацией оказался *истинным дублированием*: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Правила валидации оказались идентичными для обоих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Новое требование потребовало одновременно и одинаковым образом поменять поведение обеих функций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144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внимание, что клиенты *используют* ответственность валидации между собой. Это означает, что любые изменения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логике проверки продукта инициированные одним клиентом, будут полезны и для всех остальных пользователей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А вот как бы выглядела ситуация если бы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 существовало: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88462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количество модулей на одну ответственность увеличилось. То есть увеличилось то количество работы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которой разработчику придётся выполнить для того чтобы реализовать задачу. Это конечно при условии идентичности наблюдаемого поведения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1999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рассмотрим ложное дублирование, также через диаграммы ответственностей: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5198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количество ответственностей от этого не изменилось, не уменьшилось также и количество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затрагиваемых модулей для каждого источника изменений по отдельности.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сути, добавив общий компонент, инженеры ничего не выиграли, наоборот, только сильнее усложнив модификацию системы,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как было сказано ранее, общий компонент содержащий в себе несколько ответственностей изменять достаточно не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силу проявляющейся жесткости и хрупкости дизайна.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7558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Вместе со срабатыванием конкретной ответственности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входит в что-то вроде суперпозиции,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она, в рамках взятого источника изменений, преобразуется для одного клиента (для которого изменение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предназначено), но остается неизменной для всех остальных.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65877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3961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 рассматриваемая ситуация не является чем то специфичным исключительно для маленьких функций.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55966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Проблема является гораздо более распространенной и актуальная в том числе и для много модульных приложений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вот в них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жесткость и хрупкость возникающие вследствие ошибочного определения ответственностей будут иметь гораздо более весомые последствия в виду большей отдаленности модулей друг от друга. Их просто сложнее изменять одновременно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73880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сформулировать следующее правило - чем больше общих ответственностей между модулями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 меньше между ними должно быть расстояние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Они часто изменяются вместе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поэтому имеет смысл расположить их как можно ближе друг к другу.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Верно и обратное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меньше причин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которым разные сущности могут изменяться вместе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 дальше друг от друга они должны быть расположены.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Нарушением данного баланса и объясняются такие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антипаттерны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shotgun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surgary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где для реализации задачи приходится вносить много точечные изменения в куче разных модулей вместо того чтобы изменить один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такой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рассматривается сейчас. Где очень часто изменяется один модуль и притягивает изменения как магнит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причем с каждой такой модификацией он становится только больше и сложнее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7096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учетом описанных проблем возникает закономерный вопрос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ли как то определить ответственности в проекте точнее?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8029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Разумным вариантом решения проблемы будет придерживаться тактики выжидания.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0074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Вместо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спешить и избавляться от того, что нам кажется одинаковым, стоит взять таймаут и понаблюдать над тем каким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образом система будет развиваться со временем.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0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ввиду наличия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ответственностей, разных причин для изменений, со временем они скорее всего будут отличаться все сильнее. Обратите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 на то,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такая реализация уже не обладает признаками жесткости и хрупкости, а конкретное поведение гораздо проще понять.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334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027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7199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1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детального анализа было обнаружено, что несколько функций ссылаются на конкретный способ ввода: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48675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921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причина по которой у нас нет другого выхода кроме как изменить код напрямую заключается в наличии связи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методы объекта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Проблема здесь заключается не столько в самом факте присутствия связи, сколько в её *силе*.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изменение одного компонента вызывает неизбежные изменения в другом, 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компоненты считаются сильно связанными. Иначе связь между ними называется *слабой*.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03116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Большинство более менее популярных языков включают в себя строгую и статическую систему типов. Где каждый элемент имеет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себя явное описание контракта. Без него, было бы невозможно каким-то образом взаимодействовать с объектом, ведь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 случае не совсем понятно какие операции являются для него валидными, а какие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70519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такой связи является зависимость от типа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контракте которого прописано наличие стоимости. Если данный факт измениться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зависимая функция потребует своей модификации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9311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это связь на поведение или семантическая связь.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76539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 что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помечаются специальным именем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345196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которое полностью совпадает с типом представляющим нормальные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наименования товаров*.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80785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как бы давая ей специальный семантический смысл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исходящий из поведения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парсинга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4161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Третий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и самый сильный – это зависимость от деталей реализации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1373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8580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409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данными силами существует связь</a:t>
            </a: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типа, то он зависит только от тех свойств, что из этого типа следуют, ни больше ни меньше.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98209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семантики, то он зависит и от типа, ведь этот объект как-то надо использовать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тоже самое время опираясь на конкретное поведение мы не зависим от деталей реализации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68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деталей реализации, то он также зависит и от семантики или конкретного поведения.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таких слоёв это потенциальная причина для изменений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потенциальная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78695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выше сила зависимости тем больше и ответственностей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сильнее зависимость, тем больше существует причин или ответственностей по которым оба связанных компонента могут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измениться.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99527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Используя ранее описанные определения можно с уверенностью сказать, что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имеют сильную связь со способом вывода. Ссылаясь на конкретный объект, функции ссылаются на конкретное поведение. Из-за этого, в случае когда данная конкретика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меняется, данные сущности также должны быть изменены. Они приобрели данные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из-за величины силы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2836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решить задачу и при этом подготовить систему для подобных казусов в будущем, необходимо ослабить связь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упомянутыми элементами. То есть сдвинуть зависимость ближе к ядру на схеме ниже, то есть на уровень типа*.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72122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Объявим тип, от которого будут зависеть указанные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897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Дальше, данную зависимость нужно каким-то образом поставить компонентам, ограничимся простой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передачи через аргументы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99425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этого компоненты имели сильную зависимость и больше причин для изменений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45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394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раз не будут затронуты они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 их клиенты также останутся неизменными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5563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рассмотренного мини-проекта должно быть очевидно, что одним из важнейших свойств хорошего дизайна системы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адаптивность к модификациям. Программу легко изменять, когда отсутствуют элементы жесткости и хрупкости. Это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требует правильного определения ответственностей, что крайне трудно достижимо без основного фактора -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*времени*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4063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 с течением времени система подвергается различным модификациям, которые и выявляют основные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компонентов. Следовательно, хороший дизайн требует терпения и наблюдательности. Более того, сами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всегда статичны и также могут меняться. Дизайн который хорошо работает сегодня, не факт, что окажется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же полезным завтра, когда условия на проекте изменятся. Но есть кое-что еще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341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США располагается достаточно известный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Примечательным для нас его делает тот факт, что он строился дважды. Инженеры, проектируя его в первый раз, в основном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ориентировались на то, чтобы обеспечить достаточную устойчивость к нагрузке вызванной проходящим по нему трафиком.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Однако, спустя несколько месяцев после возведения он обрушился и произошло это не из-за того, что он не выдержал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избыточного веса машин, а из-за сильного ветра, что раскачивал его из стороны в сторону. Данный пример хорошо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иллюстрирует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основную проблему - до тех пор пока мост не был построен, инженеры не могли знать всех факторов, что могли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воздействовать на него в будущем.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 в программировании, мы редко можем знать заранее, в каком направлении будет изменяться наша система, какими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ответственностями она будет обладать в будущем до тех пор пока не выпустим первую, самую простую версию,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подопытного кролика за которым будут внимательно наблюдать и отмечать все те факторы, что влияют на него из вне. Отсюда и такая популярность итеративных методологий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Заказчик, зачастую, понимает чего он действительно хочет, только после того как увидит первую рабочую версию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продукта. С каждым новым релизом, программа должна учитывать весь предыдущей опыт, становится все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адаптивней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приходящим в неё модификациям, вырабатывать внутренний иммунитет к основным векторам изменений.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учли полученный опыт после первой неудачной попытки возведения моста.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Cпустя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 лет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 был построен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вновь, на том же месте где стоит в целости и сохранности и по сей день.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7502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83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8AF99-DAFA-4FC8-9568-7D664E24F84B}" type="datetime1">
              <a:rPr lang="ru-RU" smtClean="0"/>
              <a:t>26.06.2024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D8F94-3817-47A4-A3BB-120385D98D28}" type="datetime1">
              <a:rPr lang="ru-RU" smtClean="0"/>
              <a:t>26.06.2024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FCDEB-FC84-4639-AE65-6586B9AAEC1E}" type="datetime1">
              <a:rPr lang="ru-RU" smtClean="0"/>
              <a:t>26.06.2024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C6FF6-60F3-4412-8629-667F4255D749}" type="datetime1">
              <a:rPr lang="ru-RU" smtClean="0"/>
              <a:t>26.06.2024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66877-C715-492E-9CF4-930774FF79B0}" type="datetime1">
              <a:rPr lang="ru-RU" smtClean="0"/>
              <a:t>26.06.2024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128E-8050-4D05-B757-0380D9EE8119}" type="datetime1">
              <a:rPr lang="ru-RU" smtClean="0"/>
              <a:t>26.06.2024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BAEF-96C8-45A0-9342-0B94ECE2E2E2}" type="datetime1">
              <a:rPr lang="ru-RU" smtClean="0"/>
              <a:t>26.06.2024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E1AD2-08EA-4D66-A7B2-8A98D5976F81}" type="datetime1">
              <a:rPr lang="ru-RU" smtClean="0"/>
              <a:t>26.06.2024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13F85-3B81-4645-873F-612A21D708C1}" type="datetime1">
              <a:rPr lang="ru-RU" smtClean="0"/>
              <a:t>26.06.2024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6D3D0-8684-4FFC-A659-E60425A7C87C}" type="datetime1">
              <a:rPr lang="ru-RU" smtClean="0"/>
              <a:t>26.06.2024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08888-EEDC-46A7-B7B5-54BB284B412A}" type="datetime1">
              <a:rPr lang="ru-RU" smtClean="0"/>
              <a:t>26.06.2024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4BA101-B661-4E79-9F01-799439C984FE}" type="datetime1">
              <a:rPr lang="ru-RU" smtClean="0"/>
              <a:t>26.06.2024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28.png"/><Relationship Id="rId4" Type="http://schemas.openxmlformats.org/officeDocument/2006/relationships/image" Target="../media/image3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28.png"/><Relationship Id="rId4" Type="http://schemas.openxmlformats.org/officeDocument/2006/relationships/image" Target="../media/image3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4.png"/><Relationship Id="rId4" Type="http://schemas.openxmlformats.org/officeDocument/2006/relationships/image" Target="../media/image4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29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5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43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8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57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64.png"/><Relationship Id="rId4" Type="http://schemas.openxmlformats.org/officeDocument/2006/relationships/image" Target="../media/image35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gif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FAA25CB-64DD-C2F0-00EB-98740145C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0040" y="1404363"/>
            <a:ext cx="7470941" cy="1944000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solidFill>
                  <a:schemeClr val="bg1"/>
                </a:solidFill>
                <a:latin typeface="TTTravels-DemiBold" panose="02000503030000020004" pitchFamily="2" charset="0"/>
              </a:rPr>
              <a:t>Единственная ответственность</a:t>
            </a: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F0CF58F7-5000-6ADF-8DB4-D200B2704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0040" y="3983984"/>
            <a:ext cx="7973999" cy="725262"/>
          </a:xfrm>
        </p:spPr>
        <p:txBody>
          <a:bodyPr/>
          <a:lstStyle/>
          <a:p>
            <a:pPr lvl="0" algn="l">
              <a:defRPr/>
            </a:pPr>
            <a:r>
              <a:rPr lang="ru-RU" kern="0" dirty="0">
                <a:solidFill>
                  <a:schemeClr val="bg1"/>
                </a:solidFill>
                <a:latin typeface="TTTravels-Regular"/>
                <a:sym typeface="TTTravels-Regular"/>
              </a:rPr>
              <a:t>Роман Хаимов</a:t>
            </a:r>
          </a:p>
        </p:txBody>
      </p:sp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776" y="1158764"/>
            <a:ext cx="3941591" cy="3941591"/>
          </a:xfrm>
          <a:prstGeom prst="ellipse">
            <a:avLst/>
          </a:prstGeom>
        </p:spPr>
      </p:pic>
      <p:sp>
        <p:nvSpPr>
          <p:cNvPr id="4" name="Подзаголовок 2"/>
          <p:cNvSpPr txBox="1">
            <a:spLocks/>
          </p:cNvSpPr>
          <p:nvPr/>
        </p:nvSpPr>
        <p:spPr>
          <a:xfrm>
            <a:off x="842981" y="2099502"/>
            <a:ext cx="5400167" cy="2060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TTravels-DemiBold" panose="02000503030000020004" pitchFamily="2" charset="0"/>
                <a:sym typeface="TTTravels-Regular"/>
              </a:rPr>
              <a:t>7 лет работы </a:t>
            </a:r>
            <a:r>
              <a:rPr lang="ru-RU" kern="0" noProof="0" dirty="0">
                <a:latin typeface="TTTravels-DemiBold" panose="02000503030000020004" pitchFamily="2" charset="0"/>
              </a:rPr>
              <a:t>в </a:t>
            </a:r>
            <a:r>
              <a:rPr lang="ru-RU" kern="0" noProof="0" dirty="0" err="1">
                <a:latin typeface="TTTravels-DemiBold" panose="02000503030000020004" pitchFamily="2" charset="0"/>
              </a:rPr>
              <a:t>Рексофт</a:t>
            </a:r>
            <a:endParaRPr kumimoji="0" lang="ru-RU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DemiBold" panose="02000503030000020004" pitchFamily="2" charset="0"/>
              <a:sym typeface="TTTravels-Regular"/>
            </a:endParaRPr>
          </a:p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kern="0" noProof="0" dirty="0"/>
              <a:t>Основное направление – оптимизация процесса производства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TTTravels-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70122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42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1432627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891912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1371667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544300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544300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BBA9C03-398D-4534-B445-64AA3A6FF67B}"/>
              </a:ext>
            </a:extLst>
          </p:cNvPr>
          <p:cNvGrpSpPr/>
          <p:nvPr/>
        </p:nvGrpSpPr>
        <p:grpSpPr>
          <a:xfrm>
            <a:off x="5196000" y="2869313"/>
            <a:ext cx="1800000" cy="1855477"/>
            <a:chOff x="5659557" y="2462913"/>
            <a:chExt cx="1800000" cy="1855477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5659557" y="246291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59557" y="2490651"/>
              <a:ext cx="1800000" cy="18000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1809D99-76B6-4ECD-9677-F5A3BF5F4326}"/>
              </a:ext>
            </a:extLst>
          </p:cNvPr>
          <p:cNvGrpSpPr/>
          <p:nvPr/>
        </p:nvGrpSpPr>
        <p:grpSpPr>
          <a:xfrm>
            <a:off x="2062507" y="1979923"/>
            <a:ext cx="1802950" cy="1855477"/>
            <a:chOff x="2062507" y="1573523"/>
            <a:chExt cx="1802950" cy="1855477"/>
          </a:xfrm>
        </p:grpSpPr>
        <p:sp>
          <p:nvSpPr>
            <p:cNvPr id="6" name="Прямоугольник 2">
              <a:extLst>
                <a:ext uri="{FF2B5EF4-FFF2-40B4-BE49-F238E27FC236}">
                  <a16:creationId xmlns:a16="http://schemas.microsoft.com/office/drawing/2014/main" id="{F9CA7772-852A-49D6-B3CB-9BA8CA712BFA}"/>
                </a:ext>
              </a:extLst>
            </p:cNvPr>
            <p:cNvSpPr/>
            <p:nvPr/>
          </p:nvSpPr>
          <p:spPr>
            <a:xfrm>
              <a:off x="20654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2507" y="1629000"/>
              <a:ext cx="1800000" cy="18000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44A04A-4553-431A-B364-8AD0C6192EC2}"/>
              </a:ext>
            </a:extLst>
          </p:cNvPr>
          <p:cNvGrpSpPr/>
          <p:nvPr/>
        </p:nvGrpSpPr>
        <p:grpSpPr>
          <a:xfrm>
            <a:off x="8326543" y="1941574"/>
            <a:ext cx="1800000" cy="1855477"/>
            <a:chOff x="8910757" y="1573523"/>
            <a:chExt cx="1800000" cy="1855477"/>
          </a:xfrm>
        </p:grpSpPr>
        <p:sp>
          <p:nvSpPr>
            <p:cNvPr id="9" name="Прямоугольник 2">
              <a:extLst>
                <a:ext uri="{FF2B5EF4-FFF2-40B4-BE49-F238E27FC236}">
                  <a16:creationId xmlns:a16="http://schemas.microsoft.com/office/drawing/2014/main" id="{4F6EACD5-BBA8-45D3-98BC-E4FAF7F52777}"/>
                </a:ext>
              </a:extLst>
            </p:cNvPr>
            <p:cNvSpPr/>
            <p:nvPr/>
          </p:nvSpPr>
          <p:spPr>
            <a:xfrm>
              <a:off x="89107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10757" y="1573523"/>
              <a:ext cx="1800000" cy="18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47466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l="1811"/>
          <a:stretch/>
        </p:blipFill>
        <p:spPr>
          <a:xfrm>
            <a:off x="376472" y="2594605"/>
            <a:ext cx="11439057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6684" y="1285686"/>
            <a:ext cx="2476500" cy="4000500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8377881" y="2870437"/>
            <a:ext cx="1847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215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644892" y="2610295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672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43D808D-1EFE-4AB8-87B4-CC38156FE4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031" y="430696"/>
            <a:ext cx="3765938" cy="5996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6208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A46C21-ED5B-4EB6-9AD7-8987B270177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32265"/>
          <a:stretch/>
        </p:blipFill>
        <p:spPr>
          <a:xfrm>
            <a:off x="3551003" y="684067"/>
            <a:ext cx="5089995" cy="54898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8199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23" b="2667"/>
          <a:stretch/>
        </p:blipFill>
        <p:spPr>
          <a:xfrm>
            <a:off x="3352800" y="2222958"/>
            <a:ext cx="5486400" cy="24120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59965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9D89480-3163-4714-B801-F2E5265CC0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031" y="417444"/>
            <a:ext cx="3765938" cy="5996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61505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1694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4750432" cy="1351281"/>
            <a:chOff x="1609409" y="2844799"/>
            <a:chExt cx="4750432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95513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8149584" cy="1351281"/>
            <a:chOff x="1609409" y="2844799"/>
            <a:chExt cx="8149584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7713" y="2844799"/>
              <a:ext cx="1351280" cy="1351280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6708137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3677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93B023E-CBA2-431D-B32C-6234B30D9BE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32044"/>
          <a:stretch/>
        </p:blipFill>
        <p:spPr>
          <a:xfrm>
            <a:off x="3609568" y="725461"/>
            <a:ext cx="4972864" cy="53810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2">
            <a:extLst>
              <a:ext uri="{FF2B5EF4-FFF2-40B4-BE49-F238E27FC236}">
                <a16:creationId xmlns:a16="http://schemas.microsoft.com/office/drawing/2014/main" id="{4622D467-9E49-4B39-8CE0-4A68E50D3C0F}"/>
              </a:ext>
            </a:extLst>
          </p:cNvPr>
          <p:cNvSpPr/>
          <p:nvPr/>
        </p:nvSpPr>
        <p:spPr>
          <a:xfrm>
            <a:off x="3609567" y="920363"/>
            <a:ext cx="4972865" cy="59038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2">
            <a:extLst>
              <a:ext uri="{FF2B5EF4-FFF2-40B4-BE49-F238E27FC236}">
                <a16:creationId xmlns:a16="http://schemas.microsoft.com/office/drawing/2014/main" id="{EC224943-57C4-4517-96B2-3A7344039B18}"/>
              </a:ext>
            </a:extLst>
          </p:cNvPr>
          <p:cNvSpPr/>
          <p:nvPr/>
        </p:nvSpPr>
        <p:spPr>
          <a:xfrm>
            <a:off x="5035826" y="725461"/>
            <a:ext cx="954157" cy="19490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9799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4" b="52528"/>
          <a:stretch/>
        </p:blipFill>
        <p:spPr>
          <a:xfrm>
            <a:off x="3534298" y="335618"/>
            <a:ext cx="5146699" cy="611598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3534297" y="1082040"/>
            <a:ext cx="5146699" cy="5943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B619EC33-6408-4670-AC71-3F45E2F16DE9}"/>
              </a:ext>
            </a:extLst>
          </p:cNvPr>
          <p:cNvSpPr/>
          <p:nvPr/>
        </p:nvSpPr>
        <p:spPr>
          <a:xfrm>
            <a:off x="5039360" y="335618"/>
            <a:ext cx="1246293" cy="253662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69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589" b="10278"/>
          <a:stretch/>
        </p:blipFill>
        <p:spPr>
          <a:xfrm>
            <a:off x="3427456" y="418027"/>
            <a:ext cx="5337089" cy="6021947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094847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5130295" y="183877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30295" y="183877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2" name="Овал 1"/>
            <p:cNvSpPr/>
            <p:nvPr/>
          </p:nvSpPr>
          <p:spPr>
            <a:xfrm>
              <a:off x="6834403" y="188865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9" name="Овал 8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2">
            <a:extLst>
              <a:ext uri="{FF2B5EF4-FFF2-40B4-BE49-F238E27FC236}">
                <a16:creationId xmlns:a16="http://schemas.microsoft.com/office/drawing/2014/main" id="{15B5ABB7-C502-4766-B386-E674096292DE}"/>
              </a:ext>
            </a:extLst>
          </p:cNvPr>
          <p:cNvSpPr/>
          <p:nvPr/>
        </p:nvSpPr>
        <p:spPr>
          <a:xfrm>
            <a:off x="4610100" y="487680"/>
            <a:ext cx="2971800" cy="275082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7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407"/>
          <a:stretch/>
        </p:blipFill>
        <p:spPr>
          <a:xfrm>
            <a:off x="1990452" y="607247"/>
            <a:ext cx="3729628" cy="51361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AD1B155-A125-46CD-B1A2-D3F51CF12B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1922" y="607247"/>
            <a:ext cx="3487130" cy="51389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2">
            <a:extLst>
              <a:ext uri="{FF2B5EF4-FFF2-40B4-BE49-F238E27FC236}">
                <a16:creationId xmlns:a16="http://schemas.microsoft.com/office/drawing/2014/main" id="{3F5C1CF8-521F-4D91-8853-4BC66280157E}"/>
              </a:ext>
            </a:extLst>
          </p:cNvPr>
          <p:cNvSpPr/>
          <p:nvPr/>
        </p:nvSpPr>
        <p:spPr>
          <a:xfrm>
            <a:off x="1990451" y="607247"/>
            <a:ext cx="3729627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2">
            <a:extLst>
              <a:ext uri="{FF2B5EF4-FFF2-40B4-BE49-F238E27FC236}">
                <a16:creationId xmlns:a16="http://schemas.microsoft.com/office/drawing/2014/main" id="{79E5864A-24C6-4392-99BE-CB9829B3343D}"/>
              </a:ext>
            </a:extLst>
          </p:cNvPr>
          <p:cNvSpPr/>
          <p:nvPr/>
        </p:nvSpPr>
        <p:spPr>
          <a:xfrm>
            <a:off x="6471922" y="607247"/>
            <a:ext cx="3487130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3671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5015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1933083"/>
            <a:ext cx="5951439" cy="3765739"/>
            <a:chOff x="2896767" y="1933083"/>
            <a:chExt cx="5951439" cy="3765739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22303" y="4701295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4" name="Прямоугольник 3"/>
            <p:cNvSpPr/>
            <p:nvPr/>
          </p:nvSpPr>
          <p:spPr>
            <a:xfrm>
              <a:off x="2896767" y="19330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02958" y="19330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219029" y="30004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787364" y="30630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6" name="Овал 15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090" y="2065222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049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783838" y="3616959"/>
            <a:ext cx="7111637" cy="1940559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763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1" name="Прямоугольник 10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4" name="Овал 13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98"/>
          <a:stretch/>
        </p:blipFill>
        <p:spPr>
          <a:xfrm>
            <a:off x="1503680" y="2107972"/>
            <a:ext cx="9184640" cy="26420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7841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532373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294" y="2018347"/>
            <a:ext cx="1021305" cy="102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690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163" y="1831162"/>
            <a:ext cx="1395674" cy="13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0481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428750"/>
            <a:ext cx="27241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610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595086" y="828040"/>
            <a:ext cx="10690180" cy="5201920"/>
            <a:chOff x="595086" y="0"/>
            <a:chExt cx="10690180" cy="5201920"/>
          </a:xfrm>
        </p:grpSpPr>
        <p:pic>
          <p:nvPicPr>
            <p:cNvPr id="12" name="Рисунок 11"/>
            <p:cNvPicPr>
              <a:picLocks noChangeAspect="1"/>
            </p:cNvPicPr>
            <p:nvPr/>
          </p:nvPicPr>
          <p:blipFill rotWithShape="1">
            <a:blip r:embed="rId4"/>
            <a:srcRect t="1" b="64474"/>
            <a:stretch/>
          </p:blipFill>
          <p:spPr>
            <a:xfrm>
              <a:off x="595086" y="0"/>
              <a:ext cx="5065486" cy="52019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Прямоугольник 12"/>
            <p:cNvSpPr/>
            <p:nvPr/>
          </p:nvSpPr>
          <p:spPr>
            <a:xfrm>
              <a:off x="595086" y="1921692"/>
              <a:ext cx="5065486" cy="328022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 rotWithShape="1">
            <a:blip r:embed="rId4"/>
            <a:srcRect t="49448" b="13199"/>
            <a:stretch/>
          </p:blipFill>
          <p:spPr>
            <a:xfrm>
              <a:off x="6599328" y="0"/>
              <a:ext cx="4685938" cy="50596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6599322" y="1921692"/>
              <a:ext cx="4685938" cy="313798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0832647" cy="5212080"/>
            <a:chOff x="445595" y="0"/>
            <a:chExt cx="10832647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414380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414379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2047383"/>
            <a:ext cx="5951439" cy="3765739"/>
            <a:chOff x="2639592" y="204738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665128" y="481559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639592" y="20473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745783" y="20473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3961854" y="31147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530189" y="31773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30864" y="209818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289470" y="2091108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7" name="Овал 16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B2991E-39DD-40E6-BDFB-E371B90E7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3185" y="563708"/>
            <a:ext cx="5025631" cy="57305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1264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6585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40" y="1056908"/>
            <a:ext cx="9215120" cy="5117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8401298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02790" y="2002790"/>
            <a:ext cx="8318500" cy="4000500"/>
            <a:chOff x="1982470" y="1789430"/>
            <a:chExt cx="8318500" cy="400050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24470" y="1789430"/>
              <a:ext cx="2476500" cy="400050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2470" y="1789430"/>
              <a:ext cx="2476500" cy="4000500"/>
            </a:xfrm>
            <a:prstGeom prst="rect">
              <a:avLst/>
            </a:prstGeom>
          </p:spPr>
        </p:pic>
      </p:grpSp>
      <p:pic>
        <p:nvPicPr>
          <p:cNvPr id="6" name="Рисунок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768" y="436880"/>
            <a:ext cx="1351280" cy="135128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3688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7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727889" y="1099449"/>
            <a:ext cx="10507670" cy="4499114"/>
            <a:chOff x="254923" y="789710"/>
            <a:chExt cx="11599268" cy="4966508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923" y="789710"/>
              <a:ext cx="11599268" cy="4966508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sp>
          <p:nvSpPr>
            <p:cNvPr id="7" name="Прямоугольник 6"/>
            <p:cNvSpPr/>
            <p:nvPr/>
          </p:nvSpPr>
          <p:spPr>
            <a:xfrm>
              <a:off x="5004261" y="1249746"/>
              <a:ext cx="152954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/>
            <p:cNvSpPr/>
            <p:nvPr/>
          </p:nvSpPr>
          <p:spPr>
            <a:xfrm>
              <a:off x="8997141" y="806336"/>
              <a:ext cx="2449484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560" y="1113220"/>
            <a:ext cx="7633359" cy="47592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38195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9695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4418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ЖЕСТКОСТЬ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0460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ХРУПКОСТЬ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6487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048" y="355600"/>
            <a:ext cx="1351280" cy="135128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977390"/>
            <a:ext cx="2724150" cy="40005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657599" y="1977391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657599" y="3599815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9566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012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1">
            <a:extLst>
              <a:ext uri="{FF2B5EF4-FFF2-40B4-BE49-F238E27FC236}">
                <a16:creationId xmlns:a16="http://schemas.microsoft.com/office/drawing/2014/main" id="{9CC8DD1F-4AB0-4F88-B363-4E0278BE6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823688" y="2816887"/>
            <a:ext cx="6861299" cy="11720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42957" y="1417542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9312789" y="122538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9083232" y="127412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/>
            <p:cNvSpPr/>
            <p:nvPr/>
          </p:nvSpPr>
          <p:spPr>
            <a:xfrm>
              <a:off x="6470194" y="1658067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28103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ЛОЖНОЕ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4273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getProductsFromAPI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ИСТИННОЕ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8624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2229168" y="2305368"/>
            <a:ext cx="7733665" cy="2247265"/>
            <a:chOff x="978535" y="3632199"/>
            <a:chExt cx="7733665" cy="2247265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535" y="3632199"/>
              <a:ext cx="2247265" cy="2247265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4935" y="3632199"/>
              <a:ext cx="2247265" cy="2247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8478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7068808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24817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4006561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7" name="Овал 16"/>
          <p:cNvSpPr/>
          <p:nvPr/>
        </p:nvSpPr>
        <p:spPr>
          <a:xfrm>
            <a:off x="5474911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642062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83913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49976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4341638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652222" y="3792996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5469200" y="3792997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2" name="Группа 20">
            <a:extLst>
              <a:ext uri="{FF2B5EF4-FFF2-40B4-BE49-F238E27FC236}">
                <a16:creationId xmlns:a16="http://schemas.microsoft.com/office/drawing/2014/main" id="{A6DAB907-C42B-48D8-BFA7-D222A4F03A9E}"/>
              </a:ext>
            </a:extLst>
          </p:cNvPr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13" name="Овал 21">
              <a:extLst>
                <a:ext uri="{FF2B5EF4-FFF2-40B4-BE49-F238E27FC236}">
                  <a16:creationId xmlns:a16="http://schemas.microsoft.com/office/drawing/2014/main" id="{1B0870F6-4A26-403F-BA64-F19CC23C3060}"/>
                </a:ext>
              </a:extLst>
            </p:cNvPr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22">
              <a:extLst>
                <a:ext uri="{FF2B5EF4-FFF2-40B4-BE49-F238E27FC236}">
                  <a16:creationId xmlns:a16="http://schemas.microsoft.com/office/drawing/2014/main" id="{307B0B13-DA7D-4807-94FC-0AE85652FDAE}"/>
                </a:ext>
              </a:extLst>
            </p:cNvPr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5" name="Овал 25">
            <a:extLst>
              <a:ext uri="{FF2B5EF4-FFF2-40B4-BE49-F238E27FC236}">
                <a16:creationId xmlns:a16="http://schemas.microsoft.com/office/drawing/2014/main" id="{BB911835-DF86-48F6-AACC-15BB42855391}"/>
              </a:ext>
            </a:extLst>
          </p:cNvPr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26">
            <a:extLst>
              <a:ext uri="{FF2B5EF4-FFF2-40B4-BE49-F238E27FC236}">
                <a16:creationId xmlns:a16="http://schemas.microsoft.com/office/drawing/2014/main" id="{6783D5B7-84DC-44A9-AA38-9385A55275B7}"/>
              </a:ext>
            </a:extLst>
          </p:cNvPr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89474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82909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520" y="731520"/>
            <a:ext cx="539496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372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F1CC73F5-5576-4103-9212-AC177A57FC83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F93E5436-14CC-45BA-BFFD-235C13AC56D8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94754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553975" cy="338554"/>
            <a:chOff x="8052781" y="706009"/>
            <a:chExt cx="553975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31290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Roboto" panose="02000000000000000000" pitchFamily="2" charset="0"/>
                </a:rPr>
                <a:t>B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A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B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SHARED MODULE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309316" y="450792"/>
            <a:ext cx="31931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latin typeface="Roboto" panose="02000000000000000000" pitchFamily="2" charset="0"/>
              </a:rPr>
              <a:t>A</a:t>
            </a: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EDAE81EE-2BA3-4C0A-AF87-F5A4AA7EC49C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E1E49913-3D9A-4790-A4FD-299FA021F6C6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672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CB6F7B9-EB6C-455C-9337-4FBD59670DE1}"/>
              </a:ext>
            </a:extLst>
          </p:cNvPr>
          <p:cNvGrpSpPr/>
          <p:nvPr/>
        </p:nvGrpSpPr>
        <p:grpSpPr>
          <a:xfrm>
            <a:off x="944610" y="2440654"/>
            <a:ext cx="10302780" cy="1976693"/>
            <a:chOff x="712835" y="2435652"/>
            <a:chExt cx="10302780" cy="1976693"/>
          </a:xfrm>
        </p:grpSpPr>
        <p:sp>
          <p:nvSpPr>
            <p:cNvPr id="5" name="TextBox 4"/>
            <p:cNvSpPr txBox="1"/>
            <p:nvPr/>
          </p:nvSpPr>
          <p:spPr>
            <a:xfrm>
              <a:off x="712835" y="3013500"/>
              <a:ext cx="453861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РАССТОЯНИЕ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9E220E-F80A-4E86-B88A-DD7032DF7B95}"/>
                </a:ext>
              </a:extLst>
            </p:cNvPr>
            <p:cNvSpPr txBox="1"/>
            <p:nvPr/>
          </p:nvSpPr>
          <p:spPr>
            <a:xfrm>
              <a:off x="5238221" y="3013499"/>
              <a:ext cx="83021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=</a:t>
              </a:r>
              <a:endParaRPr lang="en-US" sz="4800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1ADAB7-CEB6-4CBB-93B1-3EF3ADE154EB}"/>
                </a:ext>
              </a:extLst>
            </p:cNvPr>
            <p:cNvSpPr txBox="1"/>
            <p:nvPr/>
          </p:nvSpPr>
          <p:spPr>
            <a:xfrm>
              <a:off x="7971692" y="2435652"/>
              <a:ext cx="117800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1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56D4450-EA03-4BE6-B0B5-48DAF7882BCA}"/>
                </a:ext>
              </a:extLst>
            </p:cNvPr>
            <p:cNvSpPr/>
            <p:nvPr/>
          </p:nvSpPr>
          <p:spPr>
            <a:xfrm>
              <a:off x="7013449" y="3355499"/>
              <a:ext cx="3084639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A0FBE56-607B-412F-93AC-62363C7202BB}"/>
                </a:ext>
              </a:extLst>
            </p:cNvPr>
            <p:cNvSpPr txBox="1"/>
            <p:nvPr/>
          </p:nvSpPr>
          <p:spPr>
            <a:xfrm>
              <a:off x="6096000" y="3581348"/>
              <a:ext cx="491961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КОЛ-ВО ОТВЕТ.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230352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РЕШЕНИЕ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66353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ТАКТИКА ВЫЖИДАНИЯ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621354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23565" y="657498"/>
            <a:ext cx="575898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272575" y="486190"/>
            <a:ext cx="550216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16">
            <a:extLst>
              <a:ext uri="{FF2B5EF4-FFF2-40B4-BE49-F238E27FC236}">
                <a16:creationId xmlns:a16="http://schemas.microsoft.com/office/drawing/2014/main" id="{34059D6F-0ABC-4967-8D4E-B115D655058F}"/>
              </a:ext>
            </a:extLst>
          </p:cNvPr>
          <p:cNvSpPr/>
          <p:nvPr/>
        </p:nvSpPr>
        <p:spPr>
          <a:xfrm>
            <a:off x="223565" y="2212964"/>
            <a:ext cx="5758982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17">
            <a:extLst>
              <a:ext uri="{FF2B5EF4-FFF2-40B4-BE49-F238E27FC236}">
                <a16:creationId xmlns:a16="http://schemas.microsoft.com/office/drawing/2014/main" id="{D122CF41-3556-407F-B3C3-329A4FFFE5CB}"/>
              </a:ext>
            </a:extLst>
          </p:cNvPr>
          <p:cNvSpPr/>
          <p:nvPr/>
        </p:nvSpPr>
        <p:spPr>
          <a:xfrm>
            <a:off x="6272575" y="2212965"/>
            <a:ext cx="5502162" cy="254953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824904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230917" y="2148840"/>
            <a:ext cx="560674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6142461" y="3233736"/>
            <a:ext cx="5714358" cy="850584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32836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 ИСПЫТАНИЕ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966432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3720784" y="2753361"/>
            <a:ext cx="3050856" cy="1351280"/>
            <a:chOff x="3308985" y="2844800"/>
            <a:chExt cx="3050856" cy="13512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</p:grpSp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88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5130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0360" y="2753361"/>
            <a:ext cx="1351280" cy="135128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119936" y="2753361"/>
            <a:ext cx="1351280" cy="135128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512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35199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E2EE878-AF22-4FE4-A7B5-3036CA8C6C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707" y="496516"/>
            <a:ext cx="5062084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444653" y="2038061"/>
            <a:ext cx="504813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430706" y="4012640"/>
            <a:ext cx="5062083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2" name="Соединительная линия уступом 21"/>
          <p:cNvCxnSpPr>
            <a:stCxn id="4" idx="0"/>
            <a:endCxn id="21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6" idx="0"/>
            <a:endCxn id="21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18" name="Соединительная линия уступом 17"/>
          <p:cNvCxnSpPr>
            <a:endCxn id="15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ная линия уступом 19"/>
          <p:cNvCxnSpPr>
            <a:endCxn id="15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9903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0" name="Соединительная линия уступом 19"/>
          <p:cNvCxnSpPr>
            <a:endCxn id="18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endCxn id="18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46558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СИЛА СВЯЗИ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07232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ТИП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08754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592" y="1368716"/>
            <a:ext cx="8672817" cy="41205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1759591" y="1795549"/>
            <a:ext cx="8672817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759591" y="3858029"/>
            <a:ext cx="8672817" cy="163125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6344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ПОВЕДЕНИЕ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СЕМАНТИКА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79508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2954391" y="536849"/>
            <a:ext cx="6283219" cy="57843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954391" y="3725949"/>
            <a:ext cx="6283219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140673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292470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6187440" y="1937789"/>
            <a:ext cx="437097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70378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ДЕТАЛИ РЕАЛИЗАЦИИ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08195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26890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3834587" y="2801388"/>
            <a:ext cx="4370970" cy="2298931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28890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91983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993910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097466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485900"/>
            <a:ext cx="69088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8913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D80199-1B70-4A2F-80B0-16F065E9A7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07" y="483264"/>
            <a:ext cx="5062084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Прямоугольник 11">
            <a:extLst>
              <a:ext uri="{FF2B5EF4-FFF2-40B4-BE49-F238E27FC236}">
                <a16:creationId xmlns:a16="http://schemas.microsoft.com/office/drawing/2014/main" id="{486EEDD8-5655-43C3-9A74-0229A1EFCF3D}"/>
              </a:ext>
            </a:extLst>
          </p:cNvPr>
          <p:cNvSpPr/>
          <p:nvPr/>
        </p:nvSpPr>
        <p:spPr>
          <a:xfrm>
            <a:off x="444653" y="2024809"/>
            <a:ext cx="504813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13">
            <a:extLst>
              <a:ext uri="{FF2B5EF4-FFF2-40B4-BE49-F238E27FC236}">
                <a16:creationId xmlns:a16="http://schemas.microsoft.com/office/drawing/2014/main" id="{5BE4B4EC-B2D1-4289-987A-C48291B906BD}"/>
              </a:ext>
            </a:extLst>
          </p:cNvPr>
          <p:cNvSpPr/>
          <p:nvPr/>
        </p:nvSpPr>
        <p:spPr>
          <a:xfrm>
            <a:off x="430706" y="3999388"/>
            <a:ext cx="5062083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51911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26346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35"/>
          <a:stretch/>
        </p:blipFill>
        <p:spPr>
          <a:xfrm>
            <a:off x="2540318" y="2165907"/>
            <a:ext cx="7111365" cy="25261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7100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080" y="2283759"/>
            <a:ext cx="9641840" cy="22904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1275080" y="3683000"/>
            <a:ext cx="96418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7477760" y="2283759"/>
            <a:ext cx="20472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17899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9087893" y="838089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9302629" y="789346"/>
            <a:ext cx="129715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Поведение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Овал 19"/>
            <p:cNvSpPr/>
            <p:nvPr/>
          </p:nvSpPr>
          <p:spPr>
            <a:xfrm>
              <a:off x="8298027" y="2611556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Овал 20"/>
            <p:cNvSpPr/>
            <p:nvPr/>
          </p:nvSpPr>
          <p:spPr>
            <a:xfrm>
              <a:off x="5122305" y="2609357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console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97993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993104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cxnSpLocks/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cxnSpLocks/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Прямоугольник 35"/>
          <p:cNvSpPr/>
          <p:nvPr/>
        </p:nvSpPr>
        <p:spPr>
          <a:xfrm>
            <a:off x="4584850" y="666950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37" name="Прямая со стрелкой 36"/>
          <p:cNvCxnSpPr>
            <a:stCxn id="36" idx="2"/>
          </p:cNvCxnSpPr>
          <p:nvPr/>
        </p:nvCxnSpPr>
        <p:spPr>
          <a:xfrm>
            <a:off x="5976994" y="16644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505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7528" y="1680528"/>
            <a:ext cx="3496945" cy="349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4838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368" y="1711008"/>
            <a:ext cx="3496945" cy="349694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495" y="1712353"/>
            <a:ext cx="3495600" cy="34956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284591" y="278384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020782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956" y="421360"/>
            <a:ext cx="8583982" cy="572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6655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Какой-то текст для чего-то там, в общем надо сюда будет что-то написать"/>
          <p:cNvSpPr txBox="1"/>
          <p:nvPr/>
        </p:nvSpPr>
        <p:spPr>
          <a:xfrm>
            <a:off x="938088" y="976753"/>
            <a:ext cx="5536283" cy="1754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defRPr sz="3000">
                <a:latin typeface="TTTravels-Bold"/>
                <a:ea typeface="TTTravels-Bold"/>
                <a:cs typeface="TTTravels-Bold"/>
                <a:sym typeface="TTTravels-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Спасибо за внимание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pPr lvl="0"/>
            <a:r>
              <a:rPr lang="ru-RU" sz="2400" kern="0" dirty="0">
                <a:solidFill>
                  <a:schemeClr val="bg1"/>
                </a:solidFill>
              </a:rPr>
              <a:t>Расширенная версия доклада будет опубликована на </a:t>
            </a:r>
            <a:r>
              <a:rPr lang="ru-RU" sz="2400" kern="0" dirty="0" err="1">
                <a:solidFill>
                  <a:schemeClr val="bg1"/>
                </a:solidFill>
              </a:rPr>
              <a:t>Хабр</a:t>
            </a:r>
            <a:r>
              <a:rPr lang="ru-RU" sz="2400" kern="0" dirty="0">
                <a:solidFill>
                  <a:schemeClr val="bg1"/>
                </a:solidFill>
              </a:rPr>
              <a:t> - </a:t>
            </a:r>
            <a:r>
              <a:rPr lang="en-US" sz="2400" kern="0" dirty="0">
                <a:solidFill>
                  <a:schemeClr val="bg1"/>
                </a:solidFill>
              </a:rPr>
              <a:t>@</a:t>
            </a:r>
            <a:r>
              <a:rPr lang="en-US" sz="2400" kern="0" dirty="0" err="1">
                <a:solidFill>
                  <a:schemeClr val="bg1"/>
                </a:solidFill>
              </a:rPr>
              <a:t>khaimov</a:t>
            </a:r>
            <a:r>
              <a:rPr lang="ru-RU" sz="2400" dirty="0">
                <a:solidFill>
                  <a:schemeClr val="bg1"/>
                </a:solidFill>
              </a:rPr>
              <a:t> 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4042881-5E0D-42ED-B599-E8485F7F1D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088" y="4126921"/>
            <a:ext cx="1844172" cy="1844172"/>
          </a:xfrm>
          <a:prstGeom prst="rect">
            <a:avLst/>
          </a:prstGeom>
        </p:spPr>
      </p:pic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C51D5197-BA46-4FE2-9B7D-79E850DCA7D1}"/>
              </a:ext>
            </a:extLst>
          </p:cNvPr>
          <p:cNvSpPr txBox="1">
            <a:spLocks/>
          </p:cNvSpPr>
          <p:nvPr/>
        </p:nvSpPr>
        <p:spPr>
          <a:xfrm>
            <a:off x="-263289" y="3530455"/>
            <a:ext cx="4246926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</a:rPr>
              <a:t>Роль архитектуры в ПО</a:t>
            </a:r>
            <a:endParaRPr kumimoji="0" lang="ru-RU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Bold" panose="02000803040000020004" pitchFamily="2" charset="0"/>
              <a:ea typeface="Roboto" panose="02000000000000000000" pitchFamily="2" charset="0"/>
              <a:sym typeface="TTTravels-Regular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52182A4-2232-4257-A0D9-BC22E0AF5B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5612" y="4126921"/>
            <a:ext cx="1847088" cy="1847088"/>
          </a:xfrm>
          <a:prstGeom prst="rect">
            <a:avLst/>
          </a:prstGeom>
        </p:spPr>
      </p:pic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A8D8AC59-22AD-43E6-BBE3-2C97889D0E02}"/>
              </a:ext>
            </a:extLst>
          </p:cNvPr>
          <p:cNvSpPr txBox="1">
            <a:spLocks/>
          </p:cNvSpPr>
          <p:nvPr/>
        </p:nvSpPr>
        <p:spPr>
          <a:xfrm>
            <a:off x="3067178" y="3530455"/>
            <a:ext cx="4743955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  <a:ea typeface="Roboto" panose="02000000000000000000" pitchFamily="2" charset="0"/>
              </a:rPr>
              <a:t>Тестируемая архитектура</a:t>
            </a:r>
            <a:endParaRPr lang="ru-RU" sz="1800" kern="0" dirty="0">
              <a:latin typeface="TTTravels-Bold" panose="02000803040000020004" pitchFamily="2" charset="0"/>
              <a:ea typeface="Roboto" panose="02000000000000000000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016E21-75EE-4F75-8357-23FB532B6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7536" y="778454"/>
            <a:ext cx="3905250" cy="3905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54559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19873</TotalTime>
  <Words>4933</Words>
  <Application>Microsoft Office PowerPoint</Application>
  <PresentationFormat>Widescreen</PresentationFormat>
  <Paragraphs>498</Paragraphs>
  <Slides>125</Slides>
  <Notes>125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125</vt:i4>
      </vt:variant>
    </vt:vector>
  </HeadingPairs>
  <TitlesOfParts>
    <vt:vector size="133" baseType="lpstr">
      <vt:lpstr>Arial</vt:lpstr>
      <vt:lpstr>Calibri</vt:lpstr>
      <vt:lpstr>Calibri Light</vt:lpstr>
      <vt:lpstr>Roboto</vt:lpstr>
      <vt:lpstr>TTTravels-Bold</vt:lpstr>
      <vt:lpstr>TTTravels-DemiBold</vt:lpstr>
      <vt:lpstr>TTTravels-Regular</vt:lpstr>
      <vt:lpstr>Тема Office</vt:lpstr>
      <vt:lpstr>Единственная ответственность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Роман Хаимов</cp:lastModifiedBy>
  <cp:revision>516</cp:revision>
  <dcterms:created xsi:type="dcterms:W3CDTF">2024-05-14T14:02:45Z</dcterms:created>
  <dcterms:modified xsi:type="dcterms:W3CDTF">2024-06-26T14:18:46Z</dcterms:modified>
</cp:coreProperties>
</file>