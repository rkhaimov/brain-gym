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1"/>
  </p:notesMasterIdLst>
  <p:sldIdLst>
    <p:sldId id="257" r:id="rId2"/>
    <p:sldId id="366" r:id="rId3"/>
    <p:sldId id="367" r:id="rId4"/>
    <p:sldId id="368" r:id="rId5"/>
    <p:sldId id="369" r:id="rId6"/>
    <p:sldId id="370" r:id="rId7"/>
    <p:sldId id="261" r:id="rId8"/>
    <p:sldId id="262" r:id="rId9"/>
    <p:sldId id="260" r:id="rId10"/>
    <p:sldId id="263" r:id="rId11"/>
    <p:sldId id="371" r:id="rId12"/>
    <p:sldId id="372" r:id="rId13"/>
    <p:sldId id="373" r:id="rId14"/>
    <p:sldId id="374" r:id="rId15"/>
    <p:sldId id="375" r:id="rId16"/>
    <p:sldId id="376" r:id="rId17"/>
    <p:sldId id="377" r:id="rId18"/>
    <p:sldId id="378" r:id="rId19"/>
    <p:sldId id="379" r:id="rId20"/>
    <p:sldId id="381" r:id="rId21"/>
    <p:sldId id="385" r:id="rId22"/>
    <p:sldId id="388" r:id="rId23"/>
    <p:sldId id="382" r:id="rId24"/>
    <p:sldId id="384" r:id="rId25"/>
    <p:sldId id="386" r:id="rId26"/>
    <p:sldId id="387" r:id="rId27"/>
    <p:sldId id="389" r:id="rId28"/>
    <p:sldId id="390" r:id="rId29"/>
    <p:sldId id="391" r:id="rId30"/>
    <p:sldId id="393" r:id="rId31"/>
    <p:sldId id="392" r:id="rId32"/>
    <p:sldId id="265" r:id="rId33"/>
    <p:sldId id="266" r:id="rId34"/>
    <p:sldId id="394" r:id="rId35"/>
    <p:sldId id="395" r:id="rId36"/>
    <p:sldId id="396" r:id="rId37"/>
    <p:sldId id="268" r:id="rId38"/>
    <p:sldId id="397" r:id="rId39"/>
    <p:sldId id="398" r:id="rId40"/>
    <p:sldId id="269" r:id="rId41"/>
    <p:sldId id="399" r:id="rId42"/>
    <p:sldId id="275" r:id="rId43"/>
    <p:sldId id="400" r:id="rId44"/>
    <p:sldId id="402" r:id="rId45"/>
    <p:sldId id="403" r:id="rId46"/>
    <p:sldId id="273" r:id="rId47"/>
    <p:sldId id="274" r:id="rId48"/>
    <p:sldId id="276" r:id="rId49"/>
    <p:sldId id="277" r:id="rId50"/>
    <p:sldId id="278" r:id="rId51"/>
    <p:sldId id="404" r:id="rId52"/>
    <p:sldId id="279" r:id="rId53"/>
    <p:sldId id="405" r:id="rId54"/>
    <p:sldId id="356" r:id="rId55"/>
    <p:sldId id="406" r:id="rId56"/>
    <p:sldId id="280" r:id="rId57"/>
    <p:sldId id="357" r:id="rId58"/>
    <p:sldId id="358" r:id="rId59"/>
    <p:sldId id="407" r:id="rId60"/>
    <p:sldId id="355" r:id="rId61"/>
    <p:sldId id="408" r:id="rId62"/>
    <p:sldId id="409" r:id="rId63"/>
    <p:sldId id="360" r:id="rId64"/>
    <p:sldId id="285" r:id="rId65"/>
    <p:sldId id="410" r:id="rId66"/>
    <p:sldId id="411" r:id="rId67"/>
    <p:sldId id="361" r:id="rId68"/>
    <p:sldId id="412" r:id="rId69"/>
    <p:sldId id="362" r:id="rId70"/>
    <p:sldId id="289" r:id="rId71"/>
    <p:sldId id="290" r:id="rId72"/>
    <p:sldId id="291" r:id="rId73"/>
    <p:sldId id="413" r:id="rId74"/>
    <p:sldId id="414" r:id="rId75"/>
    <p:sldId id="292" r:id="rId76"/>
    <p:sldId id="415" r:id="rId77"/>
    <p:sldId id="416" r:id="rId78"/>
    <p:sldId id="417" r:id="rId79"/>
    <p:sldId id="418" r:id="rId80"/>
    <p:sldId id="419" r:id="rId81"/>
    <p:sldId id="420" r:id="rId82"/>
    <p:sldId id="421" r:id="rId83"/>
    <p:sldId id="422" r:id="rId84"/>
    <p:sldId id="423" r:id="rId85"/>
    <p:sldId id="427" r:id="rId86"/>
    <p:sldId id="429" r:id="rId87"/>
    <p:sldId id="430" r:id="rId88"/>
    <p:sldId id="428" r:id="rId89"/>
    <p:sldId id="424" r:id="rId90"/>
    <p:sldId id="425" r:id="rId91"/>
    <p:sldId id="426" r:id="rId92"/>
    <p:sldId id="293" r:id="rId93"/>
    <p:sldId id="363" r:id="rId94"/>
    <p:sldId id="295" r:id="rId95"/>
    <p:sldId id="296" r:id="rId96"/>
    <p:sldId id="297" r:id="rId97"/>
    <p:sldId id="299" r:id="rId98"/>
    <p:sldId id="300" r:id="rId99"/>
    <p:sldId id="301" r:id="rId100"/>
    <p:sldId id="302" r:id="rId101"/>
    <p:sldId id="303" r:id="rId102"/>
    <p:sldId id="304" r:id="rId103"/>
    <p:sldId id="305" r:id="rId104"/>
    <p:sldId id="306" r:id="rId105"/>
    <p:sldId id="307" r:id="rId106"/>
    <p:sldId id="308" r:id="rId107"/>
    <p:sldId id="309" r:id="rId108"/>
    <p:sldId id="310" r:id="rId109"/>
    <p:sldId id="311" r:id="rId110"/>
    <p:sldId id="312" r:id="rId111"/>
    <p:sldId id="313" r:id="rId112"/>
    <p:sldId id="314" r:id="rId113"/>
    <p:sldId id="315" r:id="rId114"/>
    <p:sldId id="316" r:id="rId115"/>
    <p:sldId id="319" r:id="rId116"/>
    <p:sldId id="318" r:id="rId117"/>
    <p:sldId id="320" r:id="rId118"/>
    <p:sldId id="321" r:id="rId119"/>
    <p:sldId id="322" r:id="rId120"/>
    <p:sldId id="323" r:id="rId121"/>
    <p:sldId id="324" r:id="rId122"/>
    <p:sldId id="325" r:id="rId123"/>
    <p:sldId id="326" r:id="rId124"/>
    <p:sldId id="328" r:id="rId125"/>
    <p:sldId id="327" r:id="rId126"/>
    <p:sldId id="329" r:id="rId127"/>
    <p:sldId id="330" r:id="rId128"/>
    <p:sldId id="331" r:id="rId129"/>
    <p:sldId id="332" r:id="rId130"/>
    <p:sldId id="333" r:id="rId131"/>
    <p:sldId id="334" r:id="rId132"/>
    <p:sldId id="336" r:id="rId133"/>
    <p:sldId id="335" r:id="rId134"/>
    <p:sldId id="337" r:id="rId135"/>
    <p:sldId id="338" r:id="rId136"/>
    <p:sldId id="339" r:id="rId137"/>
    <p:sldId id="340" r:id="rId138"/>
    <p:sldId id="341" r:id="rId139"/>
    <p:sldId id="342" r:id="rId140"/>
    <p:sldId id="343" r:id="rId141"/>
    <p:sldId id="344" r:id="rId142"/>
    <p:sldId id="345" r:id="rId143"/>
    <p:sldId id="346" r:id="rId144"/>
    <p:sldId id="347" r:id="rId145"/>
    <p:sldId id="348" r:id="rId146"/>
    <p:sldId id="349" r:id="rId147"/>
    <p:sldId id="350" r:id="rId148"/>
    <p:sldId id="351" r:id="rId149"/>
    <p:sldId id="352" r:id="rId15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  <a:srgbClr val="FFCCCC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81671" autoAdjust="0"/>
  </p:normalViewPr>
  <p:slideViewPr>
    <p:cSldViewPr snapToGrid="0">
      <p:cViewPr varScale="1">
        <p:scale>
          <a:sx n="94" d="100"/>
          <a:sy n="94" d="100"/>
        </p:scale>
        <p:origin x="121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55" Type="http://schemas.openxmlformats.org/officeDocument/2006/relationships/tableStyles" Target="tableStyle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03.06.2024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Любой инженер начинает свой путь с написания простой программы</a:t>
            </a: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добавлять новые поведений, от чего исходного кода, очевидно, становится больше.</a:t>
            </a:r>
            <a:endParaRPr 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Требования, атакуя одно за другим, естественным образом увеличивают количество кода в файле.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027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14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Визуально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становилось много</a:t>
            </a:r>
            <a:endParaRPr 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 некоторое время инженер с неприятным для себя удивлением обнаруживает, что контролировать систему стало </a:t>
            </a:r>
            <a:r>
              <a:rPr lang="ru-RU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сложнее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Кажется, что с ростом кодовой базы, программа становится все упрямее, оказывая все больше сопротивления постоянно надвигающимся изменениям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019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боли знакомая каждому инженеру ситуация, новый проект на котором вначале сложность растет незаметно, но в какой-то момент вспыхивает и начинает бесконтрольно улетать вверх, обуславливается естественными свойствами любой развивающейся системы.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709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Разделение – это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один из способов борьбы с данной негативной тенденцией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69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простого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задачи упрощения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через разделение большого файла. Нет ничего проще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да? Но тут выходят ряд вопросов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какие компоненты нужно разбить одно целое?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части бывшего монолита должны принадлежать одним компонентам, а какие другим?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компоненты должны зависеть от других, а какие нет?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Ответы на эти вопросы во многом определяют итоговый дизайн системы. Если они окажутся правильными, тогда разработчики получат поддерживаемую систему, которая легко адаптируется к входящим изменениям. Если же где-то в наших рассуждениях закралась ошибка, результатом будет запутанный код, который только сильнее ускорит и без того быстрое устаревание проекта.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07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Известный принцип единственной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раз ставит своей целью указать разработчику, каким образом необходимо разделить код так, чтобы добиться желаемого результата.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284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Модуль** должен быть ответственен за что-то одно, отвечать только за одну функциональность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317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таких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функциональностей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несколько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их нужно разделить.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Легко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202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37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874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было сказано ранее, все решения, касающиеся вопросов разделения кода, прямо или косвенно скажутся на итоговой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поддерживаемости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системы, то, что из популярного определения SRP исходит такая неоднозначность является достаточно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негативным признаком.</a:t>
            </a: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Допустим, что посовещавшись с коллегами, мы решили что данная процедура все же нарушает SRP, тогда необходимо сделать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следующее: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 smtClean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218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каждая из процедур действительно делает что-то одно. Но действительно ли стало лучше? Действительно ли стало проще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работать с программой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Так какую из версий программ стоит выбрать?</a:t>
            </a:r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Причиной появления таких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сомнений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было использование такого понятия как "функция модуля". То, за что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отвечает модуль - это нечто чрезвычайно растяжимое и относительное. Инженеры не должны опираться на что-то настолько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ненадежное когда речь идет о принятии архитектурных решений, будь то разделение маленькой функции на процедуры или целой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программы на отдельные модули.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002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деле, принцип единственной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гласит следующее: "Модуль должен иметь одну и только одну причину для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изменения".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38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Программа принимает в качестве аргумента название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файла со списком продуктов, обрабатывает его и выводит их итоговую сумму в консоль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98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Вся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логика реализована в одной функции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её сверху вниз по секциям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709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Считывает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валидирует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881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Считает общую сумму и выводит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консоль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984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4949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Проходит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некоторое время.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Приходит заказчик и говорит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51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78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33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программа среагирует на данное изменение? Сначала обозначим текущую секцию функции, в которой происходит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обработка файла.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155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самого простого решения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того что делают чаще всего – добавим условие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9009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ветке находится обработка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 из файлов.</a:t>
            </a:r>
          </a:p>
          <a:p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Поведение программы удовлетворяет новым требованиям.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43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Поведение программы удовлетворяет новым требованиям.</a:t>
            </a: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стала еще больше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Появились повторяющиеся элементы между получением продуктов из API и из файла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80114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получила свою первую модификацию. Можно с уверенностью сказать, что она приобрела свою первую причину для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изменения, то есть ответственность другими словами:</a:t>
            </a: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0142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Сокращенный вид. Индикатор в углу означает наличие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или причины для изменения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перевести на русский это значит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следующий раз когда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заказчик опять потребует добавить новый источник данных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столкнемся с теми же проблемами. Функция станет больше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появится больше повторяющихся изменений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 и в целом размер самой 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сильно мешать работе</a:t>
            </a:r>
          </a:p>
          <a:p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инженеры должны принять определенные меры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Вспомним, что одной из проблем при реализации нового метода получения данных, был тот факт, что разработчику также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приходилось взаимодействовать и со старым способом получения продуктов из файла. Это можно легко исправить, вынесем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методов получения данных в отдельные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775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Отдельные функции чтения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5985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стала гораздо меньше. Рассмотрим актуальную диаграмму компонентов и их ответственностей.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502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ответственностей, при добавлении нового источника данных изменится только содержимое 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действительно, всё что потребуется сделать, так это добавить новую ветку в условие и реализовать новую функцию.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Существующие реализации остальных источников данных не будут затронуты, более того, разработчику не придется даже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утруждать себя и заглядывать внутрь реализации этих функций, так как для добавления нового способа получения продуктов 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этом скорее всего не будет никакой нужды.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Постойте, но где же то самое разделение ответственностей?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5578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1474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`main` содержит в себе поведения, которые изменяются в *разное время* в рамках разных, не</a:t>
            </a:r>
            <a:b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9814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срабатывании определенных на диаграмме ответственностей, будут задействованы элементы программы с меньшим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объемом, что были до этого.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получила стресс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виде нового изменения.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821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его просто реализовать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бы адаптировались к нему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выработали иммунитет к конкретно данному виду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в будущем быть уже на </a:t>
            </a:r>
            <a:r>
              <a:rPr lang="ru-RU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723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пользователи системы обнаруживают, что зачастую файлы и API возвращают продукты с негативной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ценой:</a:t>
            </a: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Обсудив проблему с заказчиком, было решено доработать функцию валидации данных, чтобы она не пропускала такие продукты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166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Внимательно изучив код, разработчик обнаруживает достаточно интересный факт - обе функции получения продуктов содержат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идентичный код валидации.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внесения изменений, файл выглядит следующим образом: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что стоит обратить своё внимание - обе 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изменились в результате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 той же задачи. Это означает, что между ними есть общая ответственность или общая причина для изменений: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Итак, программа получила еще одну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Основная проблема при внесении изменений заключалась в том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их пришлось в точности повторить для каждого из источников данных. Если в будущем альтернативных источников данных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станет больше и правила валидации будут меняться часто, это может негативно повлиять на производительность труда на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проекте.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действительно, теперь, при возникновении новых требований для валидации, все изменения будут сконцентрированы в одном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месте и автоматически выполняться для всех источников данных.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 про слона в комнате. Очевидно, что предыдущая ситуация была связана с явным повторением кода валидации. Он был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полностью идентичным между двумя функциями получения продуктов, так почему же не называть вещи своими именами? Зачем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пытаться объяснить проблему косноязычно, через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1631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Попробуем руководствоваться известным правилом DRY и выносить все что дублируется в отдельные сущности, в частности,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данные секции полностью повторяются между двумя источниками данных: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его в отдельную функцию: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19697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она используется в одном из источников данных: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действительно стало меньше, для кого-то, он даже стал более читаемым*. Так зачем же утруждать себя рассуждениями 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причинах изменения, ответственностях, если можно просто визуально определить идентичный код и вынести его в отдельный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метод?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разработчики предоставляющие списки продуктов через API заявили: "Теперь, в качестве разделителя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параметров продукта будет использоваться символ `|`, а не `,` как прежде". Каким образом система отреагирует на данное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изменение?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953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Напомним, что сейчас, конкретный разделитель зашит внутри общей 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есть теперь общая функция создания продукта должна поддержать два разных поведения, которые будут выбираться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взависимости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от того, кто является клиентом.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0770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Общая функция теперь стала чуть более *абстрактной*, конечно, ей же теперь нужно поддержать больше возможных поведений.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Обратим внимание вот на что, в результате добавления нового и *обязательного* аргумента,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 что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обратывает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из локальных файлов, также требует модификации: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9697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Текущий дизайн системы, заставил разработчика изменить больше модулей, чем того требовала задача по своему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смыслу. Инженеров попросили поменять дверь, а в итоге им пришлось снести фундамент и строить всё заново.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Такое свойство дизайна называется *жесткостью*.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02314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Главная причина по которой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потребовала изменений - это несовместимость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новой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 своей старой версии. Она стала требовать от своих клиентов *больше*, чем было до этого.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33730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таком случае, действительно,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останется нетронутой, ведь требуемое ею поведение станет по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умолчанию. Система уже не кажется такой жесткой, ведь изменения сконцентрированы в меньшем числе компонентов. Но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ли все так в порядке, как кажется на первый взгляд?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изменена. Любая модификация функции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имеет все шансы оказать негативный эффект на наблюдаемое поведение, вызывать *регресс* другими словами.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пример, хоть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не потребовал изменений, его поведение могло измениться, ведь исходный код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из используемых им частей был изменен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Такой свойство также является одним из проявлений дизайна и имеет название `хрупкость`. Основным виновником здесь всегда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некий общий компонент, модификации которого влияют не только на какого-то конкретного клиента, но и на всех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остальных его пользователей.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54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несколько месяцев после релиза заказчик решает несколько доработать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систему, а именно - для продуктов полученных из локального файла (функция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 необходимо немного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иначе проводить обработку невалидных строчек, а именно, вставлять в качестве продукта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Невалидный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продукт` и указывать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его сумму как `0`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6194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не просто пропускать продукт как это происходит сейчас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Требование предназначено для конкретного источника данных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Реализация требует изменения общего компонента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91431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один занимательный факт - изменение, чисто логически, предназначалось для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продуктов, полученных из файла (функция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`), но большая часть логики оказалась внутри общей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каждый раз когда будут поступать изменения касательно работы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продукта взятого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 локального файла,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также должна будет проверена повторно. И действительно,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данную ответственность, то она обязана быть модифицирована (по определению),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следовательно, все клиенты которые от неё зависят, должны будут протестированы во избежание регресса.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7593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 сожалению, тут проблемы только начинаются. Вспомним что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и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дополнительную ответственность, которая представляет собой все, что функция делает помимо обработки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является *ответственной*, то есть от неё зависят много клиентов, в то время как она сама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зависима ни от кого. Ответственные компоненты трудно изменять напрямую, как раз вследствие существования их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пользователей, которые к каждой такой модификации будут чувствительны, либо явно через *жесткость*, либо неявно через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*хрупкость*.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случае, наличие у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нескольких ответственностей прежде всего говорит о том, что такой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элемент будет изменяться *чаще* чем обычно. При этом, каждая модификация будет дополнительно усложнена жесткостью и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хрупкостью дизайна.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Несмотря на визуальную схожесть функций источников между собой,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данных секций со временем оказались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*разными*, что и привело в итоге к дизайну, плохо адаптированному под рассмотренные изменения: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92854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так называемое ложное или временное дублирование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47483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Векторы изменений обеих функций пересеклись в некоторой точке, что и привело к временному дублированию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Основные драйверы изменений в источниках данных были разными, вследствие чего общий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начал раздуваться, пытавшись покрыть все более разрозненные требования от совершенно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 клиентов привнося в дизайн признаки жесткости и хрупкости.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же тогда такое настоящее дублирование? Дублирующим, называется код, удовлетворяющий двум основным критериям: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6584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как говорилось ранее, это прежде всего источники или причины для изменений. Для того чтобы их четко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определить, *эти изменения должны произойти*. До тех пор, пока компоненты не менялись, избавляться от дублирования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следует с особой осторожностью. По сути, преждевременное обобщение похоже на игру где нужно руководствуясь своим опытом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или просто везением угадать, а что же в будущем будет изменяться синхронно и в одном направлении, а что нет.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11821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с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валидацией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оказался *истинным дублированием*: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Правила валидации оказались идентичными для обоих источников данных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Новое требование потребовало одновременно и одинаковым образом поменять обе функции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144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внимание, что клиенты *используют* ответственность валидации между собой. Это означает, что любые изменения 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логике проверки продукта инициированные одним клиентом, будут полезны и для всех остальных пользователей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А вот как бы выглядела ситуация если бы 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 существовало: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88462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счёт добавления общей функции, удалось сократить количество изменяемых модулей в два раза. Интересно, но в данном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примере происходит не разделение ответственностей, так как она одна, а скорее её *перемещение* в один единственный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81999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рассмотрим ложное дублирование, также через диаграммы ответственностей: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5198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количество ответственностей от этого не изменилось, не уменьшилось также и количество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затрагиваемых модулей для каждого источника изменений по отдельности.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сути, добавив общий компонент, инженеры ничего не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выйграли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наоборот, только сильнее усложнив модификацию системы,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как было сказано ранее, общий компонент содержащий в себе несколько ответственностей изменять достаточно не просто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силу проявляющейся жесткости и хрупкости дизайна.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87558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Вместе со срабатыванием конкретной ответственности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входит в что-то вроде суперпозиции,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где она, в рамках взятого источника изменений, преобразуется для одного клиента (для которого изменение и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предназначено), но остается неизменной для всех остальных.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658775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39614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же образом можно поступить в данном случае?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802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Одним из вариантов решения проблемы является тактика выжидания. Вместо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того чтобы спешить и избавляться от того, что нам кажется одинаковым, стоит взять таймаут и понаблюдать над тем каким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образом система будет развиваться со временем.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807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ввиду наличия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ответственностей, разных причин для изменений, со временем они скорее всего будут отличаться все сильнее. </a:t>
            </a:r>
            <a: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</a:t>
            </a:r>
            <a:b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 на то,</a:t>
            </a:r>
            <a:b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такая реализация уже не обладает признаками жесткости и хрупкости, а конкретное поведение гораздо проще понять.</a:t>
            </a:r>
            <a:endParaRPr lang="ru-RU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334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80785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8580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4063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76152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8198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43179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36462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54398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478325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22145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06722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97886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78407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690694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1303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661696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324612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120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21816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127284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98679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65609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63655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33923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3003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73407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75017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62962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599610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06812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47256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63164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7919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7435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62373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552706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604114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36386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34582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897816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710564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35925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181406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383030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215356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204520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090805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3476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321166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35238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59966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3174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451594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35297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90111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255954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826225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835319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07679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40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03.06.2024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03.06.2024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03.06.2024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03.06.2024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03.06.2024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03.06.2024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03.06.2024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03.06.2024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03.06.2024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03.06.2024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03.06.2024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11F87-8142-4AA9-951B-96014A4B4A25}" type="datetimeFigureOut">
              <a:rPr lang="ru-RU" smtClean="0"/>
              <a:t>03.06.2024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2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2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25714"/>
          <a:stretch/>
        </p:blipFill>
        <p:spPr>
          <a:xfrm>
            <a:off x="2505075" y="2240280"/>
            <a:ext cx="7181850" cy="237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7018" y="434422"/>
            <a:ext cx="5857965" cy="5989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6962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1584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267200" y="76200"/>
            <a:ext cx="3657600" cy="6640392"/>
          </a:xfrm>
          <a:prstGeom prst="rect">
            <a:avLst/>
          </a:prstGeom>
          <a:solidFill>
            <a:srgbClr val="FFFFFF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МНОГО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678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l="22460" t="26429" r="26467" b="18557"/>
          <a:stretch/>
        </p:blipFill>
        <p:spPr>
          <a:xfrm>
            <a:off x="3117159" y="1290638"/>
            <a:ext cx="5957682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9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</a:t>
            </a:r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738945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98230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677985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849098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849098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</a:t>
            </a:r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1603373" y="2387600"/>
            <a:ext cx="3714247" cy="2541204"/>
            <a:chOff x="3197166" y="2060894"/>
            <a:chExt cx="5732446" cy="3922010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28" name="Рисунок 2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30" name="Рисунок 2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31" name="Рисунок 3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32" name="Рисунок 3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33" name="Рисунок 32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35" name="Рисунок 3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36" name="Рисунок 3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</p:grpSp>
      <p:grpSp>
        <p:nvGrpSpPr>
          <p:cNvPr id="38" name="Группа 37"/>
          <p:cNvGrpSpPr/>
          <p:nvPr/>
        </p:nvGrpSpPr>
        <p:grpSpPr>
          <a:xfrm flipH="1">
            <a:off x="7742257" y="2387600"/>
            <a:ext cx="2914554" cy="2534304"/>
            <a:chOff x="3197166" y="2060894"/>
            <a:chExt cx="4498226" cy="3911361"/>
          </a:xfrm>
        </p:grpSpPr>
        <p:pic>
          <p:nvPicPr>
            <p:cNvPr id="39" name="Рисунок 3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40" name="Рисунок 3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41" name="Рисунок 4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42" name="Рисунок 4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43" name="Рисунок 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47" name="Рисунок 4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49" name="Рисунок 4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698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992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Группа 8"/>
          <p:cNvGrpSpPr/>
          <p:nvPr/>
        </p:nvGrpSpPr>
        <p:grpSpPr>
          <a:xfrm>
            <a:off x="4704080" y="2363539"/>
            <a:ext cx="3710955" cy="2054224"/>
            <a:chOff x="4704080" y="2363539"/>
            <a:chExt cx="3710955" cy="205422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704080" y="2462913"/>
              <a:ext cx="3710955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2445" y="2363539"/>
              <a:ext cx="2054224" cy="2054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207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704080" y="2462913"/>
            <a:ext cx="3710955" cy="18554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76" y="2462912"/>
            <a:ext cx="1800000" cy="1800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35" y="2473304"/>
            <a:ext cx="1800000" cy="180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9557" y="249065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842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01"/>
          <a:stretch/>
        </p:blipFill>
        <p:spPr>
          <a:xfrm>
            <a:off x="1885950" y="2208068"/>
            <a:ext cx="8420100" cy="24418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6517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950" y="2228850"/>
            <a:ext cx="8420100" cy="2400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5913120" y="3091064"/>
            <a:ext cx="1727200" cy="675871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724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030" y="2573585"/>
            <a:ext cx="11649941" cy="1710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447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82"/>
          <a:stretch/>
        </p:blipFill>
        <p:spPr>
          <a:xfrm>
            <a:off x="2285275" y="1293300"/>
            <a:ext cx="7621451" cy="4271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6163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ЕДИНАЯ ПРИЧИНА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894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8230" y="1347470"/>
            <a:ext cx="2476500" cy="40005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24672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783" y="336803"/>
            <a:ext cx="3828435" cy="618439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36208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2425" b="31845"/>
          <a:stretch/>
        </p:blipFill>
        <p:spPr>
          <a:xfrm>
            <a:off x="3670351" y="853440"/>
            <a:ext cx="4851299" cy="51511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8199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23" b="2667"/>
          <a:stretch/>
        </p:blipFill>
        <p:spPr>
          <a:xfrm>
            <a:off x="3352800" y="2222958"/>
            <a:ext cx="5486400" cy="24120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5996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123" y="335280"/>
            <a:ext cx="3519754" cy="618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6150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169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4750432" cy="1351281"/>
            <a:chOff x="1609409" y="2844799"/>
            <a:chExt cx="4750432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9551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8149584" cy="1351281"/>
            <a:chOff x="1609409" y="2844799"/>
            <a:chExt cx="8149584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7713" y="2844799"/>
              <a:ext cx="1351280" cy="1351280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6708137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3677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2425" b="31845"/>
          <a:stretch/>
        </p:blipFill>
        <p:spPr>
          <a:xfrm>
            <a:off x="3670351" y="853440"/>
            <a:ext cx="4851299" cy="51511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979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4" b="52528"/>
          <a:stretch/>
        </p:blipFill>
        <p:spPr>
          <a:xfrm>
            <a:off x="3534298" y="335618"/>
            <a:ext cx="5146699" cy="611598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3534297" y="1082040"/>
            <a:ext cx="5146699" cy="5943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6169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094847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40255" y="2020888"/>
            <a:ext cx="8111490" cy="2816225"/>
            <a:chOff x="1972310" y="2407919"/>
            <a:chExt cx="8111490" cy="2816225"/>
          </a:xfrm>
        </p:grpSpPr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2310" y="2407919"/>
              <a:ext cx="2816225" cy="2816225"/>
            </a:xfrm>
            <a:prstGeom prst="rect">
              <a:avLst/>
            </a:prstGeom>
          </p:spPr>
        </p:pic>
        <p:grpSp>
          <p:nvGrpSpPr>
            <p:cNvPr id="7" name="Группа 6"/>
            <p:cNvGrpSpPr/>
            <p:nvPr/>
          </p:nvGrpSpPr>
          <p:grpSpPr>
            <a:xfrm>
              <a:off x="6028055" y="2407919"/>
              <a:ext cx="4055745" cy="2816225"/>
              <a:chOff x="6028055" y="2407919"/>
              <a:chExt cx="4055745" cy="2816225"/>
            </a:xfrm>
          </p:grpSpPr>
          <p:pic>
            <p:nvPicPr>
              <p:cNvPr id="4" name="Рисунок 3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28055" y="2407919"/>
                <a:ext cx="2816225" cy="2816225"/>
              </a:xfrm>
              <a:prstGeom prst="rect">
                <a:avLst/>
              </a:prstGeom>
            </p:spPr>
          </p:pic>
          <p:pic>
            <p:nvPicPr>
              <p:cNvPr id="6" name="Рисунок 5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67575" y="2407919"/>
                <a:ext cx="2816225" cy="2816225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033466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6AAB1608-0A80-4CA0-B737-927176A52984}"/>
              </a:ext>
            </a:extLst>
          </p:cNvPr>
          <p:cNvSpPr/>
          <p:nvPr/>
        </p:nvSpPr>
        <p:spPr>
          <a:xfrm>
            <a:off x="3210396" y="1736814"/>
            <a:ext cx="6230023" cy="3813717"/>
          </a:xfrm>
          <a:prstGeom prst="rect">
            <a:avLst/>
          </a:prstGeom>
          <a:noFill/>
          <a:ln w="571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2802" y="1881975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main()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327879" y="3144908"/>
            <a:ext cx="1995055" cy="9975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Источник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403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5130295" y="183877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30295" y="183877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2" name="Овал 1"/>
            <p:cNvSpPr/>
            <p:nvPr/>
          </p:nvSpPr>
          <p:spPr>
            <a:xfrm>
              <a:off x="6834403" y="188865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7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9" name="Овал 8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 smtClean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17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407"/>
          <a:stretch/>
        </p:blipFill>
        <p:spPr>
          <a:xfrm>
            <a:off x="1990452" y="607247"/>
            <a:ext cx="3729628" cy="51361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926"/>
          <a:stretch/>
        </p:blipFill>
        <p:spPr>
          <a:xfrm>
            <a:off x="6725012" y="528952"/>
            <a:ext cx="3729628" cy="529272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83671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5015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1933083"/>
            <a:ext cx="5951439" cy="3765739"/>
            <a:chOff x="2896767" y="1933083"/>
            <a:chExt cx="5951439" cy="3765739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22303" y="4701295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smtClean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  <a:endParaRPr lang="en-US" dirty="0">
                  <a:solidFill>
                    <a:schemeClr val="tx1"/>
                  </a:solidFill>
                  <a:latin typeface="Roboto" panose="02000000000000000000" pitchFamily="2" charset="0"/>
                </a:endParaRP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4" name="Прямоугольник 3"/>
            <p:cNvSpPr/>
            <p:nvPr/>
          </p:nvSpPr>
          <p:spPr>
            <a:xfrm>
              <a:off x="2896767" y="19330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02958" y="19330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219029" y="30004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787364" y="30630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6" name="Овал 15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 smtClean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090" y="2065222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04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783838" y="3616959"/>
            <a:ext cx="7111637" cy="1940559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76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smtClean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  <a:endParaRPr lang="en-US" dirty="0">
                  <a:solidFill>
                    <a:schemeClr val="tx1"/>
                  </a:solidFill>
                  <a:latin typeface="Roboto" panose="02000000000000000000" pitchFamily="2" charset="0"/>
                </a:endParaRP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1" name="Прямоугольник 10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 smtClean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4" name="Овал 13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 smtClean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98"/>
          <a:stretch/>
        </p:blipFill>
        <p:spPr>
          <a:xfrm>
            <a:off x="1503680" y="2107972"/>
            <a:ext cx="9184640" cy="26420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7841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 smtClean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 smtClean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0294" y="2018347"/>
            <a:ext cx="1021305" cy="102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690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163" y="1831162"/>
            <a:ext cx="1395674" cy="139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048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428750"/>
            <a:ext cx="272415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61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595086" y="828040"/>
            <a:ext cx="11110589" cy="5201920"/>
            <a:chOff x="595086" y="0"/>
            <a:chExt cx="11110589" cy="5201920"/>
          </a:xfrm>
        </p:grpSpPr>
        <p:pic>
          <p:nvPicPr>
            <p:cNvPr id="12" name="Рисунок 11"/>
            <p:cNvPicPr>
              <a:picLocks noChangeAspect="1"/>
            </p:cNvPicPr>
            <p:nvPr/>
          </p:nvPicPr>
          <p:blipFill rotWithShape="1">
            <a:blip r:embed="rId3"/>
            <a:srcRect t="1" b="64474"/>
            <a:stretch/>
          </p:blipFill>
          <p:spPr>
            <a:xfrm>
              <a:off x="595086" y="0"/>
              <a:ext cx="5065486" cy="52019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Прямоугольник 12"/>
            <p:cNvSpPr/>
            <p:nvPr/>
          </p:nvSpPr>
          <p:spPr>
            <a:xfrm>
              <a:off x="595086" y="1921692"/>
              <a:ext cx="5065486" cy="328022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 rotWithShape="1">
            <a:blip r:embed="rId3"/>
            <a:srcRect t="49448" b="13199"/>
            <a:stretch/>
          </p:blipFill>
          <p:spPr>
            <a:xfrm>
              <a:off x="7019737" y="0"/>
              <a:ext cx="4685938" cy="50596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Прямоугольник 13"/>
            <p:cNvSpPr/>
            <p:nvPr/>
          </p:nvSpPr>
          <p:spPr>
            <a:xfrm>
              <a:off x="7019737" y="1921692"/>
              <a:ext cx="4685938" cy="313798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3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3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2047383"/>
            <a:ext cx="5951439" cy="3765739"/>
            <a:chOff x="2639592" y="204738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665128" y="481559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639592" y="20473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745783" y="20473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3961854" y="31147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530189" y="31773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30864" y="209818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289470" y="2091108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7" name="Овал 16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 smtClean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 smtClean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658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40" y="1056908"/>
            <a:ext cx="9215120" cy="5117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84012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02790" y="2002790"/>
            <a:ext cx="8318500" cy="4000500"/>
            <a:chOff x="1982470" y="1789430"/>
            <a:chExt cx="8318500" cy="400050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24470" y="1789430"/>
              <a:ext cx="2476500" cy="400050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2470" y="1789430"/>
              <a:ext cx="2476500" cy="4000500"/>
            </a:xfrm>
            <a:prstGeom prst="rect">
              <a:avLst/>
            </a:prstGeom>
          </p:spPr>
        </p:pic>
      </p:grpSp>
      <p:pic>
        <p:nvPicPr>
          <p:cNvPr id="6" name="Рисунок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768" y="436880"/>
            <a:ext cx="1351280" cy="135128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43688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387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8356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23" y="789710"/>
            <a:ext cx="11599268" cy="496650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5004261" y="1249746"/>
            <a:ext cx="1529543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8997141" y="806336"/>
            <a:ext cx="244948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560" y="1113220"/>
            <a:ext cx="7633359" cy="47592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3819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ЖЕСТКОСТЬ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046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6366" y="2444087"/>
            <a:ext cx="11599268" cy="1969827"/>
            <a:chOff x="397163" y="2124653"/>
            <a:chExt cx="11599268" cy="1969827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 rotWithShape="1">
            <a:blip r:embed="rId3"/>
            <a:srcRect b="90739"/>
            <a:stretch/>
          </p:blipFill>
          <p:spPr>
            <a:xfrm>
              <a:off x="397163" y="3634510"/>
              <a:ext cx="11599268" cy="459970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pic>
          <p:nvPicPr>
            <p:cNvPr id="5" name="Рисунок 4"/>
            <p:cNvPicPr>
              <a:picLocks noChangeAspect="1"/>
            </p:cNvPicPr>
            <p:nvPr/>
          </p:nvPicPr>
          <p:blipFill rotWithShape="1">
            <a:blip r:embed="rId4"/>
            <a:srcRect b="92376"/>
            <a:stretch/>
          </p:blipFill>
          <p:spPr>
            <a:xfrm>
              <a:off x="1529788" y="2124653"/>
              <a:ext cx="9091221" cy="384867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</p:grpSp>
      <p:sp>
        <p:nvSpPr>
          <p:cNvPr id="9" name="Прямоугольник 8"/>
          <p:cNvSpPr/>
          <p:nvPr/>
        </p:nvSpPr>
        <p:spPr>
          <a:xfrm>
            <a:off x="9001760" y="3966412"/>
            <a:ext cx="2495665" cy="44750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3720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ХРУПКОСТЬ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648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048" y="355600"/>
            <a:ext cx="1351280" cy="135128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977390"/>
            <a:ext cx="2724150" cy="400050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657599" y="1977391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657599" y="3599815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995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101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704" y="532019"/>
            <a:ext cx="6356555" cy="564755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929704" y="2790382"/>
            <a:ext cx="6356555" cy="1362517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29705" y="1523558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8662382" y="378283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16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/>
          <p:cNvSpPr/>
          <p:nvPr/>
        </p:nvSpPr>
        <p:spPr>
          <a:xfrm>
            <a:off x="9312789" y="122538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 smtClean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9083232" y="127412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9071720" y="838089"/>
            <a:ext cx="2200260" cy="338554"/>
            <a:chOff x="8052781" y="706009"/>
            <a:chExt cx="2200260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 smtClean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/>
            <p:cNvSpPr/>
            <p:nvPr/>
          </p:nvSpPr>
          <p:spPr>
            <a:xfrm>
              <a:off x="6470194" y="1658067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281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ЛОЖНОЕ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4273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 smtClean="0"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latin typeface="Roboto" panose="02000000000000000000" pitchFamily="2" charset="0"/>
              </a:rPr>
              <a:t>()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ИСТИННОЕ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862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2229168" y="2305368"/>
            <a:ext cx="7733665" cy="2247265"/>
            <a:chOff x="978535" y="3632199"/>
            <a:chExt cx="7733665" cy="2247265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8535" y="3632199"/>
              <a:ext cx="2247265" cy="2247265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4935" y="3632199"/>
              <a:ext cx="2247265" cy="2247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847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3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3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70688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 smtClean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248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4006561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 smtClean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7" name="Овал 16"/>
          <p:cNvSpPr/>
          <p:nvPr/>
        </p:nvSpPr>
        <p:spPr>
          <a:xfrm>
            <a:off x="5474911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642062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6839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2200260" cy="338554"/>
            <a:chOff x="8052781" y="706009"/>
            <a:chExt cx="2200260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 smtClean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499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2200260" cy="338554"/>
            <a:chOff x="8052781" y="706009"/>
            <a:chExt cx="2200260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 smtClean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4341638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652222" y="3792996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5469200" y="3792997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894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 smtClean="0">
                <a:latin typeface="Roboto" panose="02000000000000000000" pitchFamily="2" charset="0"/>
              </a:rPr>
              <a:t>()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829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520" y="731520"/>
            <a:ext cx="539496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63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РЕШЕНИЕ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6635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223565" y="657498"/>
            <a:ext cx="575898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272575" y="486190"/>
            <a:ext cx="550216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8249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3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230917" y="2148840"/>
            <a:ext cx="560674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6142461" y="3233736"/>
            <a:ext cx="5714358" cy="850584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5328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2924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2689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3148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7635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563642" y="448387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4563642" y="304179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onProductValidated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0832" y="2930521"/>
            <a:ext cx="1220069" cy="1220069"/>
          </a:xfrm>
          <a:prstGeom prst="rect">
            <a:avLst/>
          </a:prstGeom>
        </p:spPr>
      </p:pic>
      <p:grpSp>
        <p:nvGrpSpPr>
          <p:cNvPr id="22" name="Группа 21"/>
          <p:cNvGrpSpPr/>
          <p:nvPr/>
        </p:nvGrpSpPr>
        <p:grpSpPr>
          <a:xfrm rot="18900000">
            <a:off x="7735346" y="2967802"/>
            <a:ext cx="1200596" cy="1145505"/>
            <a:chOff x="2418438" y="1588447"/>
            <a:chExt cx="843369" cy="804670"/>
          </a:xfrm>
        </p:grpSpPr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2233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588" y="285749"/>
            <a:ext cx="5011262" cy="618172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1" name="Прямоугольник 10"/>
          <p:cNvSpPr/>
          <p:nvPr/>
        </p:nvSpPr>
        <p:spPr>
          <a:xfrm>
            <a:off x="3694589" y="2316133"/>
            <a:ext cx="5011262" cy="207489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0925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3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84985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7054914" y="1650507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Прямоугольник 9"/>
          <p:cNvSpPr/>
          <p:nvPr/>
        </p:nvSpPr>
        <p:spPr>
          <a:xfrm>
            <a:off x="8358273" y="1080628"/>
            <a:ext cx="224773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err="1" smtClean="0">
                <a:latin typeface="Roboto" panose="02000000000000000000" pitchFamily="2" charset="0"/>
              </a:rPr>
              <a:t>Валидация</a:t>
            </a:r>
            <a:r>
              <a:rPr lang="ru-RU" sz="1600" dirty="0" smtClean="0">
                <a:latin typeface="Roboto" panose="02000000000000000000" pitchFamily="2" charset="0"/>
              </a:rPr>
              <a:t> продукта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117204" y="1129370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0030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741192" y="27617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847383" y="27617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5220280" y="2799857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8358273" y="1080628"/>
            <a:ext cx="224773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err="1" smtClean="0">
                <a:latin typeface="Roboto" panose="02000000000000000000" pitchFamily="2" charset="0"/>
              </a:rPr>
              <a:t>Валидация</a:t>
            </a:r>
            <a:r>
              <a:rPr lang="ru-RU" sz="1600" dirty="0" smtClean="0">
                <a:latin typeface="Roboto" panose="02000000000000000000" pitchFamily="2" charset="0"/>
              </a:rPr>
              <a:t> продукта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117204" y="1129370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401111" y="2799858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97488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24111" y="260935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48016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Разделить параметров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3620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 smtClean="0">
                <a:latin typeface="Roboto" panose="02000000000000000000" pitchFamily="2" charset="0"/>
              </a:rPr>
              <a:t>()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0637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2411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/>
          <a:srcRect b="6096"/>
          <a:stretch/>
        </p:blipFill>
        <p:spPr>
          <a:xfrm>
            <a:off x="3670712" y="257175"/>
            <a:ext cx="5365440" cy="60642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3670712" y="5683654"/>
            <a:ext cx="536544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7237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709317" y="24188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Тесты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7415833" y="241885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SUT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7" name="Прямая со стрелкой 6"/>
          <p:cNvCxnSpPr>
            <a:stCxn id="4" idx="3"/>
            <a:endCxn id="6" idx="1"/>
          </p:cNvCxnSpPr>
          <p:nvPr/>
        </p:nvCxnSpPr>
        <p:spPr>
          <a:xfrm>
            <a:off x="4493605" y="2917622"/>
            <a:ext cx="2922228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Прямоугольник 8"/>
          <p:cNvSpPr/>
          <p:nvPr/>
        </p:nvSpPr>
        <p:spPr>
          <a:xfrm>
            <a:off x="4717828" y="2548289"/>
            <a:ext cx="2396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dirty="0" smtClean="0">
                <a:latin typeface="Roboto" panose="02000000000000000000" pitchFamily="2" charset="0"/>
              </a:rPr>
              <a:t>Детали реализации</a:t>
            </a:r>
            <a:endParaRPr lang="en-US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897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showAtLeastOneAdmin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getAdmins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9208633" y="2599340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886730" y="2599339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126989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Семантика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5398997" y="260935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5077094" y="260935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83324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showAtLeastOneAdmin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getAdmins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9208633" y="2599340"/>
            <a:ext cx="241069" cy="24106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5398997" y="2609358"/>
            <a:ext cx="241069" cy="24106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7332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6"/>
          <p:cNvGrpSpPr/>
          <p:nvPr/>
        </p:nvGrpSpPr>
        <p:grpSpPr>
          <a:xfrm>
            <a:off x="3020482" y="353482"/>
            <a:ext cx="6151036" cy="6151036"/>
            <a:chOff x="2207152" y="-423920"/>
            <a:chExt cx="6151036" cy="6151036"/>
          </a:xfrm>
        </p:grpSpPr>
        <p:sp>
          <p:nvSpPr>
            <p:cNvPr id="21" name="Овал 20"/>
            <p:cNvSpPr/>
            <p:nvPr/>
          </p:nvSpPr>
          <p:spPr>
            <a:xfrm>
              <a:off x="2207152" y="-423920"/>
              <a:ext cx="6151036" cy="615103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dirty="0" smtClean="0">
                  <a:solidFill>
                    <a:schemeClr val="tx1"/>
                  </a:solidFill>
                </a:rPr>
                <a:t>Тип</a:t>
              </a:r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12" name="Овал 11"/>
            <p:cNvSpPr/>
            <p:nvPr/>
          </p:nvSpPr>
          <p:spPr>
            <a:xfrm>
              <a:off x="3427266" y="796194"/>
              <a:ext cx="3710808" cy="3710808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dirty="0" smtClean="0">
                  <a:solidFill>
                    <a:schemeClr val="tx1"/>
                  </a:solidFill>
                </a:rPr>
                <a:t>Тип</a:t>
              </a:r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" name="Овал 1"/>
            <p:cNvSpPr/>
            <p:nvPr/>
          </p:nvSpPr>
          <p:spPr>
            <a:xfrm>
              <a:off x="4599252" y="1968180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Реализация</a:t>
            </a:r>
            <a:endParaRPr lang="ru-RU" sz="2800" dirty="0"/>
          </a:p>
        </p:txBody>
      </p:sp>
      <p:sp>
        <p:nvSpPr>
          <p:cNvPr id="22" name="Прямоугольник 21"/>
          <p:cNvSpPr/>
          <p:nvPr/>
        </p:nvSpPr>
        <p:spPr>
          <a:xfrm>
            <a:off x="5738433" y="3167389"/>
            <a:ext cx="7151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Тип</a:t>
            </a:r>
            <a:endParaRPr lang="ru-RU" sz="28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Семантика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78771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Реализация</a:t>
            </a:r>
            <a:endParaRPr lang="ru-RU" sz="28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Семантика</a:t>
            </a:r>
            <a:endParaRPr lang="ru-RU" sz="28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 smtClean="0"/>
                <a:t>Тип</a:t>
              </a:r>
              <a:endParaRPr lang="ru-RU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71052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391899" y="39619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258682" y="396190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805140" y="4000007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4897018" y="400000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7986106" y="1202427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8234967" y="1152869"/>
            <a:ext cx="28873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Сигнатура объекта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4373099" y="1705175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&lt;interface&gt;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Logger</a:t>
            </a:r>
          </a:p>
        </p:txBody>
      </p:sp>
      <p:sp>
        <p:nvSpPr>
          <p:cNvPr id="9" name="Овал 8"/>
          <p:cNvSpPr/>
          <p:nvPr/>
        </p:nvSpPr>
        <p:spPr>
          <a:xfrm>
            <a:off x="6864535" y="174879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3" name="Соединительная линия уступом 12"/>
          <p:cNvCxnSpPr>
            <a:stCxn id="4" idx="0"/>
            <a:endCxn id="8" idx="2"/>
          </p:cNvCxnSpPr>
          <p:nvPr/>
        </p:nvCxnSpPr>
        <p:spPr>
          <a:xfrm rot="5400000" flipH="1" flipV="1">
            <a:off x="4145040" y="2341705"/>
            <a:ext cx="1259206" cy="19812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6" idx="0"/>
            <a:endCxn id="8" idx="2"/>
          </p:cNvCxnSpPr>
          <p:nvPr/>
        </p:nvCxnSpPr>
        <p:spPr>
          <a:xfrm rot="16200000" flipV="1">
            <a:off x="6093672" y="2374273"/>
            <a:ext cx="1259206" cy="191606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8674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412582" y="2745582"/>
            <a:ext cx="1366836" cy="136683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5916302" y="3167389"/>
            <a:ext cx="35939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/>
              <a:t>T</a:t>
            </a:r>
            <a:endParaRPr lang="ru-RU" sz="28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438610" y="4218264"/>
            <a:ext cx="131478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Эффект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86670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2515724" y="511443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6382507" y="5114433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496924" y="2857700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&lt;interface&gt;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Logger</a:t>
            </a:r>
          </a:p>
        </p:txBody>
      </p:sp>
      <p:cxnSp>
        <p:nvCxnSpPr>
          <p:cNvPr id="15" name="Соединительная линия уступом 14"/>
          <p:cNvCxnSpPr>
            <a:stCxn id="6" idx="0"/>
            <a:endCxn id="13" idx="2"/>
          </p:cNvCxnSpPr>
          <p:nvPr/>
        </p:nvCxnSpPr>
        <p:spPr>
          <a:xfrm rot="5400000" flipH="1" flipV="1">
            <a:off x="4268865" y="3494230"/>
            <a:ext cx="1259206" cy="19812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Соединительная линия уступом 15"/>
          <p:cNvCxnSpPr>
            <a:stCxn id="7" idx="0"/>
            <a:endCxn id="13" idx="2"/>
          </p:cNvCxnSpPr>
          <p:nvPr/>
        </p:nvCxnSpPr>
        <p:spPr>
          <a:xfrm rot="16200000" flipV="1">
            <a:off x="6217497" y="3526798"/>
            <a:ext cx="1259206" cy="191606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496924" y="971750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 smtClean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Прямая со стрелкой 17"/>
          <p:cNvCxnSpPr>
            <a:stCxn id="17" idx="2"/>
            <a:endCxn id="13" idx="0"/>
          </p:cNvCxnSpPr>
          <p:nvPr/>
        </p:nvCxnSpPr>
        <p:spPr>
          <a:xfrm>
            <a:off x="5889068" y="19692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22296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946994" y="4179077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CLIENT 0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7515570" y="417907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731282" y="280366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SERVER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7515570" y="142825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3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886034" y="1428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2</a:t>
            </a:r>
          </a:p>
        </p:txBody>
      </p:sp>
      <p:cxnSp>
        <p:nvCxnSpPr>
          <p:cNvPr id="9" name="Соединительная линия уступом 8"/>
          <p:cNvCxnSpPr>
            <a:stCxn id="4" idx="3"/>
          </p:cNvCxnSpPr>
          <p:nvPr/>
        </p:nvCxnSpPr>
        <p:spPr>
          <a:xfrm flipV="1">
            <a:off x="4731282" y="3801195"/>
            <a:ext cx="1392145" cy="876646"/>
          </a:xfrm>
          <a:prstGeom prst="bentConnector3">
            <a:avLst>
              <a:gd name="adj1" fmla="val 9981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6" idx="1"/>
            <a:endCxn id="12" idx="2"/>
          </p:cNvCxnSpPr>
          <p:nvPr/>
        </p:nvCxnSpPr>
        <p:spPr>
          <a:xfrm rot="10800000">
            <a:off x="6123426" y="3801196"/>
            <a:ext cx="1392144" cy="876647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Соединительная линия уступом 15"/>
          <p:cNvCxnSpPr>
            <a:stCxn id="8" idx="3"/>
            <a:endCxn id="12" idx="0"/>
          </p:cNvCxnSpPr>
          <p:nvPr/>
        </p:nvCxnSpPr>
        <p:spPr>
          <a:xfrm>
            <a:off x="4731282" y="1927021"/>
            <a:ext cx="1392144" cy="876647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7" idx="1"/>
            <a:endCxn id="12" idx="0"/>
          </p:cNvCxnSpPr>
          <p:nvPr/>
        </p:nvCxnSpPr>
        <p:spPr>
          <a:xfrm rot="10800000" flipV="1">
            <a:off x="6123426" y="1927022"/>
            <a:ext cx="1392144" cy="876646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4049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973485" y="2446567"/>
            <a:ext cx="342559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suggestProductPriceByKind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42406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Скорость выполнения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48177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Алгоритм поиска цены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7094793" y="2484667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772890" y="248466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9304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294619" y="3961907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WindowsUI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338445" y="396190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AndroidUI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4373099" y="1705175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Общая логика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Соединительная линия уступом 12"/>
          <p:cNvCxnSpPr>
            <a:stCxn id="4" idx="0"/>
            <a:endCxn id="8" idx="2"/>
          </p:cNvCxnSpPr>
          <p:nvPr/>
        </p:nvCxnSpPr>
        <p:spPr>
          <a:xfrm rot="5400000" flipH="1" flipV="1">
            <a:off x="3596401" y="1793065"/>
            <a:ext cx="1259205" cy="307848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6" idx="0"/>
            <a:endCxn id="8" idx="2"/>
          </p:cNvCxnSpPr>
          <p:nvPr/>
        </p:nvCxnSpPr>
        <p:spPr>
          <a:xfrm rot="5400000" flipH="1" flipV="1">
            <a:off x="5133554" y="3330218"/>
            <a:ext cx="1259205" cy="41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/>
          <p:cNvSpPr/>
          <p:nvPr/>
        </p:nvSpPr>
        <p:spPr>
          <a:xfrm>
            <a:off x="7443231" y="3961906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Web</a:t>
            </a:r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20" name="Соединительная линия уступом 19"/>
          <p:cNvCxnSpPr>
            <a:stCxn id="15" idx="0"/>
            <a:endCxn id="8" idx="2"/>
          </p:cNvCxnSpPr>
          <p:nvPr/>
        </p:nvCxnSpPr>
        <p:spPr>
          <a:xfrm rot="16200000" flipV="1">
            <a:off x="6685947" y="1781998"/>
            <a:ext cx="1259204" cy="310061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3336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973485" y="2446567"/>
            <a:ext cx="342559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Login()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9658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Получение статуса системы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8200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Отображение интерфейса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7094793" y="2484667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772890" y="248466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65147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300459" y="344651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258685" y="333013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3413437" y="1759033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9" name="Овал 8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/>
        </p:nvSpPr>
        <p:spPr>
          <a:xfrm>
            <a:off x="8301642" y="705194"/>
            <a:ext cx="27847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Общее поведение формы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5992677" y="178397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4818739" y="347145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837925" y="3366490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184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6458989" y="4295284"/>
            <a:ext cx="3568124" cy="1249305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8003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4119599" y="1286076"/>
            <a:ext cx="5907514" cy="3011604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1548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1421476" y="3491345"/>
            <a:ext cx="2377440" cy="1438101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3121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2177934" y="2784764"/>
            <a:ext cx="3441470" cy="689958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4114800" y="3474721"/>
            <a:ext cx="1504603" cy="881147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06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2103119" y="2128059"/>
            <a:ext cx="3441470" cy="689958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4039986" y="1246912"/>
            <a:ext cx="1504603" cy="881147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4318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6986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34193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3896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714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3524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7108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3582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5065524" y="390371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669292" y="206482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644843" y="2284917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461756" y="206482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7041075" y="2284917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5065524" y="22593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644843" y="446027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7041075" y="446027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/>
          <p:cNvSpPr/>
          <p:nvPr/>
        </p:nvSpPr>
        <p:spPr>
          <a:xfrm>
            <a:off x="5065524" y="555290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Нестабильный элемент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9" name="Прямая со стрелкой 8"/>
          <p:cNvCxnSpPr>
            <a:stCxn id="4" idx="2"/>
            <a:endCxn id="12" idx="0"/>
          </p:cNvCxnSpPr>
          <p:nvPr/>
        </p:nvCxnSpPr>
        <p:spPr>
          <a:xfrm>
            <a:off x="6263640" y="4901242"/>
            <a:ext cx="0" cy="65165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1415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Провайдер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841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Эмулятор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5628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634019" y="2895455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600619" y="288543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&lt;&lt;interface&gt;&gt;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Provider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3641724" y="3384202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8404762" y="287975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Эмулятор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7" name="Прямая со стрелкой 6"/>
          <p:cNvCxnSpPr>
            <a:stCxn id="5" idx="1"/>
            <a:endCxn id="6" idx="3"/>
          </p:cNvCxnSpPr>
          <p:nvPr/>
        </p:nvCxnSpPr>
        <p:spPr>
          <a:xfrm flipH="1">
            <a:off x="7445867" y="3378515"/>
            <a:ext cx="958895" cy="568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3313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634019" y="2895455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600619" y="288543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&lt;&lt;interface&gt;&gt;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Provider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3641724" y="3384202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8404762" y="189792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Эмулятор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8404762" y="3882965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Провайдер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9" name="Соединительная линия уступом 8"/>
          <p:cNvCxnSpPr>
            <a:stCxn id="5" idx="1"/>
            <a:endCxn id="6" idx="3"/>
          </p:cNvCxnSpPr>
          <p:nvPr/>
        </p:nvCxnSpPr>
        <p:spPr>
          <a:xfrm rot="10800000" flipV="1">
            <a:off x="7445868" y="2396692"/>
            <a:ext cx="958895" cy="98751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8" idx="1"/>
            <a:endCxn id="6" idx="3"/>
          </p:cNvCxnSpPr>
          <p:nvPr/>
        </p:nvCxnSpPr>
        <p:spPr>
          <a:xfrm rot="10800000">
            <a:off x="7445868" y="3384203"/>
            <a:ext cx="958895" cy="997527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5759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28931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8265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5322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2368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7107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6922511" y="293451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6637887" y="293451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2846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3771988" y="292430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10073034" y="2924306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8820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876308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575262" y="410144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25785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3971494" y="4595164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22017" y="4595164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725785" y="124513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Контейнеры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2" idx="0"/>
            <a:endCxn id="17" idx="2"/>
          </p:cNvCxnSpPr>
          <p:nvPr/>
        </p:nvCxnSpPr>
        <p:spPr>
          <a:xfrm rot="5400000" flipH="1" flipV="1">
            <a:off x="3419248" y="1596792"/>
            <a:ext cx="1858783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Соединительная линия уступом 18"/>
          <p:cNvCxnSpPr>
            <a:stCxn id="14" idx="0"/>
            <a:endCxn id="17" idx="2"/>
          </p:cNvCxnSpPr>
          <p:nvPr/>
        </p:nvCxnSpPr>
        <p:spPr>
          <a:xfrm rot="5400000" flipH="1" flipV="1">
            <a:off x="4997032" y="3169531"/>
            <a:ext cx="1853739" cy="127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stCxn id="10" idx="0"/>
            <a:endCxn id="17" idx="2"/>
          </p:cNvCxnSpPr>
          <p:nvPr/>
        </p:nvCxnSpPr>
        <p:spPr>
          <a:xfrm rot="16200000" flipV="1">
            <a:off x="6572294" y="1594269"/>
            <a:ext cx="1853739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3382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876308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575262" y="410144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25785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3971494" y="4595164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22017" y="4595164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725785" y="124513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Контейнеры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2" idx="0"/>
            <a:endCxn id="17" idx="2"/>
          </p:cNvCxnSpPr>
          <p:nvPr/>
        </p:nvCxnSpPr>
        <p:spPr>
          <a:xfrm rot="5400000" flipH="1" flipV="1">
            <a:off x="3419248" y="1596792"/>
            <a:ext cx="1858783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Соединительная линия уступом 18"/>
          <p:cNvCxnSpPr>
            <a:stCxn id="14" idx="0"/>
            <a:endCxn id="17" idx="2"/>
          </p:cNvCxnSpPr>
          <p:nvPr/>
        </p:nvCxnSpPr>
        <p:spPr>
          <a:xfrm rot="5400000" flipH="1" flipV="1">
            <a:off x="4997032" y="3169531"/>
            <a:ext cx="1853739" cy="127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stCxn id="10" idx="0"/>
            <a:endCxn id="17" idx="2"/>
          </p:cNvCxnSpPr>
          <p:nvPr/>
        </p:nvCxnSpPr>
        <p:spPr>
          <a:xfrm rot="16200000" flipV="1">
            <a:off x="6572294" y="1594269"/>
            <a:ext cx="1853739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8301642" y="705194"/>
            <a:ext cx="106471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Очередь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6853756" y="128034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Овал 21"/>
          <p:cNvSpPr/>
          <p:nvPr/>
        </p:nvSpPr>
        <p:spPr>
          <a:xfrm>
            <a:off x="9996546" y="412497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6909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876308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575262" y="410144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25785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3971494" y="4595164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22017" y="4595164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725785" y="124513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Контейнеры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2" idx="0"/>
            <a:endCxn id="17" idx="2"/>
          </p:cNvCxnSpPr>
          <p:nvPr/>
        </p:nvCxnSpPr>
        <p:spPr>
          <a:xfrm rot="5400000" flipH="1" flipV="1">
            <a:off x="3419248" y="1596792"/>
            <a:ext cx="1858783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Соединительная линия уступом 18"/>
          <p:cNvCxnSpPr>
            <a:stCxn id="14" idx="0"/>
            <a:endCxn id="17" idx="2"/>
          </p:cNvCxnSpPr>
          <p:nvPr/>
        </p:nvCxnSpPr>
        <p:spPr>
          <a:xfrm rot="5400000" flipH="1" flipV="1">
            <a:off x="4997032" y="3169531"/>
            <a:ext cx="1853739" cy="127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stCxn id="10" idx="0"/>
            <a:endCxn id="17" idx="2"/>
          </p:cNvCxnSpPr>
          <p:nvPr/>
        </p:nvCxnSpPr>
        <p:spPr>
          <a:xfrm rot="16200000" flipV="1">
            <a:off x="6572294" y="1594269"/>
            <a:ext cx="1853739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8301642" y="705194"/>
            <a:ext cx="339067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Общее поведение контейнеров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6853756" y="128034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Овал 21"/>
          <p:cNvSpPr/>
          <p:nvPr/>
        </p:nvSpPr>
        <p:spPr>
          <a:xfrm>
            <a:off x="9998192" y="4127690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Овал 22"/>
          <p:cNvSpPr/>
          <p:nvPr/>
        </p:nvSpPr>
        <p:spPr>
          <a:xfrm>
            <a:off x="3705486" y="411937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Овал 23"/>
          <p:cNvSpPr/>
          <p:nvPr/>
        </p:nvSpPr>
        <p:spPr>
          <a:xfrm>
            <a:off x="6856022" y="4129650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3439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110932" y="3718592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CCP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05502" y="3708115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CRP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9" name="Picture 6" descr="File:Haskell-Logo.svg - Wikimedia Common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277" y="3538611"/>
            <a:ext cx="1063071" cy="75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16">
            <a:extLst>
              <a:ext uri="{FF2B5EF4-FFF2-40B4-BE49-F238E27FC236}">
                <a16:creationId xmlns:a16="http://schemas.microsoft.com/office/drawing/2014/main" id="{4F093A01-AFA5-4432-BC90-9F7CC1329D20}"/>
              </a:ext>
            </a:extLst>
          </p:cNvPr>
          <p:cNvGrpSpPr/>
          <p:nvPr/>
        </p:nvGrpSpPr>
        <p:grpSpPr>
          <a:xfrm>
            <a:off x="1263265" y="4528635"/>
            <a:ext cx="9682096" cy="156870"/>
            <a:chOff x="1641335" y="4360680"/>
            <a:chExt cx="9682096" cy="156870"/>
          </a:xfrm>
        </p:grpSpPr>
        <p:grpSp>
          <p:nvGrpSpPr>
            <p:cNvPr id="31" name="Group 14">
              <a:extLst>
                <a:ext uri="{FF2B5EF4-FFF2-40B4-BE49-F238E27FC236}">
                  <a16:creationId xmlns:a16="http://schemas.microsoft.com/office/drawing/2014/main" id="{F87F92B1-E98F-4613-99DC-24DAA46E862D}"/>
                </a:ext>
              </a:extLst>
            </p:cNvPr>
            <p:cNvGrpSpPr/>
            <p:nvPr/>
          </p:nvGrpSpPr>
          <p:grpSpPr>
            <a:xfrm>
              <a:off x="1641335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62" name="Group 13">
                <a:extLst>
                  <a:ext uri="{FF2B5EF4-FFF2-40B4-BE49-F238E27FC236}">
                    <a16:creationId xmlns:a16="http://schemas.microsoft.com/office/drawing/2014/main" id="{461965AA-ACFF-479C-A844-C9C0C09DDB07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70" name="Group 12">
                  <a:extLst>
                    <a:ext uri="{FF2B5EF4-FFF2-40B4-BE49-F238E27FC236}">
                      <a16:creationId xmlns:a16="http://schemas.microsoft.com/office/drawing/2014/main" id="{6CA4CF4D-5511-44F9-8FDD-3DA7FEDEDCC6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4" name="Straight Connector 8">
                    <a:extLst>
                      <a:ext uri="{FF2B5EF4-FFF2-40B4-BE49-F238E27FC236}">
                        <a16:creationId xmlns:a16="http://schemas.microsoft.com/office/drawing/2014/main" id="{84B4C120-D00C-4896-AB94-954E4A696F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Straight Connector 24">
                    <a:extLst>
                      <a:ext uri="{FF2B5EF4-FFF2-40B4-BE49-F238E27FC236}">
                        <a16:creationId xmlns:a16="http://schemas.microsoft.com/office/drawing/2014/main" id="{E952AD90-76AA-4FF8-9624-E7ABC6AFEC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1" name="Group 28">
                  <a:extLst>
                    <a:ext uri="{FF2B5EF4-FFF2-40B4-BE49-F238E27FC236}">
                      <a16:creationId xmlns:a16="http://schemas.microsoft.com/office/drawing/2014/main" id="{FE19ED00-AE23-4891-A571-6158619639E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2" name="Straight Connector 36">
                    <a:extLst>
                      <a:ext uri="{FF2B5EF4-FFF2-40B4-BE49-F238E27FC236}">
                        <a16:creationId xmlns:a16="http://schemas.microsoft.com/office/drawing/2014/main" id="{43458380-E4EF-4416-9036-F12123B63A23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Straight Connector 37">
                    <a:extLst>
                      <a:ext uri="{FF2B5EF4-FFF2-40B4-BE49-F238E27FC236}">
                        <a16:creationId xmlns:a16="http://schemas.microsoft.com/office/drawing/2014/main" id="{81C3F3B2-2263-4554-9F2E-EE84FC4A0D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3" name="Group 38">
                <a:extLst>
                  <a:ext uri="{FF2B5EF4-FFF2-40B4-BE49-F238E27FC236}">
                    <a16:creationId xmlns:a16="http://schemas.microsoft.com/office/drawing/2014/main" id="{C70D5619-0F38-414E-8C9D-ECC1CCB85D8C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64" name="Group 39">
                  <a:extLst>
                    <a:ext uri="{FF2B5EF4-FFF2-40B4-BE49-F238E27FC236}">
                      <a16:creationId xmlns:a16="http://schemas.microsoft.com/office/drawing/2014/main" id="{92DD0B0D-42A7-4356-AABA-9FCA4132F860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8" name="Straight Connector 43">
                    <a:extLst>
                      <a:ext uri="{FF2B5EF4-FFF2-40B4-BE49-F238E27FC236}">
                        <a16:creationId xmlns:a16="http://schemas.microsoft.com/office/drawing/2014/main" id="{41F7BB49-16E0-498A-80D0-4755B56D8A1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" name="Straight Connector 44">
                    <a:extLst>
                      <a:ext uri="{FF2B5EF4-FFF2-40B4-BE49-F238E27FC236}">
                        <a16:creationId xmlns:a16="http://schemas.microsoft.com/office/drawing/2014/main" id="{5C7B8391-C8F6-440C-8C87-DE2B42994F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" name="Group 40">
                  <a:extLst>
                    <a:ext uri="{FF2B5EF4-FFF2-40B4-BE49-F238E27FC236}">
                      <a16:creationId xmlns:a16="http://schemas.microsoft.com/office/drawing/2014/main" id="{9C4BDFF6-A674-452C-8816-1B00AC22D1C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6" name="Straight Connector 41">
                    <a:extLst>
                      <a:ext uri="{FF2B5EF4-FFF2-40B4-BE49-F238E27FC236}">
                        <a16:creationId xmlns:a16="http://schemas.microsoft.com/office/drawing/2014/main" id="{078915E2-D406-4410-BA89-D26A271B7C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" name="Straight Connector 42">
                    <a:extLst>
                      <a:ext uri="{FF2B5EF4-FFF2-40B4-BE49-F238E27FC236}">
                        <a16:creationId xmlns:a16="http://schemas.microsoft.com/office/drawing/2014/main" id="{BA5ADD94-66CA-4DC6-8742-62FE4CF9FF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2" name="Group 45">
              <a:extLst>
                <a:ext uri="{FF2B5EF4-FFF2-40B4-BE49-F238E27FC236}">
                  <a16:creationId xmlns:a16="http://schemas.microsoft.com/office/drawing/2014/main" id="{B05881A6-CF06-4B4D-A660-C72BABCF75D8}"/>
                </a:ext>
              </a:extLst>
            </p:cNvPr>
            <p:cNvGrpSpPr/>
            <p:nvPr/>
          </p:nvGrpSpPr>
          <p:grpSpPr>
            <a:xfrm>
              <a:off x="5498527" y="4362454"/>
              <a:ext cx="3900353" cy="155096"/>
              <a:chOff x="2798496" y="4959070"/>
              <a:chExt cx="3900353" cy="155096"/>
            </a:xfrm>
          </p:grpSpPr>
          <p:grpSp>
            <p:nvGrpSpPr>
              <p:cNvPr id="48" name="Group 46">
                <a:extLst>
                  <a:ext uri="{FF2B5EF4-FFF2-40B4-BE49-F238E27FC236}">
                    <a16:creationId xmlns:a16="http://schemas.microsoft.com/office/drawing/2014/main" id="{2AF9FAFA-B2C6-422B-B7A4-713D9E913DDF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6" name="Group 54">
                  <a:extLst>
                    <a:ext uri="{FF2B5EF4-FFF2-40B4-BE49-F238E27FC236}">
                      <a16:creationId xmlns:a16="http://schemas.microsoft.com/office/drawing/2014/main" id="{568595DD-2D3D-4EF2-8686-8E9527BDE07C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0" name="Straight Connector 58">
                    <a:extLst>
                      <a:ext uri="{FF2B5EF4-FFF2-40B4-BE49-F238E27FC236}">
                        <a16:creationId xmlns:a16="http://schemas.microsoft.com/office/drawing/2014/main" id="{0C4477ED-2911-458C-8FAB-C2FF5106CC56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59">
                    <a:extLst>
                      <a:ext uri="{FF2B5EF4-FFF2-40B4-BE49-F238E27FC236}">
                        <a16:creationId xmlns:a16="http://schemas.microsoft.com/office/drawing/2014/main" id="{84A1CB7A-929A-42F8-AB01-92D73CB216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" name="Group 55">
                  <a:extLst>
                    <a:ext uri="{FF2B5EF4-FFF2-40B4-BE49-F238E27FC236}">
                      <a16:creationId xmlns:a16="http://schemas.microsoft.com/office/drawing/2014/main" id="{92D5D319-B542-41BA-B5CE-42A1A0276E4E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8" name="Straight Connector 56">
                    <a:extLst>
                      <a:ext uri="{FF2B5EF4-FFF2-40B4-BE49-F238E27FC236}">
                        <a16:creationId xmlns:a16="http://schemas.microsoft.com/office/drawing/2014/main" id="{60B96DF1-B31E-4D7B-9F82-05A5AA9834A5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Straight Connector 57">
                    <a:extLst>
                      <a:ext uri="{FF2B5EF4-FFF2-40B4-BE49-F238E27FC236}">
                        <a16:creationId xmlns:a16="http://schemas.microsoft.com/office/drawing/2014/main" id="{7E9C9CC4-8CD4-460F-89E2-181001C47BA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" name="Group 47">
                <a:extLst>
                  <a:ext uri="{FF2B5EF4-FFF2-40B4-BE49-F238E27FC236}">
                    <a16:creationId xmlns:a16="http://schemas.microsoft.com/office/drawing/2014/main" id="{8F76D774-8C1B-434D-BC4B-D7A623BC36D8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0" name="Group 48">
                  <a:extLst>
                    <a:ext uri="{FF2B5EF4-FFF2-40B4-BE49-F238E27FC236}">
                      <a16:creationId xmlns:a16="http://schemas.microsoft.com/office/drawing/2014/main" id="{1986D2A1-ECAC-4444-9AA0-99C2BA6BDEF7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4" name="Straight Connector 52">
                    <a:extLst>
                      <a:ext uri="{FF2B5EF4-FFF2-40B4-BE49-F238E27FC236}">
                        <a16:creationId xmlns:a16="http://schemas.microsoft.com/office/drawing/2014/main" id="{5043C531-DA5D-495B-952D-BAB4F97D30F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Straight Connector 53">
                    <a:extLst>
                      <a:ext uri="{FF2B5EF4-FFF2-40B4-BE49-F238E27FC236}">
                        <a16:creationId xmlns:a16="http://schemas.microsoft.com/office/drawing/2014/main" id="{2E5D1FBA-99EB-45E0-AEE1-20F926725D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" name="Group 49">
                  <a:extLst>
                    <a:ext uri="{FF2B5EF4-FFF2-40B4-BE49-F238E27FC236}">
                      <a16:creationId xmlns:a16="http://schemas.microsoft.com/office/drawing/2014/main" id="{5D78912D-BD2D-4CFD-B235-386F66AB7F3D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2" name="Straight Connector 50">
                    <a:extLst>
                      <a:ext uri="{FF2B5EF4-FFF2-40B4-BE49-F238E27FC236}">
                        <a16:creationId xmlns:a16="http://schemas.microsoft.com/office/drawing/2014/main" id="{4AC8CB59-FDEC-408F-9C8F-DC6718B39B4B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Straight Connector 51">
                    <a:extLst>
                      <a:ext uri="{FF2B5EF4-FFF2-40B4-BE49-F238E27FC236}">
                        <a16:creationId xmlns:a16="http://schemas.microsoft.com/office/drawing/2014/main" id="{882953B4-2B51-418D-A4C1-F5A56365A5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3" name="Group 60">
              <a:extLst>
                <a:ext uri="{FF2B5EF4-FFF2-40B4-BE49-F238E27FC236}">
                  <a16:creationId xmlns:a16="http://schemas.microsoft.com/office/drawing/2014/main" id="{50939DA5-1CCF-49A3-86F1-D71EAD9C752A}"/>
                </a:ext>
              </a:extLst>
            </p:cNvPr>
            <p:cNvGrpSpPr/>
            <p:nvPr/>
          </p:nvGrpSpPr>
          <p:grpSpPr>
            <a:xfrm>
              <a:off x="7423078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34" name="Group 61">
                <a:extLst>
                  <a:ext uri="{FF2B5EF4-FFF2-40B4-BE49-F238E27FC236}">
                    <a16:creationId xmlns:a16="http://schemas.microsoft.com/office/drawing/2014/main" id="{FE1C24F0-CE46-4924-A53A-FD93D0D36EA6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42" name="Group 69">
                  <a:extLst>
                    <a:ext uri="{FF2B5EF4-FFF2-40B4-BE49-F238E27FC236}">
                      <a16:creationId xmlns:a16="http://schemas.microsoft.com/office/drawing/2014/main" id="{92FC3369-5773-49EE-A10C-35A442895814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6" name="Straight Connector 73">
                    <a:extLst>
                      <a:ext uri="{FF2B5EF4-FFF2-40B4-BE49-F238E27FC236}">
                        <a16:creationId xmlns:a16="http://schemas.microsoft.com/office/drawing/2014/main" id="{9CA948D0-02DE-4570-8DE1-7CDBC4F9FEA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74">
                    <a:extLst>
                      <a:ext uri="{FF2B5EF4-FFF2-40B4-BE49-F238E27FC236}">
                        <a16:creationId xmlns:a16="http://schemas.microsoft.com/office/drawing/2014/main" id="{F9B24628-FDBB-4176-9E0F-AA5056650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" name="Group 70">
                  <a:extLst>
                    <a:ext uri="{FF2B5EF4-FFF2-40B4-BE49-F238E27FC236}">
                      <a16:creationId xmlns:a16="http://schemas.microsoft.com/office/drawing/2014/main" id="{769E6438-D124-4663-8395-58EA3AE997F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4" name="Straight Connector 71">
                    <a:extLst>
                      <a:ext uri="{FF2B5EF4-FFF2-40B4-BE49-F238E27FC236}">
                        <a16:creationId xmlns:a16="http://schemas.microsoft.com/office/drawing/2014/main" id="{422AD38C-CADD-424D-9B2C-100EBC39E82C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Straight Connector 72">
                    <a:extLst>
                      <a:ext uri="{FF2B5EF4-FFF2-40B4-BE49-F238E27FC236}">
                        <a16:creationId xmlns:a16="http://schemas.microsoft.com/office/drawing/2014/main" id="{36FA89F1-81C4-4116-AE89-77572E4390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5" name="Group 62">
                <a:extLst>
                  <a:ext uri="{FF2B5EF4-FFF2-40B4-BE49-F238E27FC236}">
                    <a16:creationId xmlns:a16="http://schemas.microsoft.com/office/drawing/2014/main" id="{06DF7CFD-E944-4E42-88D0-8A2DA021335E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36" name="Group 63">
                  <a:extLst>
                    <a:ext uri="{FF2B5EF4-FFF2-40B4-BE49-F238E27FC236}">
                      <a16:creationId xmlns:a16="http://schemas.microsoft.com/office/drawing/2014/main" id="{79B4807B-22F3-47F2-9572-695681F9EABF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0" name="Straight Connector 67">
                    <a:extLst>
                      <a:ext uri="{FF2B5EF4-FFF2-40B4-BE49-F238E27FC236}">
                        <a16:creationId xmlns:a16="http://schemas.microsoft.com/office/drawing/2014/main" id="{5FA79660-EEA3-4E56-9623-3F0F4F31A2B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Straight Connector 68">
                    <a:extLst>
                      <a:ext uri="{FF2B5EF4-FFF2-40B4-BE49-F238E27FC236}">
                        <a16:creationId xmlns:a16="http://schemas.microsoft.com/office/drawing/2014/main" id="{A2A4EFDE-E701-4E7E-AED7-CA36E20A1B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" name="Group 64">
                  <a:extLst>
                    <a:ext uri="{FF2B5EF4-FFF2-40B4-BE49-F238E27FC236}">
                      <a16:creationId xmlns:a16="http://schemas.microsoft.com/office/drawing/2014/main" id="{45A235E9-1D9E-4B40-BA47-4AFC7972EBD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38" name="Straight Connector 65">
                    <a:extLst>
                      <a:ext uri="{FF2B5EF4-FFF2-40B4-BE49-F238E27FC236}">
                        <a16:creationId xmlns:a16="http://schemas.microsoft.com/office/drawing/2014/main" id="{A20A7E15-6DE0-4881-B5F0-1EE7F20EA71A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Straight Connector 66">
                    <a:extLst>
                      <a:ext uri="{FF2B5EF4-FFF2-40B4-BE49-F238E27FC236}">
                        <a16:creationId xmlns:a16="http://schemas.microsoft.com/office/drawing/2014/main" id="{6980D04B-5D69-4E5F-8D8F-8D4FB01FC9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</p:spTree>
    <p:extLst>
      <p:ext uri="{BB962C8B-B14F-4D97-AF65-F5344CB8AC3E}">
        <p14:creationId xmlns:p14="http://schemas.microsoft.com/office/powerpoint/2010/main" val="642880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110932" y="3718592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CCP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05502" y="3708115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CRP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9" name="Picture 6" descr="File:Haskell-Logo.svg - Wikimedia Common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2295" y="3538611"/>
            <a:ext cx="1063071" cy="75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16">
            <a:extLst>
              <a:ext uri="{FF2B5EF4-FFF2-40B4-BE49-F238E27FC236}">
                <a16:creationId xmlns:a16="http://schemas.microsoft.com/office/drawing/2014/main" id="{4F093A01-AFA5-4432-BC90-9F7CC1329D20}"/>
              </a:ext>
            </a:extLst>
          </p:cNvPr>
          <p:cNvGrpSpPr/>
          <p:nvPr/>
        </p:nvGrpSpPr>
        <p:grpSpPr>
          <a:xfrm>
            <a:off x="1263265" y="4528635"/>
            <a:ext cx="9682096" cy="156870"/>
            <a:chOff x="1641335" y="4360680"/>
            <a:chExt cx="9682096" cy="156870"/>
          </a:xfrm>
        </p:grpSpPr>
        <p:grpSp>
          <p:nvGrpSpPr>
            <p:cNvPr id="31" name="Group 14">
              <a:extLst>
                <a:ext uri="{FF2B5EF4-FFF2-40B4-BE49-F238E27FC236}">
                  <a16:creationId xmlns:a16="http://schemas.microsoft.com/office/drawing/2014/main" id="{F87F92B1-E98F-4613-99DC-24DAA46E862D}"/>
                </a:ext>
              </a:extLst>
            </p:cNvPr>
            <p:cNvGrpSpPr/>
            <p:nvPr/>
          </p:nvGrpSpPr>
          <p:grpSpPr>
            <a:xfrm>
              <a:off x="1641335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62" name="Group 13">
                <a:extLst>
                  <a:ext uri="{FF2B5EF4-FFF2-40B4-BE49-F238E27FC236}">
                    <a16:creationId xmlns:a16="http://schemas.microsoft.com/office/drawing/2014/main" id="{461965AA-ACFF-479C-A844-C9C0C09DDB07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70" name="Group 12">
                  <a:extLst>
                    <a:ext uri="{FF2B5EF4-FFF2-40B4-BE49-F238E27FC236}">
                      <a16:creationId xmlns:a16="http://schemas.microsoft.com/office/drawing/2014/main" id="{6CA4CF4D-5511-44F9-8FDD-3DA7FEDEDCC6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4" name="Straight Connector 8">
                    <a:extLst>
                      <a:ext uri="{FF2B5EF4-FFF2-40B4-BE49-F238E27FC236}">
                        <a16:creationId xmlns:a16="http://schemas.microsoft.com/office/drawing/2014/main" id="{84B4C120-D00C-4896-AB94-954E4A696F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Straight Connector 24">
                    <a:extLst>
                      <a:ext uri="{FF2B5EF4-FFF2-40B4-BE49-F238E27FC236}">
                        <a16:creationId xmlns:a16="http://schemas.microsoft.com/office/drawing/2014/main" id="{E952AD90-76AA-4FF8-9624-E7ABC6AFEC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1" name="Group 28">
                  <a:extLst>
                    <a:ext uri="{FF2B5EF4-FFF2-40B4-BE49-F238E27FC236}">
                      <a16:creationId xmlns:a16="http://schemas.microsoft.com/office/drawing/2014/main" id="{FE19ED00-AE23-4891-A571-6158619639E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2" name="Straight Connector 36">
                    <a:extLst>
                      <a:ext uri="{FF2B5EF4-FFF2-40B4-BE49-F238E27FC236}">
                        <a16:creationId xmlns:a16="http://schemas.microsoft.com/office/drawing/2014/main" id="{43458380-E4EF-4416-9036-F12123B63A23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Straight Connector 37">
                    <a:extLst>
                      <a:ext uri="{FF2B5EF4-FFF2-40B4-BE49-F238E27FC236}">
                        <a16:creationId xmlns:a16="http://schemas.microsoft.com/office/drawing/2014/main" id="{81C3F3B2-2263-4554-9F2E-EE84FC4A0D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3" name="Group 38">
                <a:extLst>
                  <a:ext uri="{FF2B5EF4-FFF2-40B4-BE49-F238E27FC236}">
                    <a16:creationId xmlns:a16="http://schemas.microsoft.com/office/drawing/2014/main" id="{C70D5619-0F38-414E-8C9D-ECC1CCB85D8C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64" name="Group 39">
                  <a:extLst>
                    <a:ext uri="{FF2B5EF4-FFF2-40B4-BE49-F238E27FC236}">
                      <a16:creationId xmlns:a16="http://schemas.microsoft.com/office/drawing/2014/main" id="{92DD0B0D-42A7-4356-AABA-9FCA4132F860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8" name="Straight Connector 43">
                    <a:extLst>
                      <a:ext uri="{FF2B5EF4-FFF2-40B4-BE49-F238E27FC236}">
                        <a16:creationId xmlns:a16="http://schemas.microsoft.com/office/drawing/2014/main" id="{41F7BB49-16E0-498A-80D0-4755B56D8A1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" name="Straight Connector 44">
                    <a:extLst>
                      <a:ext uri="{FF2B5EF4-FFF2-40B4-BE49-F238E27FC236}">
                        <a16:creationId xmlns:a16="http://schemas.microsoft.com/office/drawing/2014/main" id="{5C7B8391-C8F6-440C-8C87-DE2B42994F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" name="Group 40">
                  <a:extLst>
                    <a:ext uri="{FF2B5EF4-FFF2-40B4-BE49-F238E27FC236}">
                      <a16:creationId xmlns:a16="http://schemas.microsoft.com/office/drawing/2014/main" id="{9C4BDFF6-A674-452C-8816-1B00AC22D1C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6" name="Straight Connector 41">
                    <a:extLst>
                      <a:ext uri="{FF2B5EF4-FFF2-40B4-BE49-F238E27FC236}">
                        <a16:creationId xmlns:a16="http://schemas.microsoft.com/office/drawing/2014/main" id="{078915E2-D406-4410-BA89-D26A271B7C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" name="Straight Connector 42">
                    <a:extLst>
                      <a:ext uri="{FF2B5EF4-FFF2-40B4-BE49-F238E27FC236}">
                        <a16:creationId xmlns:a16="http://schemas.microsoft.com/office/drawing/2014/main" id="{BA5ADD94-66CA-4DC6-8742-62FE4CF9FF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2" name="Group 45">
              <a:extLst>
                <a:ext uri="{FF2B5EF4-FFF2-40B4-BE49-F238E27FC236}">
                  <a16:creationId xmlns:a16="http://schemas.microsoft.com/office/drawing/2014/main" id="{B05881A6-CF06-4B4D-A660-C72BABCF75D8}"/>
                </a:ext>
              </a:extLst>
            </p:cNvPr>
            <p:cNvGrpSpPr/>
            <p:nvPr/>
          </p:nvGrpSpPr>
          <p:grpSpPr>
            <a:xfrm>
              <a:off x="5498527" y="4362454"/>
              <a:ext cx="3900353" cy="155096"/>
              <a:chOff x="2798496" y="4959070"/>
              <a:chExt cx="3900353" cy="155096"/>
            </a:xfrm>
          </p:grpSpPr>
          <p:grpSp>
            <p:nvGrpSpPr>
              <p:cNvPr id="48" name="Group 46">
                <a:extLst>
                  <a:ext uri="{FF2B5EF4-FFF2-40B4-BE49-F238E27FC236}">
                    <a16:creationId xmlns:a16="http://schemas.microsoft.com/office/drawing/2014/main" id="{2AF9FAFA-B2C6-422B-B7A4-713D9E913DDF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6" name="Group 54">
                  <a:extLst>
                    <a:ext uri="{FF2B5EF4-FFF2-40B4-BE49-F238E27FC236}">
                      <a16:creationId xmlns:a16="http://schemas.microsoft.com/office/drawing/2014/main" id="{568595DD-2D3D-4EF2-8686-8E9527BDE07C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0" name="Straight Connector 58">
                    <a:extLst>
                      <a:ext uri="{FF2B5EF4-FFF2-40B4-BE49-F238E27FC236}">
                        <a16:creationId xmlns:a16="http://schemas.microsoft.com/office/drawing/2014/main" id="{0C4477ED-2911-458C-8FAB-C2FF5106CC56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59">
                    <a:extLst>
                      <a:ext uri="{FF2B5EF4-FFF2-40B4-BE49-F238E27FC236}">
                        <a16:creationId xmlns:a16="http://schemas.microsoft.com/office/drawing/2014/main" id="{84A1CB7A-929A-42F8-AB01-92D73CB216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" name="Group 55">
                  <a:extLst>
                    <a:ext uri="{FF2B5EF4-FFF2-40B4-BE49-F238E27FC236}">
                      <a16:creationId xmlns:a16="http://schemas.microsoft.com/office/drawing/2014/main" id="{92D5D319-B542-41BA-B5CE-42A1A0276E4E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8" name="Straight Connector 56">
                    <a:extLst>
                      <a:ext uri="{FF2B5EF4-FFF2-40B4-BE49-F238E27FC236}">
                        <a16:creationId xmlns:a16="http://schemas.microsoft.com/office/drawing/2014/main" id="{60B96DF1-B31E-4D7B-9F82-05A5AA9834A5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Straight Connector 57">
                    <a:extLst>
                      <a:ext uri="{FF2B5EF4-FFF2-40B4-BE49-F238E27FC236}">
                        <a16:creationId xmlns:a16="http://schemas.microsoft.com/office/drawing/2014/main" id="{7E9C9CC4-8CD4-460F-89E2-181001C47BA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" name="Group 47">
                <a:extLst>
                  <a:ext uri="{FF2B5EF4-FFF2-40B4-BE49-F238E27FC236}">
                    <a16:creationId xmlns:a16="http://schemas.microsoft.com/office/drawing/2014/main" id="{8F76D774-8C1B-434D-BC4B-D7A623BC36D8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0" name="Group 48">
                  <a:extLst>
                    <a:ext uri="{FF2B5EF4-FFF2-40B4-BE49-F238E27FC236}">
                      <a16:creationId xmlns:a16="http://schemas.microsoft.com/office/drawing/2014/main" id="{1986D2A1-ECAC-4444-9AA0-99C2BA6BDEF7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4" name="Straight Connector 52">
                    <a:extLst>
                      <a:ext uri="{FF2B5EF4-FFF2-40B4-BE49-F238E27FC236}">
                        <a16:creationId xmlns:a16="http://schemas.microsoft.com/office/drawing/2014/main" id="{5043C531-DA5D-495B-952D-BAB4F97D30F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Straight Connector 53">
                    <a:extLst>
                      <a:ext uri="{FF2B5EF4-FFF2-40B4-BE49-F238E27FC236}">
                        <a16:creationId xmlns:a16="http://schemas.microsoft.com/office/drawing/2014/main" id="{2E5D1FBA-99EB-45E0-AEE1-20F926725D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" name="Group 49">
                  <a:extLst>
                    <a:ext uri="{FF2B5EF4-FFF2-40B4-BE49-F238E27FC236}">
                      <a16:creationId xmlns:a16="http://schemas.microsoft.com/office/drawing/2014/main" id="{5D78912D-BD2D-4CFD-B235-386F66AB7F3D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2" name="Straight Connector 50">
                    <a:extLst>
                      <a:ext uri="{FF2B5EF4-FFF2-40B4-BE49-F238E27FC236}">
                        <a16:creationId xmlns:a16="http://schemas.microsoft.com/office/drawing/2014/main" id="{4AC8CB59-FDEC-408F-9C8F-DC6718B39B4B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Straight Connector 51">
                    <a:extLst>
                      <a:ext uri="{FF2B5EF4-FFF2-40B4-BE49-F238E27FC236}">
                        <a16:creationId xmlns:a16="http://schemas.microsoft.com/office/drawing/2014/main" id="{882953B4-2B51-418D-A4C1-F5A56365A5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3" name="Group 60">
              <a:extLst>
                <a:ext uri="{FF2B5EF4-FFF2-40B4-BE49-F238E27FC236}">
                  <a16:creationId xmlns:a16="http://schemas.microsoft.com/office/drawing/2014/main" id="{50939DA5-1CCF-49A3-86F1-D71EAD9C752A}"/>
                </a:ext>
              </a:extLst>
            </p:cNvPr>
            <p:cNvGrpSpPr/>
            <p:nvPr/>
          </p:nvGrpSpPr>
          <p:grpSpPr>
            <a:xfrm>
              <a:off x="7423078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34" name="Group 61">
                <a:extLst>
                  <a:ext uri="{FF2B5EF4-FFF2-40B4-BE49-F238E27FC236}">
                    <a16:creationId xmlns:a16="http://schemas.microsoft.com/office/drawing/2014/main" id="{FE1C24F0-CE46-4924-A53A-FD93D0D36EA6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42" name="Group 69">
                  <a:extLst>
                    <a:ext uri="{FF2B5EF4-FFF2-40B4-BE49-F238E27FC236}">
                      <a16:creationId xmlns:a16="http://schemas.microsoft.com/office/drawing/2014/main" id="{92FC3369-5773-49EE-A10C-35A442895814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6" name="Straight Connector 73">
                    <a:extLst>
                      <a:ext uri="{FF2B5EF4-FFF2-40B4-BE49-F238E27FC236}">
                        <a16:creationId xmlns:a16="http://schemas.microsoft.com/office/drawing/2014/main" id="{9CA948D0-02DE-4570-8DE1-7CDBC4F9FEA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74">
                    <a:extLst>
                      <a:ext uri="{FF2B5EF4-FFF2-40B4-BE49-F238E27FC236}">
                        <a16:creationId xmlns:a16="http://schemas.microsoft.com/office/drawing/2014/main" id="{F9B24628-FDBB-4176-9E0F-AA5056650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" name="Group 70">
                  <a:extLst>
                    <a:ext uri="{FF2B5EF4-FFF2-40B4-BE49-F238E27FC236}">
                      <a16:creationId xmlns:a16="http://schemas.microsoft.com/office/drawing/2014/main" id="{769E6438-D124-4663-8395-58EA3AE997F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4" name="Straight Connector 71">
                    <a:extLst>
                      <a:ext uri="{FF2B5EF4-FFF2-40B4-BE49-F238E27FC236}">
                        <a16:creationId xmlns:a16="http://schemas.microsoft.com/office/drawing/2014/main" id="{422AD38C-CADD-424D-9B2C-100EBC39E82C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Straight Connector 72">
                    <a:extLst>
                      <a:ext uri="{FF2B5EF4-FFF2-40B4-BE49-F238E27FC236}">
                        <a16:creationId xmlns:a16="http://schemas.microsoft.com/office/drawing/2014/main" id="{36FA89F1-81C4-4116-AE89-77572E4390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5" name="Group 62">
                <a:extLst>
                  <a:ext uri="{FF2B5EF4-FFF2-40B4-BE49-F238E27FC236}">
                    <a16:creationId xmlns:a16="http://schemas.microsoft.com/office/drawing/2014/main" id="{06DF7CFD-E944-4E42-88D0-8A2DA021335E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36" name="Group 63">
                  <a:extLst>
                    <a:ext uri="{FF2B5EF4-FFF2-40B4-BE49-F238E27FC236}">
                      <a16:creationId xmlns:a16="http://schemas.microsoft.com/office/drawing/2014/main" id="{79B4807B-22F3-47F2-9572-695681F9EABF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0" name="Straight Connector 67">
                    <a:extLst>
                      <a:ext uri="{FF2B5EF4-FFF2-40B4-BE49-F238E27FC236}">
                        <a16:creationId xmlns:a16="http://schemas.microsoft.com/office/drawing/2014/main" id="{5FA79660-EEA3-4E56-9623-3F0F4F31A2B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Straight Connector 68">
                    <a:extLst>
                      <a:ext uri="{FF2B5EF4-FFF2-40B4-BE49-F238E27FC236}">
                        <a16:creationId xmlns:a16="http://schemas.microsoft.com/office/drawing/2014/main" id="{A2A4EFDE-E701-4E7E-AED7-CA36E20A1B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" name="Group 64">
                  <a:extLst>
                    <a:ext uri="{FF2B5EF4-FFF2-40B4-BE49-F238E27FC236}">
                      <a16:creationId xmlns:a16="http://schemas.microsoft.com/office/drawing/2014/main" id="{45A235E9-1D9E-4B40-BA47-4AFC7972EBD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38" name="Straight Connector 65">
                    <a:extLst>
                      <a:ext uri="{FF2B5EF4-FFF2-40B4-BE49-F238E27FC236}">
                        <a16:creationId xmlns:a16="http://schemas.microsoft.com/office/drawing/2014/main" id="{A20A7E15-6DE0-4881-B5F0-1EE7F20EA71A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Straight Connector 66">
                    <a:extLst>
                      <a:ext uri="{FF2B5EF4-FFF2-40B4-BE49-F238E27FC236}">
                        <a16:creationId xmlns:a16="http://schemas.microsoft.com/office/drawing/2014/main" id="{6980D04B-5D69-4E5F-8D8F-8D4FB01FC9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</p:spTree>
    <p:extLst>
      <p:ext uri="{BB962C8B-B14F-4D97-AF65-F5344CB8AC3E}">
        <p14:creationId xmlns:p14="http://schemas.microsoft.com/office/powerpoint/2010/main" val="4025500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364"/>
          <a:stretch/>
        </p:blipFill>
        <p:spPr>
          <a:xfrm>
            <a:off x="2491041" y="140682"/>
            <a:ext cx="7524539" cy="64800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5441780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34" r="19454"/>
          <a:stretch/>
        </p:blipFill>
        <p:spPr>
          <a:xfrm>
            <a:off x="1990725" y="222250"/>
            <a:ext cx="8200294" cy="64800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248624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94" r="12109"/>
          <a:stretch/>
        </p:blipFill>
        <p:spPr>
          <a:xfrm>
            <a:off x="1352550" y="403225"/>
            <a:ext cx="9363075" cy="60515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293619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6342" y="203200"/>
            <a:ext cx="4276292" cy="64706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648383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b="7344"/>
          <a:stretch/>
        </p:blipFill>
        <p:spPr>
          <a:xfrm>
            <a:off x="4076700" y="341585"/>
            <a:ext cx="4022724" cy="624971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4076701" y="1815010"/>
            <a:ext cx="4022724" cy="678807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3541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4200" y="1288805"/>
            <a:ext cx="6477000" cy="4359519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843204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17396</TotalTime>
  <Words>2978</Words>
  <Application>Microsoft Office PowerPoint</Application>
  <PresentationFormat>Широкоэкранный</PresentationFormat>
  <Paragraphs>584</Paragraphs>
  <Slides>149</Slides>
  <Notes>149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149</vt:i4>
      </vt:variant>
    </vt:vector>
  </HeadingPairs>
  <TitlesOfParts>
    <vt:vector size="154" baseType="lpstr">
      <vt:lpstr>Arial</vt:lpstr>
      <vt:lpstr>Calibri</vt:lpstr>
      <vt:lpstr>Calibri Light</vt:lpstr>
      <vt:lpstr>Roboto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Khaimov Roman</cp:lastModifiedBy>
  <cp:revision>198</cp:revision>
  <dcterms:created xsi:type="dcterms:W3CDTF">2024-05-14T14:02:45Z</dcterms:created>
  <dcterms:modified xsi:type="dcterms:W3CDTF">2024-06-03T11:48:27Z</dcterms:modified>
</cp:coreProperties>
</file>