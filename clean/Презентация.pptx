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6"/>
  </p:notesMasterIdLst>
  <p:sldIdLst>
    <p:sldId id="257" r:id="rId2"/>
    <p:sldId id="493" r:id="rId3"/>
    <p:sldId id="491" r:id="rId4"/>
    <p:sldId id="366" r:id="rId5"/>
    <p:sldId id="367" r:id="rId6"/>
    <p:sldId id="368" r:id="rId7"/>
    <p:sldId id="369" r:id="rId8"/>
    <p:sldId id="370" r:id="rId9"/>
    <p:sldId id="261" r:id="rId10"/>
    <p:sldId id="262" r:id="rId11"/>
    <p:sldId id="260" r:id="rId12"/>
    <p:sldId id="263" r:id="rId13"/>
    <p:sldId id="371" r:id="rId14"/>
    <p:sldId id="372" r:id="rId15"/>
    <p:sldId id="373" r:id="rId16"/>
    <p:sldId id="374" r:id="rId17"/>
    <p:sldId id="375" r:id="rId18"/>
    <p:sldId id="376" r:id="rId19"/>
    <p:sldId id="377" r:id="rId20"/>
    <p:sldId id="378" r:id="rId21"/>
    <p:sldId id="379" r:id="rId22"/>
    <p:sldId id="381" r:id="rId23"/>
    <p:sldId id="385" r:id="rId24"/>
    <p:sldId id="388" r:id="rId25"/>
    <p:sldId id="382" r:id="rId26"/>
    <p:sldId id="384" r:id="rId27"/>
    <p:sldId id="386" r:id="rId28"/>
    <p:sldId id="387" r:id="rId29"/>
    <p:sldId id="389" r:id="rId30"/>
    <p:sldId id="390" r:id="rId31"/>
    <p:sldId id="391" r:id="rId32"/>
    <p:sldId id="393" r:id="rId33"/>
    <p:sldId id="392" r:id="rId34"/>
    <p:sldId id="265" r:id="rId35"/>
    <p:sldId id="266" r:id="rId36"/>
    <p:sldId id="394" r:id="rId37"/>
    <p:sldId id="395" r:id="rId38"/>
    <p:sldId id="396" r:id="rId39"/>
    <p:sldId id="268" r:id="rId40"/>
    <p:sldId id="397" r:id="rId41"/>
    <p:sldId id="398" r:id="rId42"/>
    <p:sldId id="269" r:id="rId43"/>
    <p:sldId id="399" r:id="rId44"/>
    <p:sldId id="275" r:id="rId45"/>
    <p:sldId id="400" r:id="rId46"/>
    <p:sldId id="402" r:id="rId47"/>
    <p:sldId id="403" r:id="rId48"/>
    <p:sldId id="273" r:id="rId49"/>
    <p:sldId id="274" r:id="rId50"/>
    <p:sldId id="276" r:id="rId51"/>
    <p:sldId id="277" r:id="rId52"/>
    <p:sldId id="488" r:id="rId53"/>
    <p:sldId id="278" r:id="rId54"/>
    <p:sldId id="404" r:id="rId55"/>
    <p:sldId id="279" r:id="rId56"/>
    <p:sldId id="405" r:id="rId57"/>
    <p:sldId id="356" r:id="rId58"/>
    <p:sldId id="406" r:id="rId59"/>
    <p:sldId id="280" r:id="rId60"/>
    <p:sldId id="357" r:id="rId61"/>
    <p:sldId id="358" r:id="rId62"/>
    <p:sldId id="407" r:id="rId63"/>
    <p:sldId id="355" r:id="rId64"/>
    <p:sldId id="496" r:id="rId65"/>
    <p:sldId id="497" r:id="rId66"/>
    <p:sldId id="408" r:id="rId67"/>
    <p:sldId id="409" r:id="rId68"/>
    <p:sldId id="360" r:id="rId69"/>
    <p:sldId id="285" r:id="rId70"/>
    <p:sldId id="410" r:id="rId71"/>
    <p:sldId id="411" r:id="rId72"/>
    <p:sldId id="361" r:id="rId73"/>
    <p:sldId id="412" r:id="rId74"/>
    <p:sldId id="362" r:id="rId75"/>
    <p:sldId id="289" r:id="rId76"/>
    <p:sldId id="290" r:id="rId77"/>
    <p:sldId id="291" r:id="rId78"/>
    <p:sldId id="413" r:id="rId79"/>
    <p:sldId id="414" r:id="rId80"/>
    <p:sldId id="292" r:id="rId81"/>
    <p:sldId id="415" r:id="rId82"/>
    <p:sldId id="416" r:id="rId83"/>
    <p:sldId id="417" r:id="rId84"/>
    <p:sldId id="418" r:id="rId85"/>
    <p:sldId id="419" r:id="rId86"/>
    <p:sldId id="420" r:id="rId87"/>
    <p:sldId id="421" r:id="rId88"/>
    <p:sldId id="422" r:id="rId89"/>
    <p:sldId id="423" r:id="rId90"/>
    <p:sldId id="427" r:id="rId91"/>
    <p:sldId id="429" r:id="rId92"/>
    <p:sldId id="430" r:id="rId93"/>
    <p:sldId id="431" r:id="rId94"/>
    <p:sldId id="432" r:id="rId95"/>
    <p:sldId id="300" r:id="rId96"/>
    <p:sldId id="302" r:id="rId97"/>
    <p:sldId id="433" r:id="rId98"/>
    <p:sldId id="434" r:id="rId99"/>
    <p:sldId id="435" r:id="rId100"/>
    <p:sldId id="441" r:id="rId101"/>
    <p:sldId id="436" r:id="rId102"/>
    <p:sldId id="440" r:id="rId103"/>
    <p:sldId id="437" r:id="rId104"/>
    <p:sldId id="428" r:id="rId105"/>
    <p:sldId id="438" r:id="rId106"/>
    <p:sldId id="439" r:id="rId107"/>
    <p:sldId id="424" r:id="rId108"/>
    <p:sldId id="442" r:id="rId109"/>
    <p:sldId id="443" r:id="rId110"/>
    <p:sldId id="444" r:id="rId111"/>
    <p:sldId id="445" r:id="rId112"/>
    <p:sldId id="447" r:id="rId113"/>
    <p:sldId id="448" r:id="rId114"/>
    <p:sldId id="450" r:id="rId115"/>
    <p:sldId id="449" r:id="rId116"/>
    <p:sldId id="451" r:id="rId117"/>
    <p:sldId id="452" r:id="rId118"/>
    <p:sldId id="453" r:id="rId119"/>
    <p:sldId id="454" r:id="rId120"/>
    <p:sldId id="425" r:id="rId121"/>
    <p:sldId id="455" r:id="rId122"/>
    <p:sldId id="446" r:id="rId123"/>
    <p:sldId id="458" r:id="rId124"/>
    <p:sldId id="456" r:id="rId125"/>
    <p:sldId id="462" r:id="rId126"/>
    <p:sldId id="463" r:id="rId127"/>
    <p:sldId id="464" r:id="rId128"/>
    <p:sldId id="465" r:id="rId129"/>
    <p:sldId id="466" r:id="rId130"/>
    <p:sldId id="467" r:id="rId131"/>
    <p:sldId id="489" r:id="rId132"/>
    <p:sldId id="490" r:id="rId133"/>
    <p:sldId id="468" r:id="rId134"/>
    <p:sldId id="471" r:id="rId135"/>
    <p:sldId id="472" r:id="rId136"/>
    <p:sldId id="473" r:id="rId137"/>
    <p:sldId id="477" r:id="rId138"/>
    <p:sldId id="319" r:id="rId139"/>
    <p:sldId id="474" r:id="rId140"/>
    <p:sldId id="475" r:id="rId141"/>
    <p:sldId id="478" r:id="rId142"/>
    <p:sldId id="479" r:id="rId143"/>
    <p:sldId id="480" r:id="rId144"/>
    <p:sldId id="481" r:id="rId145"/>
    <p:sldId id="482" r:id="rId146"/>
    <p:sldId id="469" r:id="rId147"/>
    <p:sldId id="470" r:id="rId148"/>
    <p:sldId id="484" r:id="rId149"/>
    <p:sldId id="341" r:id="rId150"/>
    <p:sldId id="486" r:id="rId151"/>
    <p:sldId id="487" r:id="rId152"/>
    <p:sldId id="485" r:id="rId153"/>
    <p:sldId id="494" r:id="rId154"/>
    <p:sldId id="492" r:id="rId15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77613" autoAdjust="0"/>
  </p:normalViewPr>
  <p:slideViewPr>
    <p:cSldViewPr snapToGrid="0">
      <p:cViewPr varScale="1">
        <p:scale>
          <a:sx n="95" d="100"/>
          <a:sy n="95" d="100"/>
        </p:scale>
        <p:origin x="123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tableStyles" Target="tableStyle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55" Type="http://schemas.openxmlformats.org/officeDocument/2006/relationships/slide" Target="slides/slide15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09.06.2024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cs typeface="Calibri"/>
              </a:rPr>
              <a:t>Мы увидим дальше причем здесь производительность труда когда речь идет об </a:t>
            </a:r>
            <a:r>
              <a:rPr lang="en-US" dirty="0" err="1">
                <a:cs typeface="Calibri"/>
              </a:rPr>
              <a:t>srp</a:t>
            </a:r>
            <a:endParaRPr lang="en-US" dirty="0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56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Любой инженер начинает свой путь с написания простой программы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88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добавлять новые поведений, от чего исходного кода, очевидно, становится больше.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естественным образом увеличивают количество кода в файле.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Визуально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становилось много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инженер с неприятным для себя удивлением обнаруживает,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боли знакомая каждому инженеру ситуация, новый проект на котором вначале сложность растет незаметно, но в какой-то момент вспыхивает и начинает бесконтрольно улетать вверх, обуславливается естественными свойствами любой развивающейся системы.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простого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задачи упрощения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через разделение большого файла. Нет ничего проще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да? Но тут выходят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какие компоненты нужно разбить одно целое?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компоненты должны зависеть от других, а какие нет?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систему,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Модуль** должен быть ответственен за что-то одно, отвечать только за одну функциональность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было сказано ранее, все решения, касающиеся вопросов разделения кода, прямо или косвенно скажутся на итоговой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поддерживаемости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системы, то, что из популярного определения SRP исходит такая неоднозначность является достаточно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негативным признаком.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Допустим, что посовещавшись с коллегами, мы решили что данная процедура все же нарушает SRP, тогда необходимо сделать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следующее: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действительно делает 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 Так какую из версий программ стоит выбрать?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сомнений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деле, принцип единственной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гласит следующее: 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 принимает в качестве аргумента название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файла со списком продуктов, обрабатывает его и выводит их итоговую сумму в консоль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Считывает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Считает общую сумму и выводит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консоль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Повествование уже намекает на наличие нескольких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Хочу чтобы отложили в голове что мы сейчас сделаем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заниматься преждевременными оптимизациями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подождем новых требований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программа среагирует на данное изменение? Сначала обозначим текущую секцию функции, в которой происходит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обработка файла.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самого простого решения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того что делают чаще всего – добавим условие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 находится обработка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 из файлов.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стала еще больше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Появились повторяющиеся элементы между получением продуктов из API и из файла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8011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получила свою первую модификацию. Можно с уверенностью сказать, что она приобрела свою первую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изменения, то есть ответственность другими словами: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01423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Сокращенный вид. Индикатор в углу означает наличие ответственности или причины для изменения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столкнемся с теми же проблемами. Функция станет больше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появится больше повторяющихся изменений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и в целом размер самой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сильно мешать работе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инженеры должны принять определенные меры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Вспомним, что одной из проблем при реализации нового метода получения данных, был тот факт, что разработчику также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приходилось взаимодействовать и со старым способом получения продуктов из файла. Это можно легко исправить, вынесем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данных в отдельные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Отдельные функции чтения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стала гораздо меньше. Рассмотрим актуальную диаграмму компонентов и их ответственностей.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ответственностей, при добавлении нового источника данных изменится только содержимое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действительно, всё что потребуется сделать, так это добавить новую ветку в условие и реализовать новую функцию.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Существующие реализации остальных источников данных не будут затронуты, более того, разработчику не придется даже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утруждать себя и заглядывать внутрь реализации этих функций, так как для добавления нового способа получения продуктов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этом скорее всего не будет никакой нужды.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Постойте, но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срабатывании определенных на диаграмме ответственностей, будут задействованы элементы программы с меньшим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объемом, что были до этого. Ведь опыт показал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при добавлении нового источника данных нам совершенно не важно что там дальше происходит с этими продуктами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нового изменения.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его просто реализовать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нему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 к конкретно данному виду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в будущем быть уже на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 зачастую файлы и API возвращают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проблема здесь заключается в том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их пришлось в точности повторить для каждого из источников данных. Если в будущем альтернативных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продукт валидный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получаем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соответсвующий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экземпляр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противном случае – возвращается ничто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Давайте попробуем поступить проще и выносить все что дублируется визуально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есть теперь общая функция создания продукта должна поддержать два разных поведения, которые будут выбираться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взависимости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от того, кто является клиентом.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вот на что,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66394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37427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причина по которой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потребовала изменений - это несовместимость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 своей старой версии. Она стала требовать от своих клиентов *больше*, чем было до этого.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306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говоря уже о том что в общей функции по прежнему остается поведение интересное конкретному клиенту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каждый раз когда будут поступать изменения касательно работы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продукта взятого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 локального файла,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должна будет проверена повторно. И действительно,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данную ответственность, то она обязана быть модифицирована (по определению),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следовательно, все клиенты которые от неё зависят, должны будут протестированы во избежание регресса.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Векторы изменений обеих функций пересеклись в некоторой точке, что и привело к временному дублированию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драйверы изменений в источниках данных были разными, вследствие чего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 наблюдаемым поведением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одинаковыми ответственностями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валидацией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обе функции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 может быть совершенно разным внешне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счёт добавления общей функции, удалось сократить количество изменяемых модулей в два раза. Интересно, но в данном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примере происходит не разделение ответственностей, так как она одна, а скорее её *перемещение* в один единственный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выйграли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 И разные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функциях зачастую переплетены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же образом можно поступить в данном случае?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Одним из вариантов решения проблемы является тактика выжидания.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такой связи является зависимость от типа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контракте которого прописано наличие стоимости. Если данный факт измениться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зависимая функция потребует своей модификации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количество ответственностей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рассмотренного мини-проекта должно быть очевидно, что одним из важнейших свойств хорошего дизайна системы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адаптивность к модификациям. Программу легко изменять, когда отсутствуют элементы жесткости и хрупкости. Это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требует правильного разделения и *распределения* ответственностей, что крайне трудно достижимо без основного фактора -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*времени*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 с течением времени система подвергается различным модификациям, которые и выявляют основные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компонентов. Следовательно, хороший дизайн требует терпения и внимательности. Более того, сами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всегда статичны и также могут меняться. Дизайн который хорошо работает сегодня, не факт, что окажется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же полезным завтра, когда условия на проекте изменятся.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3418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одной стороны хороший дизайн требует времени, с другой - обычно самые серьёзные архитектурные решения принимаются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самом начале проекта. Ошибиться зачастую очень просто. К счастью, существует перечень ответственностей, которые достаточно часто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встречаются на разных проектах, независимо от области их применения.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0546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одной стороны хороший дизайн требует времени, с другой - обычно самые серьёзные архитектурные решения принимаются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самом начале проекта. Ошибиться зачастую очень просто. К счастью, существует перечень ответственностей, которые достаточно часто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встречаются на разных проектах, независимо от области их применения.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114956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Самым частым и стандартным подходом является разделение на три слоя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120036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пользовательский интерфейс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т.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е. то как программа представляет себя пользователю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она с ним взаимодействует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440624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 доступ к данным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то как приложение взаимодействует с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персистетными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источниками (БД и другие формы хранения информации)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198805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домен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объединяет в себе основные бизнес сущности и взаимосвязи между ними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540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Почему они разделены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Потому что имеют тенденцию изменяться по разным причинам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иметь разные ответственности другими словами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158503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Дизайнеру не понравился цвет/размер/композиция определенного визуального элемента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Было решено интегрировать большее количество конфигураций экранов, сделать дизайн более адаптивным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велик шанс что остальные слои при этом останутся не тронутыми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15003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Помимо разделения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стоит обратить внимание 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направление зависимости.</a:t>
            </a: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Домен является общим компонентом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его клиентах не коснутся домена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домене коснутся остальных слоёв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целом логично с точки зрения требований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как именно они являются определяющими для системы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5504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Помимо разделения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стоит обратить внимание 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направление зависимости.</a:t>
            </a: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Домен является общим компонентом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его клиентах не коснутся домена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домене коснутся остальных слоёв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целом логично с точки зрения требований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как именно они являются определяющими для системы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3934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Помимо разделения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стоит обратить внимание 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направление зависимости.</a:t>
            </a: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Домен является общим компонентом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его клиентах не коснутся домена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домене коснутся остальных слоёв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целом логично с точки зрения требований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как именно они являются определяющими для системы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930864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Исследование вопроса разделения неизбежно привело нас к приложениям, состоящим из двух или более модулей. В последнее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время (на самом деле уже достаточно давно) особенно популярны микро-(сервисы/фронты) и это не удивительно. Программы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растут в сложности, вместе с этим и увеличиваются количество разработчиков, которые их создают и поддерживают.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упрощения управления их разделяют на *независимые* команды, каждая из которых занимается своей частью системы.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Вопрос грамотного разбиения программы, с учётом фактических ответственностей как никогда остро стоит при проектировании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 подобного рода. Для наглядности, рассмотрим одну из самых встречающихся проблем.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3197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разрабатывают систему по управлению документами клиентов некоторого банка. В приложении присутствуют два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модуля: мои документы и поддержка. Оба элемента предоставляют возможность оставить отзыв.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20698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нажатию на кнопку "Оставить отзыв" открывается форма: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09220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же можно сделать и для раздела с поддержкой, правда поля формы несколько отличаются: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нажатию "Отправить", происходит сохранение отзыва в рамках общего для отзывов API метода. На этапе проектирования,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инженерами было принято решение вынести отзывы в отдельный модуль: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446256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образом выглядит связь между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элементами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468783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 "Мои документы" вызывает функцию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 которую передает некоторый идентификатор. Далее, посмотрим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исходный код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734070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содержится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switch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проверяющий аргумент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Далее, в зависимости от того кто является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клиентом, строится форма содержащая указанные поля, по нажатию "Отправить" данные передаются в общий сервис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функцию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sendReview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всегда, самым первым и зачастую очевидным признаком смешивания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является размер функции. Это, конечно, не значит что всякая большая функция обязательно имеет несколько источников для изменений. Это стоит воспринимать как признак требующий более пристального внимания от инженера.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будем спешить и заниматься преждевременными оптимизациями, вместо этого мы, как всегда, понаблюдаем за тем, как такой дизайн будет реагировать на входящие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884570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Аналитик из команды "Мои документы" решил, что оставляемой в отзыве информации не достаточно, пользователь также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указать свои пожелания по заполняемому составу. Разработчики вносят необходимые изменения в модуль "Отзыв":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64370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дело осталось за простым, отправить новую реализацию в тестирование и дело в шляпе, верно? Не совсем. Прежде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всего, необходимо выпустить новую версию модуля "Отзыв" со свежими изменениями: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80366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вынудит ожидаемо перепроверить форму в модуле Мои документы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90648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также нужно будет убедиться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поддержка осталась не тронутой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изменился исходный код модуля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который она использует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446049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 сокращения общности можно сказать что ситуация полностью симметрична с обеих сторон. Рассмотрим диаграмму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Ситуация которую мы уже встречали прежде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 объединяющий в себе разные ответственности от своих клиентов. В данном случае это вызвало хрупкость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особо запущенных случаях это также рождает жесткость системы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требуя обязательных изменений в зависимых модулях.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Такая реализация обладает всеми негативными свойствами, что были рассмотрены ранее. Более того, в данном случае ситуация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гораздо хуже, ведь *расстояние* между элементами выше.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02350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Расстояние между элементами - это метрика, которая характеризует, насколько легко те или иные части изменять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единовременно.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Расстояние между двумя функциями в одном файле минимальное, ведь их легко изменять вместе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Расстояние между двумя модулями программы с раздельными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релизными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циклами максимально, так как их гораздо сложнее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изменять синхронно.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0021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можно исправить данную ситуацию? Путем разделения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 своим клиентам конечно-же: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теперь содержит истинно общую часть: внешнее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обромление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формы и логику отправки данных. От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конкретных полей она полностью отвязана через ослабление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117184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429327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1257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2116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протяжении всей статьи с разных сторон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демонстировался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столько сам принцип SRP, сколько та ключевая проблема,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которую он призван решить, а именно - адаптивность программы к изменениям. ПО которое плохо поддается изменению называют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исскуственно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сложным*. Для особо запущенных проектов существует даже отдельное понятие - устаревший (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legacy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проект.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Устаревший он не потому, что ему много лет, а из-за того насколько сильно он сопротивляется входящим модификациям.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Устаревшим проект может стать и через неделю.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18183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Существует лишь два инструмента борьбы с искусственной сложностью: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Удаление – мы его сейчас не касаемся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Разделение - существует прямая корреляция между тем, какое количество ответственностей имеет функция и тем, насколько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сложной она является. В статье это демонстрировалось ни один раз.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бумаге всё звучит просто - функция должна иметь только одну ответственность, если она имеет больше, то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раздели! Однако самым сложным здесь является не столько разделение, сколько *определение* того, по каким причинам может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изменяться тот или иной 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227229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 до тех пор пока не выпустим первую, самую 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простую версию,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учли полученный опыт после первой неудачной попытки возведения моста.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Cпустя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 лет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 был построен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вновь, на том же месте где стоит в целости и сохранности и по сей день.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cs typeface="Calibri"/>
              </a:rPr>
              <a:t>Некоторые</a:t>
            </a:r>
            <a:r>
              <a:rPr lang="ru-RU" baseline="0" dirty="0">
                <a:cs typeface="Calibri"/>
              </a:rPr>
              <a:t> понятия здесь будут затронуты </a:t>
            </a:r>
            <a:r>
              <a:rPr lang="ru-RU" baseline="0" dirty="0" err="1">
                <a:cs typeface="Calibri"/>
              </a:rPr>
              <a:t>вскольз</a:t>
            </a:r>
            <a:r>
              <a:rPr lang="en-US" baseline="0" dirty="0">
                <a:cs typeface="Calibri"/>
              </a:rPr>
              <a:t>, </a:t>
            </a:r>
            <a:r>
              <a:rPr lang="ru-RU" baseline="0" dirty="0">
                <a:cs typeface="Calibri"/>
              </a:rPr>
              <a:t>в рамках остальных докладов</a:t>
            </a:r>
            <a:endParaRPr lang="en-US" dirty="0" err="1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2605575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8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145C0-DD4A-44C1-8750-F7A7A5BED6B6}" type="datetime1">
              <a:rPr lang="ru-RU" smtClean="0"/>
              <a:t>09.06.2024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6B447-5438-4A9A-A960-18786CFC83EC}" type="datetime1">
              <a:rPr lang="ru-RU" smtClean="0"/>
              <a:t>09.06.2024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26A34-BAF4-4B98-B719-6B2D528A5BBE}" type="datetime1">
              <a:rPr lang="ru-RU" smtClean="0"/>
              <a:t>09.06.2024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F7C59-24A4-423B-B76C-ED5ECBE6938B}" type="datetime1">
              <a:rPr lang="ru-RU" smtClean="0"/>
              <a:t>09.06.2024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7AEE7-214E-4535-9835-436814346778}" type="datetime1">
              <a:rPr lang="ru-RU" smtClean="0"/>
              <a:t>09.06.2024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129DA-1EE2-4ECC-9677-565C71E5081F}" type="datetime1">
              <a:rPr lang="ru-RU" smtClean="0"/>
              <a:t>09.06.2024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5F30-5EA1-4E66-92EF-8BE1486638D4}" type="datetime1">
              <a:rPr lang="ru-RU" smtClean="0"/>
              <a:t>09.06.2024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D9763-EDDD-4ED1-B779-F8118B999F3C}" type="datetime1">
              <a:rPr lang="ru-RU" smtClean="0"/>
              <a:t>09.06.2024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3434-CB6B-4A11-8A15-25DC0FE6D433}" type="datetime1">
              <a:rPr lang="ru-RU" smtClean="0"/>
              <a:t>09.06.2024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916DA-83E4-493F-AD67-613106496AD4}" type="datetime1">
              <a:rPr lang="ru-RU" smtClean="0"/>
              <a:t>09.06.2024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AD4A3-5DBE-4F76-AD3A-7D06F2D794BB}" type="datetime1">
              <a:rPr lang="ru-RU" smtClean="0"/>
              <a:t>09.06.2024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D7C63-939F-4B82-B746-F23B52104B87}" type="datetime1">
              <a:rPr lang="ru-RU" smtClean="0"/>
              <a:t>09.06.2024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11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28.png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28.png"/><Relationship Id="rId4" Type="http://schemas.openxmlformats.org/officeDocument/2006/relationships/image" Target="../media/image3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4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5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54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6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67.png"/><Relationship Id="rId4" Type="http://schemas.openxmlformats.org/officeDocument/2006/relationships/image" Target="../media/image37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2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png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6.png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7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FAA25CB-64DD-C2F0-00EB-98740145C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040" y="1404363"/>
            <a:ext cx="7470941" cy="1944000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solidFill>
                  <a:schemeClr val="bg1"/>
                </a:solidFill>
                <a:latin typeface="TTTravels-DemiBold" panose="02000503030000020004" pitchFamily="2" charset="0"/>
              </a:rPr>
              <a:t>Единственная ответственность</a:t>
            </a: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0CF58F7-5000-6ADF-8DB4-D200B2704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0040" y="3983984"/>
            <a:ext cx="7973999" cy="725262"/>
          </a:xfrm>
        </p:spPr>
        <p:txBody>
          <a:bodyPr/>
          <a:lstStyle/>
          <a:p>
            <a:pPr lvl="0" algn="l">
              <a:defRPr/>
            </a:pPr>
            <a:r>
              <a:rPr lang="ru-RU" kern="0" dirty="0">
                <a:solidFill>
                  <a:schemeClr val="bg1"/>
                </a:solidFill>
                <a:latin typeface="TTTravels-Regular"/>
                <a:sym typeface="TTTravels-Regular"/>
              </a:rPr>
              <a:t>Роман Хаимов</a:t>
            </a: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76" y="1158764"/>
            <a:ext cx="3941591" cy="3941591"/>
          </a:xfrm>
          <a:prstGeom prst="ellipse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842981" y="2099502"/>
            <a:ext cx="5400167" cy="206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7 лет работы </a:t>
            </a:r>
            <a:r>
              <a:rPr lang="ru-RU" kern="0" noProof="0" dirty="0">
                <a:latin typeface="TTTravels-DemiBold" panose="02000503030000020004" pitchFamily="2" charset="0"/>
              </a:rPr>
              <a:t>в </a:t>
            </a:r>
            <a:r>
              <a:rPr lang="ru-RU" kern="0" noProof="0" dirty="0" err="1">
                <a:latin typeface="TTTravels-DemiBold" panose="02000503030000020004" pitchFamily="2" charset="0"/>
              </a:rPr>
              <a:t>Рексофт</a:t>
            </a:r>
            <a:endParaRPr kumimoji="0" lang="ru-RU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DemiBold" panose="02000503030000020004" pitchFamily="2" charset="0"/>
              <a:sym typeface="TTTravels-Regular"/>
            </a:endParaRPr>
          </a:p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kern="0" noProof="0" dirty="0"/>
              <a:t>Основное направление – оптимизация процесса производства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70122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425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1432627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891912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1371667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544300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544300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030" y="2594605"/>
            <a:ext cx="11649941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230" y="1347470"/>
            <a:ext cx="2476500" cy="40005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-167" b="31845"/>
          <a:stretch/>
        </p:blipFill>
        <p:spPr>
          <a:xfrm>
            <a:off x="3670351" y="650240"/>
            <a:ext cx="4851299" cy="5354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1989E3A-C8F6-4C82-9F64-12C51FF1B533}"/>
              </a:ext>
            </a:extLst>
          </p:cNvPr>
          <p:cNvSpPr/>
          <p:nvPr/>
        </p:nvSpPr>
        <p:spPr>
          <a:xfrm>
            <a:off x="3670351" y="650240"/>
            <a:ext cx="4851299" cy="797560"/>
          </a:xfrm>
          <a:prstGeom prst="rect">
            <a:avLst/>
          </a:prstGeom>
          <a:solidFill>
            <a:schemeClr val="bg2">
              <a:lumMod val="9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40255" y="2020888"/>
            <a:ext cx="8111490" cy="2816225"/>
            <a:chOff x="1972310" y="2407919"/>
            <a:chExt cx="8111490" cy="2816225"/>
          </a:xfrm>
        </p:grpSpPr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2310" y="2407919"/>
              <a:ext cx="2816225" cy="2816225"/>
            </a:xfrm>
            <a:prstGeom prst="rect">
              <a:avLst/>
            </a:prstGeom>
          </p:spPr>
        </p:pic>
        <p:grpSp>
          <p:nvGrpSpPr>
            <p:cNvPr id="7" name="Группа 6"/>
            <p:cNvGrpSpPr/>
            <p:nvPr/>
          </p:nvGrpSpPr>
          <p:grpSpPr>
            <a:xfrm>
              <a:off x="6028055" y="2407919"/>
              <a:ext cx="4055745" cy="2816225"/>
              <a:chOff x="6028055" y="2407919"/>
              <a:chExt cx="4055745" cy="2816225"/>
            </a:xfrm>
          </p:grpSpPr>
          <p:pic>
            <p:nvPicPr>
              <p:cNvPr id="4" name="Рисунок 3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28055" y="2407919"/>
                <a:ext cx="2816225" cy="2816225"/>
              </a:xfrm>
              <a:prstGeom prst="rect">
                <a:avLst/>
              </a:prstGeom>
            </p:spPr>
          </p:pic>
          <p:pic>
            <p:nvPicPr>
              <p:cNvPr id="6" name="Рисунок 5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67575" y="2407919"/>
                <a:ext cx="2816225" cy="281622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334663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AAB1608-0A80-4CA0-B737-927176A52984}"/>
              </a:ext>
            </a:extLst>
          </p:cNvPr>
          <p:cNvSpPr/>
          <p:nvPr/>
        </p:nvSpPr>
        <p:spPr>
          <a:xfrm>
            <a:off x="3210396" y="1736814"/>
            <a:ext cx="6230023" cy="3813717"/>
          </a:xfrm>
          <a:prstGeom prst="rect">
            <a:avLst/>
          </a:prstGeom>
          <a:noFill/>
          <a:ln w="571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2802" y="1881975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main()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327879" y="3144908"/>
            <a:ext cx="1995055" cy="9975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Источник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4032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926"/>
          <a:stretch/>
        </p:blipFill>
        <p:spPr>
          <a:xfrm>
            <a:off x="6725012" y="528952"/>
            <a:ext cx="3729628" cy="52927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0690180" cy="5201920"/>
            <a:chOff x="595086" y="0"/>
            <a:chExt cx="10690180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4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4"/>
            <a:srcRect t="49448" b="13199"/>
            <a:stretch/>
          </p:blipFill>
          <p:spPr>
            <a:xfrm>
              <a:off x="6599328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6599322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0832647" cy="5212080"/>
            <a:chOff x="445595" y="0"/>
            <a:chExt cx="10832647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414380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414379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727889" y="1099449"/>
            <a:ext cx="10507670" cy="4499114"/>
            <a:chOff x="254923" y="789710"/>
            <a:chExt cx="11599268" cy="4966508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923" y="789710"/>
              <a:ext cx="11599268" cy="4966508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sp>
          <p:nvSpPr>
            <p:cNvPr id="7" name="Прямоугольник 6"/>
            <p:cNvSpPr/>
            <p:nvPr/>
          </p:nvSpPr>
          <p:spPr>
            <a:xfrm>
              <a:off x="5004261" y="1249746"/>
              <a:ext cx="152954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/>
            <p:cNvSpPr/>
            <p:nvPr/>
          </p:nvSpPr>
          <p:spPr>
            <a:xfrm>
              <a:off x="8997141" y="806336"/>
              <a:ext cx="2449484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396952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44180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6366" y="2444087"/>
            <a:ext cx="11599268" cy="1969827"/>
            <a:chOff x="397163" y="2124653"/>
            <a:chExt cx="11599268" cy="1969827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 rotWithShape="1">
            <a:blip r:embed="rId4"/>
            <a:srcRect b="90739"/>
            <a:stretch/>
          </p:blipFill>
          <p:spPr>
            <a:xfrm>
              <a:off x="397163" y="3634510"/>
              <a:ext cx="11599268" cy="459970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 rotWithShape="1">
            <a:blip r:embed="rId5"/>
            <a:srcRect b="92376"/>
            <a:stretch/>
          </p:blipFill>
          <p:spPr>
            <a:xfrm>
              <a:off x="1529788" y="2124653"/>
              <a:ext cx="9091221" cy="38486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</p:grpSp>
      <p:sp>
        <p:nvSpPr>
          <p:cNvPr id="9" name="Прямоугольник 8"/>
          <p:cNvSpPr/>
          <p:nvPr/>
        </p:nvSpPr>
        <p:spPr>
          <a:xfrm>
            <a:off x="9001760" y="3966412"/>
            <a:ext cx="2495665" cy="44750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72088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7528" y="1680528"/>
            <a:ext cx="3496945" cy="349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368" y="1711008"/>
            <a:ext cx="3496945" cy="34969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495" y="1712353"/>
            <a:ext cx="3495600" cy="34956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4591" y="278384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2078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048" y="1777048"/>
            <a:ext cx="3303905" cy="3303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44874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СЛОИ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78818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974494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01799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13535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53685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34722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852205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877931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224845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45925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МОДУЛИ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60937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364"/>
          <a:stretch/>
        </p:blipFill>
        <p:spPr>
          <a:xfrm>
            <a:off x="2491041" y="140682"/>
            <a:ext cx="7524539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30845753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34" r="19454"/>
          <a:stretch/>
        </p:blipFill>
        <p:spPr>
          <a:xfrm>
            <a:off x="1990725" y="222250"/>
            <a:ext cx="8200294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29070486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4" r="12109"/>
          <a:stretch/>
        </p:blipFill>
        <p:spPr>
          <a:xfrm>
            <a:off x="1352550" y="403225"/>
            <a:ext cx="9363075" cy="60515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57213567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2509917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908" y="1904759"/>
            <a:ext cx="9166185" cy="30484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38003820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6342" y="203200"/>
            <a:ext cx="4276292" cy="64706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73093045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b="7344"/>
          <a:stretch/>
        </p:blipFill>
        <p:spPr>
          <a:xfrm>
            <a:off x="4076700" y="341585"/>
            <a:ext cx="4022724" cy="624971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4076701" y="1815010"/>
            <a:ext cx="4022724" cy="678807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3766618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271622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26422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716047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6922511" y="293451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6637887" y="293451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04338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РАССТОЯНИЕ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114488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3053" y="982369"/>
            <a:ext cx="5805895" cy="48932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9378881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50" y="938212"/>
            <a:ext cx="6972300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930875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149248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3771988" y="292430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10073034" y="2924306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8820063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873304162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274838"/>
            <a:ext cx="64043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УДАЛЕНИЕ</a:t>
            </a:r>
          </a:p>
          <a:p>
            <a:pPr algn="ctr"/>
            <a:endParaRPr lang="ru-RU" sz="48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912681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608" y="2000250"/>
            <a:ext cx="2857500" cy="2857500"/>
          </a:xfrm>
          <a:prstGeom prst="rect">
            <a:avLst/>
          </a:prstGeom>
        </p:spPr>
      </p:pic>
      <p:sp>
        <p:nvSpPr>
          <p:cNvPr id="5" name="Подзаголовок 2"/>
          <p:cNvSpPr txBox="1">
            <a:spLocks/>
          </p:cNvSpPr>
          <p:nvPr/>
        </p:nvSpPr>
        <p:spPr>
          <a:xfrm>
            <a:off x="598342" y="1304000"/>
            <a:ext cx="3596031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sym typeface="TTTravels-Regular"/>
              </a:rPr>
              <a:t>Роль архитектуры в ПО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  <a:sym typeface="TTTravels-Regular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02" y="2000250"/>
            <a:ext cx="2857500" cy="2857500"/>
          </a:xfrm>
          <a:prstGeom prst="rect">
            <a:avLst/>
          </a:prstGeom>
        </p:spPr>
      </p:pic>
      <p:sp>
        <p:nvSpPr>
          <p:cNvPr id="7" name="Подзаголовок 2"/>
          <p:cNvSpPr txBox="1">
            <a:spLocks/>
          </p:cNvSpPr>
          <p:nvPr/>
        </p:nvSpPr>
        <p:spPr>
          <a:xfrm>
            <a:off x="7073089" y="1304000"/>
            <a:ext cx="4246926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sym typeface="TTTravels-Regular"/>
              </a:rPr>
              <a:t>Тестируемая архитектура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780088044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Какой-то текст для чего-то там, в общем надо сюда будет что-то написать"/>
          <p:cNvSpPr txBox="1"/>
          <p:nvPr/>
        </p:nvSpPr>
        <p:spPr>
          <a:xfrm>
            <a:off x="938088" y="976753"/>
            <a:ext cx="5536283" cy="1754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3000">
                <a:latin typeface="TTTravels-Bold"/>
                <a:ea typeface="TTTravels-Bold"/>
                <a:cs typeface="TTTravels-Bold"/>
                <a:sym typeface="TTTravels-Bold"/>
              </a:defRPr>
            </a:lvl1pPr>
          </a:lstStyle>
          <a:p>
            <a:r>
              <a:rPr lang="ru-RU" dirty="0">
                <a:solidFill>
                  <a:schemeClr val="bg1"/>
                </a:solidFill>
              </a:rPr>
              <a:t>Спасибо за внимание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lvl="0"/>
            <a:r>
              <a:rPr lang="ru-RU" sz="2400" kern="0" dirty="0">
                <a:solidFill>
                  <a:schemeClr val="bg1"/>
                </a:solidFill>
              </a:rPr>
              <a:t>Расширенная версия доклада будет опубликована на </a:t>
            </a:r>
            <a:r>
              <a:rPr lang="ru-RU" sz="2400" kern="0" dirty="0" err="1">
                <a:solidFill>
                  <a:schemeClr val="bg1"/>
                </a:solidFill>
              </a:rPr>
              <a:t>Хабр</a:t>
            </a:r>
            <a:r>
              <a:rPr lang="ru-RU" sz="2400" kern="0" dirty="0">
                <a:solidFill>
                  <a:schemeClr val="bg1"/>
                </a:solidFill>
              </a:rPr>
              <a:t> - </a:t>
            </a:r>
            <a:r>
              <a:rPr lang="en-US" sz="2400" kern="0" dirty="0">
                <a:solidFill>
                  <a:schemeClr val="bg1"/>
                </a:solidFill>
              </a:rPr>
              <a:t>@</a:t>
            </a:r>
            <a:r>
              <a:rPr lang="en-US" sz="2400" kern="0" dirty="0" err="1">
                <a:solidFill>
                  <a:schemeClr val="bg1"/>
                </a:solidFill>
              </a:rPr>
              <a:t>khaimov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17787</TotalTime>
  <Words>6256</Words>
  <Application>Microsoft Office PowerPoint</Application>
  <PresentationFormat>Widescreen</PresentationFormat>
  <Paragraphs>607</Paragraphs>
  <Slides>154</Slides>
  <Notes>154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154</vt:i4>
      </vt:variant>
    </vt:vector>
  </HeadingPairs>
  <TitlesOfParts>
    <vt:vector size="162" baseType="lpstr">
      <vt:lpstr>Arial</vt:lpstr>
      <vt:lpstr>Calibri</vt:lpstr>
      <vt:lpstr>Calibri Light</vt:lpstr>
      <vt:lpstr>Roboto</vt:lpstr>
      <vt:lpstr>TTTravels-Bold</vt:lpstr>
      <vt:lpstr>TTTravels-DemiBold</vt:lpstr>
      <vt:lpstr>TTTravels-Regular</vt:lpstr>
      <vt:lpstr>Тема Office</vt:lpstr>
      <vt:lpstr>Единственная ответственность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Роман Хаимов</cp:lastModifiedBy>
  <cp:revision>274</cp:revision>
  <dcterms:created xsi:type="dcterms:W3CDTF">2024-05-14T14:02:45Z</dcterms:created>
  <dcterms:modified xsi:type="dcterms:W3CDTF">2024-06-09T10:53:54Z</dcterms:modified>
</cp:coreProperties>
</file>